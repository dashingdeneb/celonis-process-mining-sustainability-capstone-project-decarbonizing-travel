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 id="2147483680" r:id="rId3"/>
  </p:sldMasterIdLst>
  <p:notesMasterIdLst>
    <p:notesMasterId r:id="rId16"/>
  </p:notesMasterIdLst>
  <p:handoutMasterIdLst>
    <p:handoutMasterId r:id="rId17"/>
  </p:handoutMasterIdLst>
  <p:sldIdLst>
    <p:sldId id="256" r:id="rId4"/>
    <p:sldId id="257" r:id="rId5"/>
    <p:sldId id="258" r:id="rId6"/>
    <p:sldId id="259" r:id="rId7"/>
    <p:sldId id="260" r:id="rId8"/>
    <p:sldId id="261" r:id="rId9"/>
    <p:sldId id="268" r:id="rId10"/>
    <p:sldId id="266" r:id="rId11"/>
    <p:sldId id="263" r:id="rId12"/>
    <p:sldId id="264" r:id="rId13"/>
    <p:sldId id="265" r:id="rId14"/>
    <p:sldId id="269" r:id="rId15"/>
  </p:sldIdLst>
  <p:sldSz cx="9144000" cy="5143500" type="screen16x9"/>
  <p:notesSz cx="6858000" cy="9144000"/>
  <p:embeddedFontLst>
    <p:embeddedFont>
      <p:font typeface="Poppins" panose="00000500000000000000" pitchFamily="2" charset="0"/>
      <p:regular r:id="rId18"/>
      <p:bold r:id="rId19"/>
      <p:italic r:id="rId20"/>
      <p:boldItalic r:id="rId21"/>
    </p:embeddedFont>
    <p:embeddedFont>
      <p:font typeface="Poppins SemiBold" panose="00000700000000000000" pitchFamily="2" charset="0"/>
      <p:regular r:id="rId22"/>
      <p:bold r:id="rId23"/>
      <p:italic r:id="rId24"/>
      <p:boldItalic r:id="rId25"/>
    </p:embeddedFont>
    <p:embeddedFont>
      <p:font typeface="Segoe UI" panose="020B0502040204020203"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eb jena" initials="dj" lastIdx="1" clrIdx="0">
    <p:extLst>
      <p:ext uri="{19B8F6BF-5375-455C-9EA6-DF929625EA0E}">
        <p15:presenceInfo xmlns:p15="http://schemas.microsoft.com/office/powerpoint/2012/main" userId="S::deneb@ondesk.org::ca1d2113-ea3a-4f81-a10a-628f40091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757"/>
    <a:srgbClr val="D3EECE"/>
    <a:srgbClr val="D6A980"/>
    <a:srgbClr val="08D6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22" autoAdjust="0"/>
    <p:restoredTop sz="85034" autoAdjust="0"/>
  </p:normalViewPr>
  <p:slideViewPr>
    <p:cSldViewPr snapToGrid="0">
      <p:cViewPr varScale="1">
        <p:scale>
          <a:sx n="74" d="100"/>
          <a:sy n="74" d="100"/>
        </p:scale>
        <p:origin x="1020" y="36"/>
      </p:cViewPr>
      <p:guideLst>
        <p:guide orient="horz" pos="1620"/>
        <p:guide pos="2880"/>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Master" Target="slideMasters/slideMaster3.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7.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commentAuthors" Target="commentAuthors.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6A8B07-27D8-173A-223B-713DECDF4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9FD16FF-1E25-4468-0B81-2F302AA43E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C6CAC7-90BD-482D-AC7F-9A2F8FAE4E63}" type="datetimeFigureOut">
              <a:rPr lang="en-IN" smtClean="0"/>
              <a:t>07-08-2026</a:t>
            </a:fld>
            <a:endParaRPr lang="en-IN"/>
          </a:p>
        </p:txBody>
      </p:sp>
      <p:sp>
        <p:nvSpPr>
          <p:cNvPr id="4" name="Footer Placeholder 3">
            <a:extLst>
              <a:ext uri="{FF2B5EF4-FFF2-40B4-BE49-F238E27FC236}">
                <a16:creationId xmlns:a16="http://schemas.microsoft.com/office/drawing/2014/main" id="{2EC5FFF7-9763-39FC-F193-17CBEE4D73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1AFCE46-3975-4DF0-7628-F8BAA4A684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A23F27-AAA8-402B-885E-8AF997F9E7ED}" type="slidenum">
              <a:rPr lang="en-IN" smtClean="0"/>
              <a:t>‹#›</a:t>
            </a:fld>
            <a:endParaRPr lang="en-IN"/>
          </a:p>
        </p:txBody>
      </p:sp>
    </p:spTree>
    <p:extLst>
      <p:ext uri="{BB962C8B-B14F-4D97-AF65-F5344CB8AC3E}">
        <p14:creationId xmlns:p14="http://schemas.microsoft.com/office/powerpoint/2010/main" val="3515701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elivery-p141552-e1488202.adobeaemcloud.com/adobe/assets/urn:aaid:aem:c372d105-f0ce-41bc-a8a7-7b4535350f03/original/as/2510_Celonis_Sustainability-Report_2024_Final.pdf"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f3109ef6d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f3109ef6db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3109ef6db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Decarbonizing travel is critical to </a:t>
            </a:r>
            <a:r>
              <a:rPr lang="en-US" dirty="0" err="1"/>
              <a:t>Celonis</a:t>
            </a:r>
            <a:r>
              <a:rPr lang="en-US" dirty="0"/>
              <a:t> because </a:t>
            </a:r>
            <a:r>
              <a:rPr lang="en-US" b="0" dirty="0"/>
              <a:t>business travel represents one of the company's largest operational carbon hotspots</a:t>
            </a:r>
            <a:r>
              <a:rPr lang="en-US" sz="1100" b="0" dirty="0"/>
              <a:t>, </a:t>
            </a:r>
            <a:r>
              <a:rPr lang="en-US" sz="1100" dirty="0"/>
              <a:t>making up roughly 47% of its Scope 3 footprint. </a:t>
            </a:r>
            <a:r>
              <a:rPr lang="en-US" sz="1100" dirty="0" err="1"/>
              <a:t>Celonis</a:t>
            </a:r>
            <a:r>
              <a:rPr lang="en-US" sz="1100" dirty="0"/>
              <a:t> has committed to </a:t>
            </a:r>
            <a:r>
              <a:rPr lang="en-US" b="1" dirty="0"/>
              <a:t>reducing its Scope 3 business travel GHG emissions by 51.6% per Full-Time Equivalent (FTE)</a:t>
            </a:r>
            <a:r>
              <a:rPr lang="en-US" sz="1100" dirty="0"/>
              <a:t> by FY2031. This cannot be achieved without identifying and removing the bottlenecks in employee business travel.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err="1"/>
              <a:t>Celonis</a:t>
            </a:r>
            <a:r>
              <a:rPr lang="en-US" sz="1100" dirty="0"/>
              <a:t> heavily markets sustainability tools like the </a:t>
            </a:r>
            <a:r>
              <a:rPr lang="en-US" b="1" dirty="0" err="1"/>
              <a:t>Celonis</a:t>
            </a:r>
            <a:r>
              <a:rPr lang="en-US" b="1" dirty="0"/>
              <a:t> Shipping Emissions Reduction App</a:t>
            </a:r>
            <a:r>
              <a:rPr lang="en-US" sz="1100" dirty="0"/>
              <a:t> with </a:t>
            </a:r>
            <a:r>
              <a:rPr lang="en-US" sz="1100" dirty="0" err="1"/>
              <a:t>Climatiq</a:t>
            </a:r>
            <a:r>
              <a:rPr lang="en-US" sz="1100" dirty="0"/>
              <a:t> to its enterprise clients. So, </a:t>
            </a:r>
            <a:r>
              <a:rPr lang="en-US" sz="1100" dirty="0" err="1"/>
              <a:t>Celonis</a:t>
            </a:r>
            <a:r>
              <a:rPr lang="en-US" sz="1100" dirty="0"/>
              <a:t> must apply the same to its own process to reduce business travel inefficiencies and maintain market credibility.</a:t>
            </a:r>
            <a:endParaRPr lang="en-US" sz="1100" dirty="0">
              <a:solidFill>
                <a:schemeClr val="dk1"/>
              </a:solidFill>
              <a:latin typeface="Poppins"/>
              <a:ea typeface="Poppins"/>
              <a:cs typeface="Poppins"/>
              <a:sym typeface="Poppins"/>
            </a:endParaRPr>
          </a:p>
          <a:p>
            <a:pPr marL="0" lvl="0" indent="0" algn="l" rtl="0">
              <a:spcBef>
                <a:spcPts val="0"/>
              </a:spcBef>
              <a:spcAft>
                <a:spcPts val="0"/>
              </a:spcAft>
              <a:buNone/>
            </a:pPr>
            <a:endParaRPr dirty="0"/>
          </a:p>
        </p:txBody>
      </p:sp>
      <p:sp>
        <p:nvSpPr>
          <p:cNvPr id="155" name="Google Shape;155;g3f3109ef6db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3109ef6db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[1] </a:t>
            </a:r>
            <a:r>
              <a:rPr lang="en-IN" dirty="0" err="1">
                <a:solidFill>
                  <a:schemeClr val="tx1"/>
                </a:solidFill>
              </a:rPr>
              <a:t>Celonis</a:t>
            </a:r>
            <a:r>
              <a:rPr lang="en-IN" dirty="0">
                <a:solidFill>
                  <a:schemeClr val="tx1"/>
                </a:solidFill>
              </a:rPr>
              <a:t> </a:t>
            </a:r>
            <a:r>
              <a:rPr lang="en-IN" sz="1100" b="0" i="0" u="sng" strike="noStrike" cap="none" dirty="0">
                <a:solidFill>
                  <a:schemeClr val="tx1"/>
                </a:solidFill>
                <a:effectLst/>
                <a:latin typeface="Arial"/>
                <a:ea typeface="Arial"/>
                <a:cs typeface="Arial"/>
                <a:sym typeface="Arial"/>
                <a:hlinkClick r:id="rId3" tooltip="Sustainability Report 2024">
                  <a:extLst>
                    <a:ext uri="{A12FA001-AC4F-418D-AE19-62706E023703}">
                      <ahyp:hlinkClr xmlns:ahyp="http://schemas.microsoft.com/office/drawing/2018/hyperlinkcolor" val="tx"/>
                    </a:ext>
                  </a:extLst>
                </a:hlinkClick>
              </a:rPr>
              <a:t>Sustainability Report 2024</a:t>
            </a:r>
            <a:endParaRPr lang="en-IN" sz="1100" b="0" i="0" u="sng" strike="noStrike" cap="none" dirty="0">
              <a:solidFill>
                <a:schemeClr val="tx1"/>
              </a:solidFill>
              <a:effectLst/>
              <a:latin typeface="Arial"/>
              <a:ea typeface="Arial"/>
              <a:cs typeface="Arial"/>
              <a:sym typeface="Arial"/>
            </a:endParaRPr>
          </a:p>
          <a:p>
            <a:pPr marL="0" lvl="0" indent="0" algn="l" rtl="0">
              <a:spcBef>
                <a:spcPts val="0"/>
              </a:spcBef>
              <a:spcAft>
                <a:spcPts val="0"/>
              </a:spcAft>
              <a:buNone/>
            </a:pPr>
            <a:r>
              <a:rPr lang="en-IN" dirty="0"/>
              <a:t>[2] https://www.celonis.com/blog/science-based-targets-initiative-approves-celonis-near-term-emission-reduction-targets</a:t>
            </a:r>
          </a:p>
          <a:p>
            <a:pPr marL="0" lvl="0" indent="0" algn="l" rtl="0">
              <a:spcBef>
                <a:spcPts val="0"/>
              </a:spcBef>
              <a:spcAft>
                <a:spcPts val="0"/>
              </a:spcAft>
              <a:buNone/>
            </a:pPr>
            <a:r>
              <a:rPr lang="en-IN" dirty="0"/>
              <a:t>[3] https://www.mckinsey.com/featured-insights/mckinsey-explainers/what-are-scope-1-2-and-3-emissions</a:t>
            </a:r>
          </a:p>
          <a:p>
            <a:pPr marL="0" lvl="0" indent="0" algn="l" rtl="0">
              <a:spcBef>
                <a:spcPts val="0"/>
              </a:spcBef>
              <a:spcAft>
                <a:spcPts val="0"/>
              </a:spcAft>
              <a:buNone/>
            </a:pPr>
            <a:r>
              <a:rPr lang="en-IN" dirty="0"/>
              <a:t>[4] https://normative.io/insight/scope-3-emissions/</a:t>
            </a:r>
          </a:p>
        </p:txBody>
      </p:sp>
      <p:sp>
        <p:nvSpPr>
          <p:cNvPr id="161" name="Google Shape;161;g3f3109ef6db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f3109ef6db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lvl="0" indent="0">
              <a:lnSpc>
                <a:spcPct val="115000"/>
              </a:lnSpc>
              <a:spcBef>
                <a:spcPts val="1200"/>
              </a:spcBef>
              <a:spcAft>
                <a:spcPts val="1200"/>
              </a:spcAft>
              <a:buNone/>
            </a:pPr>
            <a:r>
              <a:rPr lang="en-US" dirty="0"/>
              <a:t>Most travel emissions come from a small number of business units, customer-facing activities, and long-haul international flights. Focusing on high-emission routes like Australia–Germany and Australia–United States, while improving travel policies for customer visits, would have the biggest impact on reducing carbon emissions.</a:t>
            </a:r>
            <a:endParaRPr dirty="0"/>
          </a:p>
        </p:txBody>
      </p:sp>
      <p:sp>
        <p:nvSpPr>
          <p:cNvPr id="167" name="Google Shape;167;g3f3109ef6db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f3109ef6db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analysis indicates that emissions are driven more by process decisions (transport mode, travel purpose, and route selection) than by trip duration or accommodation. Standardizing travel workflows and optimizing high-emission air travel routes present the greatest opportunity to reduce both process variability and carbon emissions.</a:t>
            </a:r>
            <a:endParaRPr lang="en-IN" dirty="0"/>
          </a:p>
          <a:p>
            <a:pPr marL="0" lvl="0" indent="0" algn="l" rtl="0">
              <a:spcBef>
                <a:spcPts val="0"/>
              </a:spcBef>
              <a:spcAft>
                <a:spcPts val="0"/>
              </a:spcAft>
              <a:buNone/>
            </a:pPr>
            <a:endParaRPr dirty="0"/>
          </a:p>
        </p:txBody>
      </p:sp>
      <p:sp>
        <p:nvSpPr>
          <p:cNvPr id="173" name="Google Shape;173;g3f3109ef6db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3109ef6db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Variants like </a:t>
            </a:r>
            <a:r>
              <a:rPr lang="en-IN" b="0" dirty="0"/>
              <a:t>(</a:t>
            </a:r>
            <a:r>
              <a:rPr lang="en-US" b="0" dirty="0"/>
              <a:t>Book Mode of Transportation, Flight Cancellation, Book Mode of Transportation, </a:t>
            </a:r>
            <a:r>
              <a:rPr lang="en-IN" sz="1100" b="0" i="0" u="none" strike="noStrike" cap="none" dirty="0">
                <a:solidFill>
                  <a:srgbClr val="000000"/>
                </a:solidFill>
                <a:effectLst/>
                <a:latin typeface="Arial"/>
                <a:ea typeface="Arial"/>
                <a:cs typeface="Arial"/>
                <a:sym typeface="Arial"/>
              </a:rPr>
              <a:t>Book Lodging, </a:t>
            </a:r>
            <a:r>
              <a:rPr lang="en-US" b="0" dirty="0"/>
              <a:t>Submit Travel Request, Travel Request Approved, Receive Confirmation, Take Departure Flight, Book Lodging, Take Return Flight, Submit Expense Request, Expense Request Approved, Expense Reimbursement) have high emission, high cost and longer TPT. Economy class flight can be opted for instead of business class in such case.</a:t>
            </a:r>
            <a:br>
              <a:rPr lang="en-US" b="0" dirty="0"/>
            </a:br>
            <a:br>
              <a:rPr lang="en-US" b="0" dirty="0"/>
            </a:br>
            <a:r>
              <a:rPr lang="en-US" dirty="0" err="1"/>
              <a:t>Celonis</a:t>
            </a:r>
            <a:r>
              <a:rPr lang="en-US" dirty="0"/>
              <a:t> can use Process Mining to identify such variants that consistently exhibit high CO₂ emissions, higher costs, and longer throughput times. These variants should be prioritized for policy changes such as rail-first travel, virtual meetings, or approval restrictions.</a:t>
            </a:r>
            <a:br>
              <a:rPr lang="en-US" dirty="0"/>
            </a:br>
            <a:br>
              <a:rPr lang="en-US" dirty="0"/>
            </a:br>
            <a:r>
              <a:rPr lang="en-US" dirty="0"/>
              <a:t>[1] Optimizing through consolidating multiple client meetings into one trip, replacing some trips with virtual meetings, eliminating unnecessary travel, selecting lower-carbon airlines or direct flights, improving advance planning.</a:t>
            </a:r>
          </a:p>
          <a:p>
            <a:pPr marL="0" lvl="0" indent="0" algn="l" rtl="0">
              <a:spcBef>
                <a:spcPts val="0"/>
              </a:spcBef>
              <a:spcAft>
                <a:spcPts val="0"/>
              </a:spcAft>
              <a:buNone/>
            </a:pPr>
            <a:endParaRPr lang="en-US" b="0" dirty="0"/>
          </a:p>
          <a:p>
            <a:pPr marL="0" lvl="0" indent="0" algn="l" rtl="0">
              <a:spcBef>
                <a:spcPts val="0"/>
              </a:spcBef>
              <a:spcAft>
                <a:spcPts val="0"/>
              </a:spcAft>
              <a:buNone/>
            </a:pPr>
            <a:r>
              <a:rPr lang="en-US" b="0" dirty="0"/>
              <a:t>[2] Carbon  and cost savings were estimated only the basis of replacing return flights with trains. Full replacement can double the savings.</a:t>
            </a:r>
            <a:endParaRPr b="0" dirty="0"/>
          </a:p>
        </p:txBody>
      </p:sp>
      <p:sp>
        <p:nvSpPr>
          <p:cNvPr id="179" name="Google Shape;179;g3f3109ef6db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A1B5F7-EFE9-49B3-A79C-0695A1CC7FC9}" type="slidenum">
              <a:rPr lang="en-IN" smtClean="0"/>
              <a:t>7</a:t>
            </a:fld>
            <a:endParaRPr lang="en-IN"/>
          </a:p>
        </p:txBody>
      </p:sp>
    </p:spTree>
    <p:extLst>
      <p:ext uri="{BB962C8B-B14F-4D97-AF65-F5344CB8AC3E}">
        <p14:creationId xmlns:p14="http://schemas.microsoft.com/office/powerpoint/2010/main" val="398194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A726EB6D-30DA-CEC2-B3D9-8F71010F8D6A}"/>
            </a:ext>
          </a:extLst>
        </p:cNvPr>
        <p:cNvGrpSpPr/>
        <p:nvPr/>
      </p:nvGrpSpPr>
      <p:grpSpPr>
        <a:xfrm>
          <a:off x="0" y="0"/>
          <a:ext cx="0" cy="0"/>
          <a:chOff x="0" y="0"/>
          <a:chExt cx="0" cy="0"/>
        </a:xfrm>
      </p:grpSpPr>
      <p:sp>
        <p:nvSpPr>
          <p:cNvPr id="184" name="Google Shape;184;g3f3109ef6db_0_306:notes">
            <a:extLst>
              <a:ext uri="{FF2B5EF4-FFF2-40B4-BE49-F238E27FC236}">
                <a16:creationId xmlns:a16="http://schemas.microsoft.com/office/drawing/2014/main" id="{D9FC12A3-3843-E5C0-ABF7-038FED3D00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5" name="Google Shape;185;g3f3109ef6db_0_306:notes">
            <a:extLst>
              <a:ext uri="{FF2B5EF4-FFF2-40B4-BE49-F238E27FC236}">
                <a16:creationId xmlns:a16="http://schemas.microsoft.com/office/drawing/2014/main" id="{28AA36B8-8155-16E8-66A4-4B4C39D4FA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6331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3109ef6db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Link to dashboard: </a:t>
            </a:r>
            <a:r>
              <a:rPr lang="en-IN" dirty="0"/>
              <a:t>https://academic-celonis-lqh8sk.eu-2.celonis.cloud/package-manager/ui/studio/ui/spaces/27397876-e0f9-4ab1-b5c1-32d48cf58785/packages/c4010fb1-55f1-4799-803e-8af582d5c88d/nodes/40d95d0f-8d0e-4448-9ca3-e67621a91548?activeTabs=1ccae651_9ff1_469e_9d96_3a835a1633a8-view:df200320-c7ee-4687-aacf-2c08791c61a6&amp;share=ecdf4195-a79e-4433-a2d6-e768b21af3a9&amp;bookmark=false</a:t>
            </a:r>
            <a:endParaRPr dirty="0"/>
          </a:p>
        </p:txBody>
      </p:sp>
      <p:sp>
        <p:nvSpPr>
          <p:cNvPr id="191" name="Google Shape;191;g3f3109ef6db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F92C626A-CE56-7BD0-C211-9D2761999157}"/>
            </a:ext>
          </a:extLst>
        </p:cNvPr>
        <p:cNvGrpSpPr/>
        <p:nvPr/>
      </p:nvGrpSpPr>
      <p:grpSpPr>
        <a:xfrm>
          <a:off x="0" y="0"/>
          <a:ext cx="0" cy="0"/>
          <a:chOff x="0" y="0"/>
          <a:chExt cx="0" cy="0"/>
        </a:xfrm>
      </p:grpSpPr>
      <p:sp>
        <p:nvSpPr>
          <p:cNvPr id="190" name="Google Shape;190;g3f3109ef6db_0_301:notes">
            <a:extLst>
              <a:ext uri="{FF2B5EF4-FFF2-40B4-BE49-F238E27FC236}">
                <a16:creationId xmlns:a16="http://schemas.microsoft.com/office/drawing/2014/main" id="{3DFBC527-6C3D-7D0C-7AE7-FFC875529C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Link to dashboard: </a:t>
            </a:r>
            <a:r>
              <a:rPr lang="en-IN" dirty="0"/>
              <a:t>https://academic-celonis-lqh8sk.eu-2.celonis.cloud/package-manager/ui/studio/ui/spaces/27397876-e0f9-4ab1-b5c1-32d48cf58785/packages/c4010fb1-55f1-4799-803e-8af582d5c88d/nodes/40d95d0f-8d0e-4448-9ca3-e67621a91548?activeTabs=1ccae651_9ff1_469e_9d96_3a835a1633a8-view:df200320-c7ee-4687-aacf-2c08791c61a6&amp;share=ecdf4195-a79e-4433-a2d6-e768b21af3a9&amp;bookmark=false</a:t>
            </a:r>
            <a:endParaRPr dirty="0"/>
          </a:p>
        </p:txBody>
      </p:sp>
      <p:sp>
        <p:nvSpPr>
          <p:cNvPr id="191" name="Google Shape;191;g3f3109ef6db_0_301:notes">
            <a:extLst>
              <a:ext uri="{FF2B5EF4-FFF2-40B4-BE49-F238E27FC236}">
                <a16:creationId xmlns:a16="http://schemas.microsoft.com/office/drawing/2014/main" id="{22D0BB60-68D3-E9EC-9CCE-91BD44AC4C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7291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BD9E9D7D-B56D-2FBE-B961-E9EC70E9839E}"/>
            </a:ext>
          </a:extLst>
        </p:cNvPr>
        <p:cNvGrpSpPr/>
        <p:nvPr/>
      </p:nvGrpSpPr>
      <p:grpSpPr>
        <a:xfrm>
          <a:off x="0" y="0"/>
          <a:ext cx="0" cy="0"/>
          <a:chOff x="0" y="0"/>
          <a:chExt cx="0" cy="0"/>
        </a:xfrm>
      </p:grpSpPr>
      <p:sp>
        <p:nvSpPr>
          <p:cNvPr id="190" name="Google Shape;190;g3f3109ef6db_0_301:notes">
            <a:extLst>
              <a:ext uri="{FF2B5EF4-FFF2-40B4-BE49-F238E27FC236}">
                <a16:creationId xmlns:a16="http://schemas.microsoft.com/office/drawing/2014/main" id="{16A08D4F-8AE6-9AA6-71DC-6B61A90EAB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Link to dashboard: </a:t>
            </a:r>
            <a:r>
              <a:rPr lang="en-IN" dirty="0"/>
              <a:t>https://academic-celonis-lqh8sk.eu-2.celonis.cloud/package-manager/ui/studio/ui/spaces/27397876-e0f9-4ab1-b5c1-32d48cf58785/packages/c4010fb1-55f1-4799-803e-8af582d5c88d/nodes/40d95d0f-8d0e-4448-9ca3-e67621a91548?activeTabs=1ccae651_9ff1_469e_9d96_3a835a1633a8-view:df200320-c7ee-4687-aacf-2c08791c61a6&amp;share=ecdf4195-a79e-4433-a2d6-e768b21af3a9&amp;bookmark=false</a:t>
            </a:r>
            <a:endParaRPr dirty="0"/>
          </a:p>
        </p:txBody>
      </p:sp>
      <p:sp>
        <p:nvSpPr>
          <p:cNvPr id="191" name="Google Shape;191;g3f3109ef6db_0_301:notes">
            <a:extLst>
              <a:ext uri="{FF2B5EF4-FFF2-40B4-BE49-F238E27FC236}">
                <a16:creationId xmlns:a16="http://schemas.microsoft.com/office/drawing/2014/main" id="{F33D7102-B65E-5DC4-6C3D-7E2AE22EFD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5695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page">
  <p:cSld name="Titlepage">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3"/>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3"/>
          <p:cNvSpPr txBox="1">
            <a:spLocks noGrp="1"/>
          </p:cNvSpPr>
          <p:nvPr>
            <p:ph type="body" idx="3"/>
          </p:nvPr>
        </p:nvSpPr>
        <p:spPr>
          <a:xfrm>
            <a:off x="305991"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5" name="Google Shape;55;p13"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page">
  <p:cSld name="Titlepage">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5"/>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5"/>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5"/>
          <p:cNvSpPr txBox="1">
            <a:spLocks noGrp="1"/>
          </p:cNvSpPr>
          <p:nvPr>
            <p:ph type="body" idx="3"/>
          </p:nvPr>
        </p:nvSpPr>
        <p:spPr>
          <a:xfrm>
            <a:off x="305991"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6" name="Google Shape;66;p15"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pter slide black">
  <p:cSld name="Chapter slide black">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6"/>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ly Title white">
  <p:cSld name="Only Title white">
    <p:bg>
      <p:bgPr>
        <a:solidFill>
          <a:schemeClr val="lt1"/>
        </a:solidFill>
        <a:effectLst/>
      </p:bgPr>
    </p:bg>
    <p:spTree>
      <p:nvGrpSpPr>
        <p:cNvPr id="1" name="Shape 70"/>
        <p:cNvGrpSpPr/>
        <p:nvPr/>
      </p:nvGrpSpPr>
      <p:grpSpPr>
        <a:xfrm>
          <a:off x="0" y="0"/>
          <a:ext cx="0" cy="0"/>
          <a:chOff x="0" y="0"/>
          <a:chExt cx="0" cy="0"/>
        </a:xfrm>
      </p:grpSpPr>
      <p:sp>
        <p:nvSpPr>
          <p:cNvPr id="71" name="Google Shape;71;p17"/>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72" name="Google Shape;72;p17"/>
          <p:cNvPicPr preferRelativeResize="0"/>
          <p:nvPr/>
        </p:nvPicPr>
        <p:blipFill rotWithShape="1">
          <a:blip r:embed="rId2">
            <a:alphaModFix/>
          </a:blip>
          <a:srcRect/>
          <a:stretch/>
        </p:blipFill>
        <p:spPr>
          <a:xfrm>
            <a:off x="8428312" y="265252"/>
            <a:ext cx="420413" cy="447619"/>
          </a:xfrm>
          <a:prstGeom prst="rect">
            <a:avLst/>
          </a:prstGeom>
          <a:noFill/>
          <a:ln>
            <a:noFill/>
          </a:ln>
        </p:spPr>
      </p:pic>
      <p:sp>
        <p:nvSpPr>
          <p:cNvPr id="73" name="Google Shape;73;p17"/>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ly Title black">
  <p:cSld name="Only Title black">
    <p:spTree>
      <p:nvGrpSpPr>
        <p:cNvPr id="1" name="Shape 74"/>
        <p:cNvGrpSpPr/>
        <p:nvPr/>
      </p:nvGrpSpPr>
      <p:grpSpPr>
        <a:xfrm>
          <a:off x="0" y="0"/>
          <a:ext cx="0" cy="0"/>
          <a:chOff x="0" y="0"/>
          <a:chExt cx="0" cy="0"/>
        </a:xfrm>
      </p:grpSpPr>
      <p:sp>
        <p:nvSpPr>
          <p:cNvPr id="75" name="Google Shape;75;p18"/>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76" name="Google Shape;76;p18"/>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hapterslide white">
  <p:cSld name="Chapterslide white">
    <p:bg>
      <p:bgPr>
        <a:solidFill>
          <a:schemeClr val="lt1"/>
        </a:solidFill>
        <a:effectLst/>
      </p:bgPr>
    </p:bg>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80" name="Google Shape;80;p19"/>
          <p:cNvPicPr preferRelativeResize="0"/>
          <p:nvPr/>
        </p:nvPicPr>
        <p:blipFill rotWithShape="1">
          <a:blip r:embed="rId2">
            <a:alphaModFix/>
          </a:blip>
          <a:srcRect/>
          <a:stretch/>
        </p:blipFill>
        <p:spPr>
          <a:xfrm>
            <a:off x="8428312" y="265252"/>
            <a:ext cx="420413" cy="44761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page with graphic">
  <p:cSld name="Titlepage with graphic">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0"/>
          <p:cNvSpPr txBox="1">
            <a:spLocks noGrp="1"/>
          </p:cNvSpPr>
          <p:nvPr>
            <p:ph type="body" idx="1"/>
          </p:nvPr>
        </p:nvSpPr>
        <p:spPr>
          <a:xfrm>
            <a:off x="305992" y="4013900"/>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0"/>
          <p:cNvSpPr txBox="1">
            <a:spLocks noGrp="1"/>
          </p:cNvSpPr>
          <p:nvPr>
            <p:ph type="body" idx="2"/>
          </p:nvPr>
        </p:nvSpPr>
        <p:spPr>
          <a:xfrm>
            <a:off x="305992" y="4252091"/>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0"/>
          <p:cNvSpPr txBox="1">
            <a:spLocks noGrp="1"/>
          </p:cNvSpPr>
          <p:nvPr>
            <p:ph type="body" idx="3"/>
          </p:nvPr>
        </p:nvSpPr>
        <p:spPr>
          <a:xfrm>
            <a:off x="305993"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6" name="Google Shape;86;p20"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
        <p:nvSpPr>
          <p:cNvPr id="87" name="Google Shape;87;p20"/>
          <p:cNvSpPr>
            <a:spLocks noGrp="1"/>
          </p:cNvSpPr>
          <p:nvPr>
            <p:ph type="pic" idx="4"/>
          </p:nvPr>
        </p:nvSpPr>
        <p:spPr>
          <a:xfrm>
            <a:off x="4842273" y="0"/>
            <a:ext cx="4301700" cy="5143500"/>
          </a:xfrm>
          <a:prstGeom prst="rect">
            <a:avLst/>
          </a:prstGeom>
          <a:noFill/>
          <a:ln>
            <a:noFill/>
          </a:ln>
        </p:spPr>
      </p:sp>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page white">
  <p:cSld name="Titlepage white">
    <p:bg>
      <p:bgPr>
        <a:solidFill>
          <a:schemeClr val="lt1"/>
        </a:solidFill>
        <a:effectLst/>
      </p:bgPr>
    </p:bg>
    <p:spTree>
      <p:nvGrpSpPr>
        <p:cNvPr id="1" name="Shape 88"/>
        <p:cNvGrpSpPr/>
        <p:nvPr/>
      </p:nvGrpSpPr>
      <p:grpSpPr>
        <a:xfrm>
          <a:off x="0" y="0"/>
          <a:ext cx="0" cy="0"/>
          <a:chOff x="0" y="0"/>
          <a:chExt cx="0" cy="0"/>
        </a:xfrm>
      </p:grpSpPr>
      <p:sp>
        <p:nvSpPr>
          <p:cNvPr id="89" name="Google Shape;89;p21"/>
          <p:cNvSpPr txBox="1">
            <a:spLocks noGrp="1"/>
          </p:cNvSpPr>
          <p:nvPr>
            <p:ph type="title"/>
          </p:nvPr>
        </p:nvSpPr>
        <p:spPr>
          <a:xfrm>
            <a:off x="306016"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1"/>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1"/>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1"/>
          <p:cNvSpPr txBox="1">
            <a:spLocks noGrp="1"/>
          </p:cNvSpPr>
          <p:nvPr>
            <p:ph type="body" idx="3"/>
          </p:nvPr>
        </p:nvSpPr>
        <p:spPr>
          <a:xfrm>
            <a:off x="306017"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3" name="Google Shape;93;p21"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hank you with details">
  <p:cSld name="Thank you with details">
    <p:spTree>
      <p:nvGrpSpPr>
        <p:cNvPr id="1" name="Shape 94"/>
        <p:cNvGrpSpPr/>
        <p:nvPr/>
      </p:nvGrpSpPr>
      <p:grpSpPr>
        <a:xfrm>
          <a:off x="0" y="0"/>
          <a:ext cx="0" cy="0"/>
          <a:chOff x="0" y="0"/>
          <a:chExt cx="0" cy="0"/>
        </a:xfrm>
      </p:grpSpPr>
      <p:sp>
        <p:nvSpPr>
          <p:cNvPr id="95" name="Google Shape;95;p22"/>
          <p:cNvSpPr txBox="1">
            <a:spLocks noGrp="1"/>
          </p:cNvSpPr>
          <p:nvPr>
            <p:ph type="title"/>
          </p:nvPr>
        </p:nvSpPr>
        <p:spPr>
          <a:xfrm>
            <a:off x="305992" y="2181038"/>
            <a:ext cx="4266000" cy="554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2"/>
          <p:cNvSpPr txBox="1">
            <a:spLocks noGrp="1"/>
          </p:cNvSpPr>
          <p:nvPr>
            <p:ph type="body" idx="1"/>
          </p:nvPr>
        </p:nvSpPr>
        <p:spPr>
          <a:xfrm>
            <a:off x="305991" y="2874340"/>
            <a:ext cx="4266000" cy="3693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pic>
        <p:nvPicPr>
          <p:cNvPr id="97" name="Google Shape;97;p22"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98"/>
        <p:cNvGrpSpPr/>
        <p:nvPr/>
      </p:nvGrpSpPr>
      <p:grpSpPr>
        <a:xfrm>
          <a:off x="0" y="0"/>
          <a:ext cx="0" cy="0"/>
          <a:chOff x="0" y="0"/>
          <a:chExt cx="0" cy="0"/>
        </a:xfrm>
      </p:grpSpPr>
      <p:sp>
        <p:nvSpPr>
          <p:cNvPr id="99" name="Google Shape;99;p23"/>
          <p:cNvSpPr txBox="1">
            <a:spLocks noGrp="1"/>
          </p:cNvSpPr>
          <p:nvPr>
            <p:ph type="title"/>
          </p:nvPr>
        </p:nvSpPr>
        <p:spPr>
          <a:xfrm>
            <a:off x="305991" y="2735036"/>
            <a:ext cx="8532000" cy="554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sz="3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00" name="Google Shape;100;p23"/>
          <p:cNvPicPr preferRelativeResize="0"/>
          <p:nvPr/>
        </p:nvPicPr>
        <p:blipFill rotWithShape="1">
          <a:blip r:embed="rId2">
            <a:alphaModFix/>
          </a:blip>
          <a:srcRect/>
          <a:stretch/>
        </p:blipFill>
        <p:spPr>
          <a:xfrm>
            <a:off x="4223657" y="1825961"/>
            <a:ext cx="696687" cy="74177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ly Title black">
  <p:cSld name="Only Title black">
    <p:spTree>
      <p:nvGrpSpPr>
        <p:cNvPr id="1" name="Shape 106"/>
        <p:cNvGrpSpPr/>
        <p:nvPr/>
      </p:nvGrpSpPr>
      <p:grpSpPr>
        <a:xfrm>
          <a:off x="0" y="0"/>
          <a:ext cx="0" cy="0"/>
          <a:chOff x="0" y="0"/>
          <a:chExt cx="0" cy="0"/>
        </a:xfrm>
      </p:grpSpPr>
      <p:sp>
        <p:nvSpPr>
          <p:cNvPr id="107" name="Google Shape;107;p25"/>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08" name="Google Shape;108;p25"/>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hapter slide black">
  <p:cSld name="Chapter slide black">
    <p:spTree>
      <p:nvGrpSpPr>
        <p:cNvPr id="1" name="Shape 109"/>
        <p:cNvGrpSpPr/>
        <p:nvPr/>
      </p:nvGrpSpPr>
      <p:grpSpPr>
        <a:xfrm>
          <a:off x="0" y="0"/>
          <a:ext cx="0" cy="0"/>
          <a:chOff x="0" y="0"/>
          <a:chExt cx="0" cy="0"/>
        </a:xfrm>
      </p:grpSpPr>
      <p:sp>
        <p:nvSpPr>
          <p:cNvPr id="110" name="Google Shape;110;p26"/>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6"/>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hapterslide white">
  <p:cSld name="Chapterslide white">
    <p:bg>
      <p:bgPr>
        <a:solidFill>
          <a:schemeClr val="lt1"/>
        </a:solidFill>
        <a:effectLst/>
      </p:bgPr>
    </p:bg>
    <p:spTree>
      <p:nvGrpSpPr>
        <p:cNvPr id="1" name="Shape 112"/>
        <p:cNvGrpSpPr/>
        <p:nvPr/>
      </p:nvGrpSpPr>
      <p:grpSpPr>
        <a:xfrm>
          <a:off x="0" y="0"/>
          <a:ext cx="0" cy="0"/>
          <a:chOff x="0" y="0"/>
          <a:chExt cx="0" cy="0"/>
        </a:xfrm>
      </p:grpSpPr>
      <p:sp>
        <p:nvSpPr>
          <p:cNvPr id="113" name="Google Shape;113;p27"/>
          <p:cNvSpPr txBox="1">
            <a:spLocks noGrp="1"/>
          </p:cNvSpPr>
          <p:nvPr>
            <p:ph type="title"/>
          </p:nvPr>
        </p:nvSpPr>
        <p:spPr>
          <a:xfrm>
            <a:off x="305991" y="2294751"/>
            <a:ext cx="8532000" cy="554100"/>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SzPts val="1400"/>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27"/>
          <p:cNvPicPr preferRelativeResize="0"/>
          <p:nvPr/>
        </p:nvPicPr>
        <p:blipFill rotWithShape="1">
          <a:blip r:embed="rId2">
            <a:alphaModFix/>
          </a:blip>
          <a:srcRect/>
          <a:stretch/>
        </p:blipFill>
        <p:spPr>
          <a:xfrm>
            <a:off x="8428312" y="265252"/>
            <a:ext cx="420413" cy="44761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ly Title white">
  <p:cSld name="Only Title white">
    <p:bg>
      <p:bgPr>
        <a:solidFill>
          <a:schemeClr val="lt1"/>
        </a:solidFill>
        <a:effectLst/>
      </p:bgPr>
    </p:bg>
    <p:spTree>
      <p:nvGrpSpPr>
        <p:cNvPr id="1" name="Shape 116"/>
        <p:cNvGrpSpPr/>
        <p:nvPr/>
      </p:nvGrpSpPr>
      <p:grpSpPr>
        <a:xfrm>
          <a:off x="0" y="0"/>
          <a:ext cx="0" cy="0"/>
          <a:chOff x="0" y="0"/>
          <a:chExt cx="0" cy="0"/>
        </a:xfrm>
      </p:grpSpPr>
      <p:sp>
        <p:nvSpPr>
          <p:cNvPr id="117" name="Google Shape;117;p28"/>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lvl="0"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1pPr>
            <a:lvl2pPr marL="0" lvl="1"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2pPr>
            <a:lvl3pPr marL="0" lvl="2"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3pPr>
            <a:lvl4pPr marL="0" lvl="3"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4pPr>
            <a:lvl5pPr marL="0" lvl="4"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5pPr>
            <a:lvl6pPr marL="0" lvl="5"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6pPr>
            <a:lvl7pPr marL="0" lvl="6"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7pPr>
            <a:lvl8pPr marL="0" lvl="7"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8pPr>
            <a:lvl9pPr marL="0" lvl="8" indent="0" algn="r">
              <a:lnSpc>
                <a:spcPct val="100000"/>
              </a:lnSpc>
              <a:spcBef>
                <a:spcPts val="0"/>
              </a:spcBef>
              <a:spcAft>
                <a:spcPts val="0"/>
              </a:spcAft>
              <a:buNone/>
              <a:defRPr sz="800" b="0" i="0" u="none" strike="noStrike" cap="none">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8"/>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8" name="Google Shape;118;p28"/>
          <p:cNvPicPr preferRelativeResize="0"/>
          <p:nvPr/>
        </p:nvPicPr>
        <p:blipFill rotWithShape="1">
          <a:blip r:embed="rId2">
            <a:alphaModFix/>
          </a:blip>
          <a:srcRect/>
          <a:stretch/>
        </p:blipFill>
        <p:spPr>
          <a:xfrm>
            <a:off x="8417596" y="277728"/>
            <a:ext cx="420413" cy="44761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page">
  <p:cSld name="Titlepage">
    <p:spTree>
      <p:nvGrpSpPr>
        <p:cNvPr id="1" name="Shape 120"/>
        <p:cNvGrpSpPr/>
        <p:nvPr/>
      </p:nvGrpSpPr>
      <p:grpSpPr>
        <a:xfrm>
          <a:off x="0" y="0"/>
          <a:ext cx="0" cy="0"/>
          <a:chOff x="0" y="0"/>
          <a:chExt cx="0" cy="0"/>
        </a:xfrm>
      </p:grpSpPr>
      <p:sp>
        <p:nvSpPr>
          <p:cNvPr id="121" name="Google Shape;121;p29"/>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9"/>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29"/>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9"/>
          <p:cNvSpPr txBox="1">
            <a:spLocks noGrp="1"/>
          </p:cNvSpPr>
          <p:nvPr>
            <p:ph type="body" idx="3"/>
          </p:nvPr>
        </p:nvSpPr>
        <p:spPr>
          <a:xfrm>
            <a:off x="305991"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25" name="Google Shape;125;p29"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itlepage white">
  <p:cSld name="Titlepage white">
    <p:bg>
      <p:bgPr>
        <a:solidFill>
          <a:schemeClr val="lt1"/>
        </a:solidFill>
        <a:effectLst/>
      </p:bgPr>
    </p:bg>
    <p:spTree>
      <p:nvGrpSpPr>
        <p:cNvPr id="1" name="Shape 126"/>
        <p:cNvGrpSpPr/>
        <p:nvPr/>
      </p:nvGrpSpPr>
      <p:grpSpPr>
        <a:xfrm>
          <a:off x="0" y="0"/>
          <a:ext cx="0" cy="0"/>
          <a:chOff x="0" y="0"/>
          <a:chExt cx="0" cy="0"/>
        </a:xfrm>
      </p:grpSpPr>
      <p:sp>
        <p:nvSpPr>
          <p:cNvPr id="127" name="Google Shape;127;p30"/>
          <p:cNvSpPr txBox="1">
            <a:spLocks noGrp="1"/>
          </p:cNvSpPr>
          <p:nvPr>
            <p:ph type="title"/>
          </p:nvPr>
        </p:nvSpPr>
        <p:spPr>
          <a:xfrm>
            <a:off x="306016"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30"/>
          <p:cNvSpPr txBox="1">
            <a:spLocks noGrp="1"/>
          </p:cNvSpPr>
          <p:nvPr>
            <p:ph type="body" idx="1"/>
          </p:nvPr>
        </p:nvSpPr>
        <p:spPr>
          <a:xfrm>
            <a:off x="305992" y="4013900"/>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30"/>
          <p:cNvSpPr txBox="1">
            <a:spLocks noGrp="1"/>
          </p:cNvSpPr>
          <p:nvPr>
            <p:ph type="body" idx="2"/>
          </p:nvPr>
        </p:nvSpPr>
        <p:spPr>
          <a:xfrm>
            <a:off x="305992" y="4252091"/>
            <a:ext cx="42660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30"/>
          <p:cNvSpPr txBox="1">
            <a:spLocks noGrp="1"/>
          </p:cNvSpPr>
          <p:nvPr>
            <p:ph type="body" idx="3"/>
          </p:nvPr>
        </p:nvSpPr>
        <p:spPr>
          <a:xfrm>
            <a:off x="306017"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dk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31" name="Google Shape;131;p30"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itlepage with graphic">
  <p:cSld name="Titlepage with graphic">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305992" y="1767943"/>
            <a:ext cx="4266000" cy="9234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4400"/>
              <a:buNone/>
              <a:defRPr sz="3000" b="1" i="0">
                <a:solidFill>
                  <a:schemeClr val="lt1"/>
                </a:solidFill>
                <a:latin typeface="Poppins SemiBold"/>
                <a:ea typeface="Poppins SemiBold"/>
                <a:cs typeface="Poppins SemiBold"/>
                <a:sym typeface="Poppi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31"/>
          <p:cNvSpPr txBox="1">
            <a:spLocks noGrp="1"/>
          </p:cNvSpPr>
          <p:nvPr>
            <p:ph type="body" idx="1"/>
          </p:nvPr>
        </p:nvSpPr>
        <p:spPr>
          <a:xfrm>
            <a:off x="305992" y="4013900"/>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31"/>
          <p:cNvSpPr txBox="1">
            <a:spLocks noGrp="1"/>
          </p:cNvSpPr>
          <p:nvPr>
            <p:ph type="body" idx="2"/>
          </p:nvPr>
        </p:nvSpPr>
        <p:spPr>
          <a:xfrm>
            <a:off x="305992" y="4252091"/>
            <a:ext cx="4271700" cy="184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sz="1200">
                <a:latin typeface="Poppins"/>
                <a:ea typeface="Poppins"/>
                <a:cs typeface="Poppins"/>
                <a:sym typeface="Poppins"/>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31"/>
          <p:cNvSpPr txBox="1">
            <a:spLocks noGrp="1"/>
          </p:cNvSpPr>
          <p:nvPr>
            <p:ph type="body" idx="3"/>
          </p:nvPr>
        </p:nvSpPr>
        <p:spPr>
          <a:xfrm>
            <a:off x="305993" y="2808542"/>
            <a:ext cx="4266000" cy="24630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0"/>
              </a:spcBef>
              <a:spcAft>
                <a:spcPts val="0"/>
              </a:spcAft>
              <a:buClr>
                <a:schemeClr val="accent1"/>
              </a:buClr>
              <a:buSzPts val="2000"/>
              <a:buFont typeface="Arial"/>
              <a:buNone/>
              <a:defRPr sz="1600">
                <a:solidFill>
                  <a:schemeClr val="lt1"/>
                </a:solidFill>
                <a:latin typeface="Poppins"/>
                <a:ea typeface="Poppins"/>
                <a:cs typeface="Poppins"/>
                <a:sym typeface="Poppins"/>
              </a:defRPr>
            </a:lvl1pPr>
            <a:lvl2pPr marL="914400" lvl="1" indent="-342900" algn="l">
              <a:lnSpc>
                <a:spcPct val="90000"/>
              </a:lnSpc>
              <a:spcBef>
                <a:spcPts val="500"/>
              </a:spcBef>
              <a:spcAft>
                <a:spcPts val="0"/>
              </a:spcAft>
              <a:buSzPts val="1800"/>
              <a:buChar char="•"/>
              <a:defRPr>
                <a:solidFill>
                  <a:schemeClr val="lt1"/>
                </a:solidFill>
              </a:defRPr>
            </a:lvl2pPr>
            <a:lvl3pPr marL="1371600" lvl="2" indent="-330200" algn="l">
              <a:lnSpc>
                <a:spcPct val="90000"/>
              </a:lnSpc>
              <a:spcBef>
                <a:spcPts val="500"/>
              </a:spcBef>
              <a:spcAft>
                <a:spcPts val="0"/>
              </a:spcAft>
              <a:buSzPts val="1600"/>
              <a:buChar char="•"/>
              <a:defRPr>
                <a:solidFill>
                  <a:schemeClr val="lt1"/>
                </a:solidFill>
              </a:defRPr>
            </a:lvl3pPr>
            <a:lvl4pPr marL="1828800" lvl="3" indent="-317500" algn="l">
              <a:lnSpc>
                <a:spcPct val="90000"/>
              </a:lnSpc>
              <a:spcBef>
                <a:spcPts val="500"/>
              </a:spcBef>
              <a:spcAft>
                <a:spcPts val="0"/>
              </a:spcAft>
              <a:buSzPts val="1400"/>
              <a:buChar char="•"/>
              <a:defRPr>
                <a:solidFill>
                  <a:schemeClr val="lt1"/>
                </a:solidFill>
              </a:defRPr>
            </a:lvl4pPr>
            <a:lvl5pPr marL="2286000" lvl="4" indent="-304800" algn="l">
              <a:lnSpc>
                <a:spcPct val="90000"/>
              </a:lnSpc>
              <a:spcBef>
                <a:spcPts val="500"/>
              </a:spcBef>
              <a:spcAft>
                <a:spcPts val="0"/>
              </a:spcAft>
              <a:buSzPts val="1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37" name="Google Shape;137;p31"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
        <p:nvSpPr>
          <p:cNvPr id="138" name="Google Shape;138;p31"/>
          <p:cNvSpPr>
            <a:spLocks noGrp="1"/>
          </p:cNvSpPr>
          <p:nvPr>
            <p:ph type="pic" idx="4"/>
          </p:nvPr>
        </p:nvSpPr>
        <p:spPr>
          <a:xfrm>
            <a:off x="4842273" y="0"/>
            <a:ext cx="4301700" cy="5143500"/>
          </a:xfrm>
          <a:prstGeom prst="rect">
            <a:avLst/>
          </a:prstGeom>
          <a:noFill/>
          <a:ln>
            <a:noFill/>
          </a:ln>
        </p:spPr>
      </p:sp>
    </p:spTree>
  </p:cSld>
  <p:clrMapOvr>
    <a:masterClrMapping/>
  </p:clrMapOvr>
  <p:extLst>
    <p:ext uri="{DCECCB84-F9BA-43D5-87BE-67443E8EF086}">
      <p15:sldGuideLst xmlns:p15="http://schemas.microsoft.com/office/powerpoint/2012/main">
        <p15:guide id="1" pos="2880">
          <p15:clr>
            <a:srgbClr val="F26B43"/>
          </p15:clr>
        </p15:guide>
        <p15:guide id="2" pos="3050">
          <p15:clr>
            <a:srgbClr val="F26B43"/>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hank you with details">
  <p:cSld name="Thank you with details">
    <p:spTree>
      <p:nvGrpSpPr>
        <p:cNvPr id="1" name="Shape 139"/>
        <p:cNvGrpSpPr/>
        <p:nvPr/>
      </p:nvGrpSpPr>
      <p:grpSpPr>
        <a:xfrm>
          <a:off x="0" y="0"/>
          <a:ext cx="0" cy="0"/>
          <a:chOff x="0" y="0"/>
          <a:chExt cx="0" cy="0"/>
        </a:xfrm>
      </p:grpSpPr>
      <p:sp>
        <p:nvSpPr>
          <p:cNvPr id="140" name="Google Shape;140;p32"/>
          <p:cNvSpPr txBox="1">
            <a:spLocks noGrp="1"/>
          </p:cNvSpPr>
          <p:nvPr>
            <p:ph type="title"/>
          </p:nvPr>
        </p:nvSpPr>
        <p:spPr>
          <a:xfrm>
            <a:off x="305992" y="2181038"/>
            <a:ext cx="4266000" cy="554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32"/>
          <p:cNvSpPr txBox="1">
            <a:spLocks noGrp="1"/>
          </p:cNvSpPr>
          <p:nvPr>
            <p:ph type="body" idx="1"/>
          </p:nvPr>
        </p:nvSpPr>
        <p:spPr>
          <a:xfrm>
            <a:off x="305991" y="2874340"/>
            <a:ext cx="4266000" cy="3693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200"/>
              <a:buNone/>
              <a:defRPr/>
            </a:lvl1pPr>
            <a:lvl2pPr marL="914400" lvl="1" indent="-342900" algn="l">
              <a:lnSpc>
                <a:spcPct val="100000"/>
              </a:lnSpc>
              <a:spcBef>
                <a:spcPts val="0"/>
              </a:spcBef>
              <a:spcAft>
                <a:spcPts val="0"/>
              </a:spcAft>
              <a:buSzPts val="1800"/>
              <a:buChar char="•"/>
              <a:defRPr/>
            </a:lvl2pPr>
            <a:lvl3pPr marL="1371600" lvl="2" indent="-342900" algn="l">
              <a:lnSpc>
                <a:spcPct val="100000"/>
              </a:lnSpc>
              <a:spcBef>
                <a:spcPts val="0"/>
              </a:spcBef>
              <a:spcAft>
                <a:spcPts val="0"/>
              </a:spcAft>
              <a:buSzPts val="1800"/>
              <a:buChar char="•"/>
              <a:defRPr/>
            </a:lvl3pPr>
            <a:lvl4pPr marL="1828800" lvl="3" indent="-342900" algn="l">
              <a:lnSpc>
                <a:spcPct val="100000"/>
              </a:lnSpc>
              <a:spcBef>
                <a:spcPts val="0"/>
              </a:spcBef>
              <a:spcAft>
                <a:spcPts val="0"/>
              </a:spcAft>
              <a:buSzPts val="1800"/>
              <a:buChar char="•"/>
              <a:defRPr/>
            </a:lvl4pPr>
            <a:lvl5pPr marL="2286000" lvl="4" indent="-342900" algn="l">
              <a:lnSpc>
                <a:spcPct val="100000"/>
              </a:lnSpc>
              <a:spcBef>
                <a:spcPts val="0"/>
              </a:spcBef>
              <a:spcAft>
                <a:spcPts val="0"/>
              </a:spcAft>
              <a:buSzPts val="1800"/>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pic>
        <p:nvPicPr>
          <p:cNvPr id="142" name="Google Shape;142;p32" descr="Ein Bild, das Zeichnung enthält.&#10;&#10;Automatisch generierte Beschreibung"/>
          <p:cNvPicPr preferRelativeResize="0"/>
          <p:nvPr/>
        </p:nvPicPr>
        <p:blipFill rotWithShape="1">
          <a:blip r:embed="rId2">
            <a:alphaModFix/>
          </a:blip>
          <a:srcRect/>
          <a:stretch/>
        </p:blipFill>
        <p:spPr>
          <a:xfrm>
            <a:off x="305992" y="276677"/>
            <a:ext cx="1382315" cy="58057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hank you.">
  <p:cSld name="Thank you.">
    <p:spTree>
      <p:nvGrpSpPr>
        <p:cNvPr id="1" name="Shape 143"/>
        <p:cNvGrpSpPr/>
        <p:nvPr/>
      </p:nvGrpSpPr>
      <p:grpSpPr>
        <a:xfrm>
          <a:off x="0" y="0"/>
          <a:ext cx="0" cy="0"/>
          <a:chOff x="0" y="0"/>
          <a:chExt cx="0" cy="0"/>
        </a:xfrm>
      </p:grpSpPr>
      <p:sp>
        <p:nvSpPr>
          <p:cNvPr id="144" name="Google Shape;144;p33"/>
          <p:cNvSpPr txBox="1">
            <a:spLocks noGrp="1"/>
          </p:cNvSpPr>
          <p:nvPr>
            <p:ph type="title"/>
          </p:nvPr>
        </p:nvSpPr>
        <p:spPr>
          <a:xfrm>
            <a:off x="305991" y="2735036"/>
            <a:ext cx="8532000" cy="554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sz="3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45" name="Google Shape;145;p33"/>
          <p:cNvPicPr preferRelativeResize="0"/>
          <p:nvPr/>
        </p:nvPicPr>
        <p:blipFill rotWithShape="1">
          <a:blip r:embed="rId2">
            <a:alphaModFix/>
          </a:blip>
          <a:srcRect/>
          <a:stretch/>
        </p:blipFill>
        <p:spPr>
          <a:xfrm>
            <a:off x="4223657" y="1825961"/>
            <a:ext cx="696687" cy="741771"/>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22322-E460-39BC-68D9-39A7E8CF1192}"/>
              </a:ext>
            </a:extLst>
          </p:cNvPr>
          <p:cNvSpPr>
            <a:spLocks noGrp="1"/>
          </p:cNvSpPr>
          <p:nvPr>
            <p:ph type="ctrTitle"/>
          </p:nvPr>
        </p:nvSpPr>
        <p:spPr>
          <a:xfrm>
            <a:off x="1143000" y="1247477"/>
            <a:ext cx="6858000" cy="1384995"/>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B964E439-799E-8572-74FD-E14BD6CF1C4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27F831-D59B-4E16-B376-3DA82B68B293}"/>
              </a:ext>
            </a:extLst>
          </p:cNvPr>
          <p:cNvSpPr>
            <a:spLocks noGrp="1"/>
          </p:cNvSpPr>
          <p:nvPr>
            <p:ph type="dt" sz="half" idx="10"/>
          </p:nvPr>
        </p:nvSpPr>
        <p:spPr/>
        <p:txBody>
          <a:bodyPr/>
          <a:lstStyle/>
          <a:p>
            <a:fld id="{BB7646B2-17BC-4B8C-ABEA-9345ADBBFB34}" type="datetimeFigureOut">
              <a:rPr lang="en-IN" smtClean="0"/>
              <a:t>07-08-2026</a:t>
            </a:fld>
            <a:endParaRPr lang="en-IN"/>
          </a:p>
        </p:txBody>
      </p:sp>
      <p:sp>
        <p:nvSpPr>
          <p:cNvPr id="5" name="Footer Placeholder 4">
            <a:extLst>
              <a:ext uri="{FF2B5EF4-FFF2-40B4-BE49-F238E27FC236}">
                <a16:creationId xmlns:a16="http://schemas.microsoft.com/office/drawing/2014/main" id="{17B72B41-918D-2DC2-618F-B395B943A7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9BE0CE-11C7-3610-3174-77470CF23596}"/>
              </a:ext>
            </a:extLst>
          </p:cNvPr>
          <p:cNvSpPr>
            <a:spLocks noGrp="1"/>
          </p:cNvSpPr>
          <p:nvPr>
            <p:ph type="sldNum" sz="quarter" idx="12"/>
          </p:nvPr>
        </p:nvSpPr>
        <p:spPr/>
        <p:txBody>
          <a:bodyPr/>
          <a:lstStyle/>
          <a:p>
            <a:fld id="{796B594D-248A-4EC6-B46B-052679DC0890}" type="slidenum">
              <a:rPr lang="en-IN" smtClean="0"/>
              <a:t>‹#›</a:t>
            </a:fld>
            <a:endParaRPr lang="en-IN"/>
          </a:p>
        </p:txBody>
      </p:sp>
    </p:spTree>
    <p:extLst>
      <p:ext uri="{BB962C8B-B14F-4D97-AF65-F5344CB8AC3E}">
        <p14:creationId xmlns:p14="http://schemas.microsoft.com/office/powerpoint/2010/main" val="7266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2.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2.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6"/>
        <p:cNvGrpSpPr/>
        <p:nvPr/>
      </p:nvGrpSpPr>
      <p:grpSpPr>
        <a:xfrm>
          <a:off x="0" y="0"/>
          <a:ext cx="0" cy="0"/>
          <a:chOff x="0" y="0"/>
          <a:chExt cx="0" cy="0"/>
        </a:xfrm>
      </p:grpSpPr>
      <p:pic>
        <p:nvPicPr>
          <p:cNvPr id="57" name="Google Shape;57;p14"/>
          <p:cNvPicPr preferRelativeResize="0"/>
          <p:nvPr/>
        </p:nvPicPr>
        <p:blipFill rotWithShape="1">
          <a:blip r:embed="rId11">
            <a:alphaModFix/>
          </a:blip>
          <a:srcRect/>
          <a:stretch/>
        </p:blipFill>
        <p:spPr>
          <a:xfrm>
            <a:off x="8428312" y="265252"/>
            <a:ext cx="420413" cy="447619"/>
          </a:xfrm>
          <a:prstGeom prst="rect">
            <a:avLst/>
          </a:prstGeom>
          <a:noFill/>
          <a:ln>
            <a:noFill/>
          </a:ln>
        </p:spPr>
      </p:pic>
      <p:sp>
        <p:nvSpPr>
          <p:cNvPr id="58" name="Google Shape;58;p14"/>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SzPts val="1400"/>
              <a:buNone/>
              <a:defRPr sz="1600" b="0" i="0" u="none" strike="noStrike" cap="none">
                <a:solidFill>
                  <a:schemeClr val="lt1"/>
                </a:solidFill>
                <a:latin typeface="Poppins SemiBold"/>
                <a:ea typeface="Poppins SemiBold"/>
                <a:cs typeface="Poppins SemiBold"/>
                <a:sym typeface="Poppins SemiBold"/>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 name="Google Shape;59;p14"/>
          <p:cNvSpPr txBox="1">
            <a:spLocks noGrp="1"/>
          </p:cNvSpPr>
          <p:nvPr>
            <p:ph type="body" idx="1"/>
          </p:nvPr>
        </p:nvSpPr>
        <p:spPr>
          <a:xfrm>
            <a:off x="305991" y="1059656"/>
            <a:ext cx="8532000" cy="3591000"/>
          </a:xfrm>
          <a:prstGeom prst="rect">
            <a:avLst/>
          </a:prstGeom>
          <a:noFill/>
          <a:ln>
            <a:noFill/>
          </a:ln>
        </p:spPr>
        <p:txBody>
          <a:bodyPr spcFirstLastPara="1" wrap="square" lIns="0" tIns="0" rIns="0" bIns="0" anchor="t" anchorCtr="0">
            <a:normAutofit/>
          </a:bodyPr>
          <a:lstStyle>
            <a:lvl1pPr marL="457200" marR="0" lvl="0"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2pPr>
            <a:lvl3pPr marL="1371600" marR="0" lvl="2"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3pPr>
            <a:lvl4pPr marL="1828800" marR="0" lvl="3"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4pPr>
            <a:lvl5pPr marL="2286000" marR="0" lvl="4"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1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3">
          <p15:clr>
            <a:srgbClr val="F26B43"/>
          </p15:clr>
        </p15:guide>
        <p15:guide id="2" pos="5567">
          <p15:clr>
            <a:srgbClr val="F26B43"/>
          </p15:clr>
        </p15:guide>
        <p15:guide id="3" orient="horz" pos="174">
          <p15:clr>
            <a:srgbClr val="F26B43"/>
          </p15:clr>
        </p15:guide>
        <p15:guide id="4" orient="horz" pos="3066">
          <p15:clr>
            <a:srgbClr val="F26B43"/>
          </p15:clr>
        </p15:guide>
        <p15:guide id="5" orient="horz" pos="2930">
          <p15:clr>
            <a:srgbClr val="F26B43"/>
          </p15:clr>
        </p15:guide>
        <p15:guide id="6" orient="horz" pos="540">
          <p15:clr>
            <a:srgbClr val="F26B43"/>
          </p15:clr>
        </p15:guide>
        <p15:guide id="7" orient="horz" pos="6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1"/>
        <p:cNvGrpSpPr/>
        <p:nvPr/>
      </p:nvGrpSpPr>
      <p:grpSpPr>
        <a:xfrm>
          <a:off x="0" y="0"/>
          <a:ext cx="0" cy="0"/>
          <a:chOff x="0" y="0"/>
          <a:chExt cx="0" cy="0"/>
        </a:xfrm>
      </p:grpSpPr>
      <p:pic>
        <p:nvPicPr>
          <p:cNvPr id="102" name="Google Shape;102;p24"/>
          <p:cNvPicPr preferRelativeResize="0"/>
          <p:nvPr/>
        </p:nvPicPr>
        <p:blipFill rotWithShape="1">
          <a:blip r:embed="rId12">
            <a:alphaModFix/>
          </a:blip>
          <a:srcRect/>
          <a:stretch/>
        </p:blipFill>
        <p:spPr>
          <a:xfrm>
            <a:off x="8428312" y="265252"/>
            <a:ext cx="420413" cy="447619"/>
          </a:xfrm>
          <a:prstGeom prst="rect">
            <a:avLst/>
          </a:prstGeom>
          <a:noFill/>
          <a:ln>
            <a:noFill/>
          </a:ln>
        </p:spPr>
      </p:pic>
      <p:sp>
        <p:nvSpPr>
          <p:cNvPr id="103" name="Google Shape;103;p24"/>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SzPts val="1400"/>
              <a:buNone/>
              <a:defRPr sz="1600" b="0" i="0" u="none" strike="noStrike" cap="none">
                <a:solidFill>
                  <a:schemeClr val="lt1"/>
                </a:solidFill>
                <a:latin typeface="Poppins SemiBold"/>
                <a:ea typeface="Poppins SemiBold"/>
                <a:cs typeface="Poppins SemiBold"/>
                <a:sym typeface="Poppins SemiBold"/>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4" name="Google Shape;104;p24"/>
          <p:cNvSpPr txBox="1">
            <a:spLocks noGrp="1"/>
          </p:cNvSpPr>
          <p:nvPr>
            <p:ph type="body" idx="1"/>
          </p:nvPr>
        </p:nvSpPr>
        <p:spPr>
          <a:xfrm>
            <a:off x="305991" y="1059656"/>
            <a:ext cx="8532000" cy="3591000"/>
          </a:xfrm>
          <a:prstGeom prst="rect">
            <a:avLst/>
          </a:prstGeom>
          <a:noFill/>
          <a:ln>
            <a:noFill/>
          </a:ln>
        </p:spPr>
        <p:txBody>
          <a:bodyPr spcFirstLastPara="1" wrap="square" lIns="0" tIns="0" rIns="0" bIns="0" anchor="t" anchorCtr="0">
            <a:normAutofit/>
          </a:bodyPr>
          <a:lstStyle>
            <a:lvl1pPr marL="457200" marR="0" lvl="0"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1pPr>
            <a:lvl2pPr marL="914400" marR="0" lvl="1"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2pPr>
            <a:lvl3pPr marL="1371600" marR="0" lvl="2"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3pPr>
            <a:lvl4pPr marL="1828800" marR="0" lvl="3"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4pPr>
            <a:lvl5pPr marL="2286000" marR="0" lvl="4" indent="-304800" algn="l">
              <a:lnSpc>
                <a:spcPct val="100000"/>
              </a:lnSpc>
              <a:spcBef>
                <a:spcPts val="0"/>
              </a:spcBef>
              <a:spcAft>
                <a:spcPts val="0"/>
              </a:spcAft>
              <a:buClr>
                <a:schemeClr val="lt1"/>
              </a:buClr>
              <a:buSzPts val="1200"/>
              <a:buFont typeface="Arial"/>
              <a:buChar char="•"/>
              <a:defRPr sz="1200" b="0" i="0" u="none" strike="noStrike" cap="none">
                <a:solidFill>
                  <a:schemeClr val="lt1"/>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1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5" name="Google Shape;105;p24"/>
          <p:cNvSpPr txBox="1">
            <a:spLocks noGrp="1"/>
          </p:cNvSpPr>
          <p:nvPr>
            <p:ph type="sldNum" idx="12"/>
          </p:nvPr>
        </p:nvSpPr>
        <p:spPr>
          <a:xfrm>
            <a:off x="6780610" y="4870571"/>
            <a:ext cx="2057400" cy="123000"/>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1pPr>
            <a:lvl2pPr marL="0" marR="0" lvl="1"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2pPr>
            <a:lvl3pPr marL="0" marR="0" lvl="2"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3pPr>
            <a:lvl4pPr marL="0" marR="0" lvl="3"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4pPr>
            <a:lvl5pPr marL="0" marR="0" lvl="4"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5pPr>
            <a:lvl6pPr marL="0" marR="0" lvl="5"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6pPr>
            <a:lvl7pPr marL="0" marR="0" lvl="6"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7pPr>
            <a:lvl8pPr marL="0" marR="0" lvl="7"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8pPr>
            <a:lvl9pPr marL="0" marR="0" lvl="8" indent="0" algn="r">
              <a:lnSpc>
                <a:spcPct val="100000"/>
              </a:lnSpc>
              <a:spcBef>
                <a:spcPts val="0"/>
              </a:spcBef>
              <a:spcAft>
                <a:spcPts val="0"/>
              </a:spcAft>
              <a:buNone/>
              <a:defRPr sz="8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8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3">
          <p15:clr>
            <a:srgbClr val="F26B43"/>
          </p15:clr>
        </p15:guide>
        <p15:guide id="2" pos="5567">
          <p15:clr>
            <a:srgbClr val="F26B43"/>
          </p15:clr>
        </p15:guide>
        <p15:guide id="3" orient="horz" pos="174">
          <p15:clr>
            <a:srgbClr val="F26B43"/>
          </p15:clr>
        </p15:guide>
        <p15:guide id="4" orient="horz" pos="3066">
          <p15:clr>
            <a:srgbClr val="F26B43"/>
          </p15:clr>
        </p15:guide>
        <p15:guide id="5" orient="horz" pos="2930">
          <p15:clr>
            <a:srgbClr val="F26B43"/>
          </p15:clr>
        </p15:guide>
        <p15:guide id="6" orient="horz" pos="540">
          <p15:clr>
            <a:srgbClr val="F26B43"/>
          </p15:clr>
        </p15:guide>
        <p15:guide id="7" orient="horz" pos="6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Shape 149"/>
        <p:cNvGrpSpPr/>
        <p:nvPr/>
      </p:nvGrpSpPr>
      <p:grpSpPr>
        <a:xfrm>
          <a:off x="0" y="0"/>
          <a:ext cx="0" cy="0"/>
          <a:chOff x="0" y="0"/>
          <a:chExt cx="0" cy="0"/>
        </a:xfrm>
      </p:grpSpPr>
      <p:sp>
        <p:nvSpPr>
          <p:cNvPr id="150" name="Google Shape;150;p34"/>
          <p:cNvSpPr txBox="1">
            <a:spLocks noGrp="1"/>
          </p:cNvSpPr>
          <p:nvPr>
            <p:ph type="title"/>
          </p:nvPr>
        </p:nvSpPr>
        <p:spPr>
          <a:xfrm>
            <a:off x="305992" y="1337057"/>
            <a:ext cx="8531700" cy="1169700"/>
          </a:xfrm>
          <a:prstGeom prst="rect">
            <a:avLst/>
          </a:prstGeom>
          <a:noFill/>
          <a:ln>
            <a:noFill/>
          </a:ln>
        </p:spPr>
        <p:txBody>
          <a:bodyPr spcFirstLastPara="1" wrap="square" lIns="0" tIns="0" rIns="0" bIns="0" anchor="b" anchorCtr="0">
            <a:spAutoFit/>
          </a:bodyPr>
          <a:lstStyle/>
          <a:p>
            <a:pPr marL="0" lvl="0" indent="0" algn="l" rtl="0">
              <a:lnSpc>
                <a:spcPct val="100000"/>
              </a:lnSpc>
              <a:spcBef>
                <a:spcPts val="0"/>
              </a:spcBef>
              <a:spcAft>
                <a:spcPts val="0"/>
              </a:spcAft>
              <a:buSzPts val="4400"/>
              <a:buNone/>
            </a:pPr>
            <a:r>
              <a:rPr lang="en" sz="3800" b="0" dirty="0"/>
              <a:t>Sustainability Capstone:</a:t>
            </a:r>
            <a:endParaRPr sz="3800" b="0" dirty="0"/>
          </a:p>
          <a:p>
            <a:pPr marL="0" lvl="0" indent="0" algn="l" rtl="0">
              <a:lnSpc>
                <a:spcPct val="100000"/>
              </a:lnSpc>
              <a:spcBef>
                <a:spcPts val="0"/>
              </a:spcBef>
              <a:spcAft>
                <a:spcPts val="0"/>
              </a:spcAft>
              <a:buSzPts val="4400"/>
              <a:buNone/>
            </a:pPr>
            <a:r>
              <a:rPr lang="en" sz="3800" b="0" dirty="0"/>
              <a:t>Decarbonising Travel</a:t>
            </a:r>
            <a:endParaRPr sz="3800" b="0" dirty="0"/>
          </a:p>
        </p:txBody>
      </p:sp>
      <p:sp>
        <p:nvSpPr>
          <p:cNvPr id="151" name="Google Shape;151;p34"/>
          <p:cNvSpPr txBox="1">
            <a:spLocks noGrp="1"/>
          </p:cNvSpPr>
          <p:nvPr>
            <p:ph type="body" idx="1"/>
          </p:nvPr>
        </p:nvSpPr>
        <p:spPr>
          <a:xfrm>
            <a:off x="305842" y="4129612"/>
            <a:ext cx="42660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200"/>
              <a:buNone/>
            </a:pPr>
            <a:r>
              <a:rPr lang="en" dirty="0"/>
              <a:t>Speaker name: </a:t>
            </a:r>
            <a:r>
              <a:rPr lang="en" b="1" dirty="0"/>
              <a:t>Deneb Kumar Jena</a:t>
            </a:r>
            <a:endParaRPr b="1" dirty="0"/>
          </a:p>
          <a:p>
            <a:pPr marL="0" lvl="0" indent="0" algn="l" rtl="0">
              <a:lnSpc>
                <a:spcPct val="100000"/>
              </a:lnSpc>
              <a:spcBef>
                <a:spcPts val="0"/>
              </a:spcBef>
              <a:spcAft>
                <a:spcPts val="0"/>
              </a:spcAft>
              <a:buSzPts val="1200"/>
              <a:buNone/>
            </a:pPr>
            <a:r>
              <a:rPr lang="en" dirty="0"/>
              <a:t>Institute: GGSIP University, Delhi</a:t>
            </a:r>
            <a:endParaRPr dirty="0"/>
          </a:p>
          <a:p>
            <a:pPr marL="0" lvl="0" indent="0" algn="l" rtl="0">
              <a:lnSpc>
                <a:spcPct val="100000"/>
              </a:lnSpc>
              <a:spcBef>
                <a:spcPts val="0"/>
              </a:spcBef>
              <a:spcAft>
                <a:spcPts val="0"/>
              </a:spcAft>
              <a:buSzPts val="1200"/>
              <a:buNone/>
            </a:pPr>
            <a:r>
              <a:rPr lang="en" dirty="0"/>
              <a:t>Branch &amp; Year of Study: </a:t>
            </a:r>
            <a:r>
              <a:rPr lang="en" b="1" dirty="0"/>
              <a:t>2008</a:t>
            </a:r>
            <a:endParaRPr b="1" dirty="0"/>
          </a:p>
          <a:p>
            <a:pPr marL="0" lvl="0" indent="0" algn="l" rtl="0">
              <a:lnSpc>
                <a:spcPct val="100000"/>
              </a:lnSpc>
              <a:spcBef>
                <a:spcPts val="0"/>
              </a:spcBef>
              <a:spcAft>
                <a:spcPts val="0"/>
              </a:spcAft>
              <a:buSzPts val="1200"/>
              <a:buNone/>
            </a:pPr>
            <a:r>
              <a:rPr lang="en" dirty="0"/>
              <a:t>Email ID: </a:t>
            </a:r>
            <a:r>
              <a:rPr lang="en" b="1" dirty="0"/>
              <a:t>deneb.jena@gmail.com</a:t>
            </a:r>
            <a:endParaRPr b="1" dirty="0"/>
          </a:p>
          <a:p>
            <a:pPr marL="0" lvl="0" indent="0" algn="l" rtl="0">
              <a:lnSpc>
                <a:spcPct val="100000"/>
              </a:lnSpc>
              <a:spcBef>
                <a:spcPts val="0"/>
              </a:spcBef>
              <a:spcAft>
                <a:spcPts val="0"/>
              </a:spcAft>
              <a:buSzPts val="1200"/>
              <a:buNone/>
            </a:pPr>
            <a:endParaRPr dirty="0"/>
          </a:p>
        </p:txBody>
      </p:sp>
      <p:sp>
        <p:nvSpPr>
          <p:cNvPr id="152" name="Google Shape;152;p34"/>
          <p:cNvSpPr txBox="1">
            <a:spLocks noGrp="1"/>
          </p:cNvSpPr>
          <p:nvPr>
            <p:ph type="body" idx="3"/>
          </p:nvPr>
        </p:nvSpPr>
        <p:spPr>
          <a:xfrm>
            <a:off x="305990" y="2689274"/>
            <a:ext cx="6571887" cy="492443"/>
          </a:xfrm>
          <a:prstGeom prst="rect">
            <a:avLst/>
          </a:prstGeom>
          <a:noFill/>
          <a:ln>
            <a:noFill/>
          </a:ln>
        </p:spPr>
        <p:txBody>
          <a:bodyPr spcFirstLastPara="1" wrap="square" lIns="0" tIns="0" rIns="0" bIns="0" anchor="t" anchorCtr="0">
            <a:spAutoFit/>
          </a:bodyPr>
          <a:lstStyle/>
          <a:p>
            <a:pPr marL="0" lvl="0" indent="0"/>
            <a:r>
              <a:rPr lang="en-US" b="1" dirty="0"/>
              <a:t>Accelerating Net Zero Through Process Intelligence </a:t>
            </a:r>
            <a:r>
              <a:rPr lang="en-IN" b="1" dirty="0"/>
              <a:t>and Data-Driven Decision Making</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61BB186-F297-3FD7-DAAD-EFAA54FF86A0}"/>
              </a:ext>
            </a:extLst>
          </p:cNvPr>
          <p:cNvGraphicFramePr>
            <a:graphicFrameLocks noGrp="1"/>
          </p:cNvGraphicFramePr>
          <p:nvPr>
            <p:extLst>
              <p:ext uri="{D42A27DB-BD31-4B8C-83A1-F6EECF244321}">
                <p14:modId xmlns:p14="http://schemas.microsoft.com/office/powerpoint/2010/main" val="767429378"/>
              </p:ext>
            </p:extLst>
          </p:nvPr>
        </p:nvGraphicFramePr>
        <p:xfrm>
          <a:off x="4215866" y="578009"/>
          <a:ext cx="4611925" cy="2136859"/>
        </p:xfrm>
        <a:graphic>
          <a:graphicData uri="http://schemas.openxmlformats.org/drawingml/2006/table">
            <a:tbl>
              <a:tblPr>
                <a:tableStyleId>{9D7B26C5-4107-4FEC-AEDC-1716B250A1EF}</a:tableStyleId>
              </a:tblPr>
              <a:tblGrid>
                <a:gridCol w="2577169">
                  <a:extLst>
                    <a:ext uri="{9D8B030D-6E8A-4147-A177-3AD203B41FA5}">
                      <a16:colId xmlns:a16="http://schemas.microsoft.com/office/drawing/2014/main" val="2977911748"/>
                    </a:ext>
                  </a:extLst>
                </a:gridCol>
                <a:gridCol w="2034756">
                  <a:extLst>
                    <a:ext uri="{9D8B030D-6E8A-4147-A177-3AD203B41FA5}">
                      <a16:colId xmlns:a16="http://schemas.microsoft.com/office/drawing/2014/main" val="985510923"/>
                    </a:ext>
                  </a:extLst>
                </a:gridCol>
              </a:tblGrid>
              <a:tr h="399499">
                <a:tc>
                  <a:txBody>
                    <a:bodyPr/>
                    <a:lstStyle/>
                    <a:p>
                      <a:pPr>
                        <a:buNone/>
                      </a:pPr>
                      <a:r>
                        <a:rPr lang="en-IN" sz="1400" b="1" dirty="0"/>
                        <a:t>Top 3 Insights</a:t>
                      </a:r>
                    </a:p>
                  </a:txBody>
                  <a:tcPr anchor="ctr"/>
                </a:tc>
                <a:tc>
                  <a:txBody>
                    <a:bodyPr/>
                    <a:lstStyle/>
                    <a:p>
                      <a:pPr algn="r">
                        <a:buNone/>
                      </a:pPr>
                      <a:endParaRPr lang="en-IN" sz="1400" b="1" dirty="0"/>
                    </a:p>
                  </a:txBody>
                  <a:tcPr anchor="ctr"/>
                </a:tc>
                <a:extLst>
                  <a:ext uri="{0D108BD9-81ED-4DB2-BD59-A6C34878D82A}">
                    <a16:rowId xmlns:a16="http://schemas.microsoft.com/office/drawing/2014/main" val="2951451813"/>
                  </a:ext>
                </a:extLst>
              </a:tr>
              <a:tr h="1685840">
                <a:tc gridSpan="2">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u="none" strike="noStrike" dirty="0">
                          <a:effectLst/>
                        </a:rPr>
                        <a:t>84% of travel emissions originate from flights, making aviation the primary decarbonization opportunity.</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u="none" strike="noStrike" dirty="0">
                        <a:effectLst/>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u="none" strike="noStrike" dirty="0">
                          <a:effectLst/>
                        </a:rPr>
                        <a:t>Customer Visits (43%) and the Sales business unit (26%) are the largest contributors to travel emissions.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u="none" strike="noStrike" dirty="0">
                        <a:effectLst/>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u="none" strike="noStrike" dirty="0">
                          <a:effectLst/>
                        </a:rPr>
                        <a:t>373 unique travel process variants identified; however, 87% of trips follow just 34 variants, indicating strong opportunities for workflow standardization.</a:t>
                      </a:r>
                      <a:endParaRPr lang="en-IN" sz="1200" b="1" dirty="0"/>
                    </a:p>
                  </a:txBody>
                  <a:tcPr anchor="ctr"/>
                </a:tc>
                <a:tc hMerge="1">
                  <a:txBody>
                    <a:bodyPr/>
                    <a:lstStyle/>
                    <a:p>
                      <a:endParaRPr/>
                    </a:p>
                  </a:txBody>
                  <a:tcPr anchor="ctr"/>
                </a:tc>
                <a:extLst>
                  <a:ext uri="{0D108BD9-81ED-4DB2-BD59-A6C34878D82A}">
                    <a16:rowId xmlns:a16="http://schemas.microsoft.com/office/drawing/2014/main" val="3455583087"/>
                  </a:ext>
                </a:extLst>
              </a:tr>
            </a:tbl>
          </a:graphicData>
        </a:graphic>
      </p:graphicFrame>
      <p:sp>
        <p:nvSpPr>
          <p:cNvPr id="157" name="Google Shape;157;p35"/>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lvl="0"/>
            <a:r>
              <a:rPr lang="en-US" dirty="0"/>
              <a:t>Executive Summary – Towards Net Zero Business Travel by 2030</a:t>
            </a:r>
            <a:endParaRPr dirty="0"/>
          </a:p>
        </p:txBody>
      </p:sp>
      <p:graphicFrame>
        <p:nvGraphicFramePr>
          <p:cNvPr id="2" name="Table 1">
            <a:extLst>
              <a:ext uri="{FF2B5EF4-FFF2-40B4-BE49-F238E27FC236}">
                <a16:creationId xmlns:a16="http://schemas.microsoft.com/office/drawing/2014/main" id="{CF2CE14A-4EAA-715F-ED12-C3A24FA45D89}"/>
              </a:ext>
            </a:extLst>
          </p:cNvPr>
          <p:cNvGraphicFramePr>
            <a:graphicFrameLocks noGrp="1"/>
          </p:cNvGraphicFramePr>
          <p:nvPr>
            <p:extLst>
              <p:ext uri="{D42A27DB-BD31-4B8C-83A1-F6EECF244321}">
                <p14:modId xmlns:p14="http://schemas.microsoft.com/office/powerpoint/2010/main" val="2258469655"/>
              </p:ext>
            </p:extLst>
          </p:nvPr>
        </p:nvGraphicFramePr>
        <p:xfrm>
          <a:off x="305991" y="578011"/>
          <a:ext cx="3775121" cy="2136860"/>
        </p:xfrm>
        <a:graphic>
          <a:graphicData uri="http://schemas.openxmlformats.org/drawingml/2006/table">
            <a:tbl>
              <a:tblPr>
                <a:tableStyleId>{68D230F3-CF80-4859-8CE7-A43EE81993B5}</a:tableStyleId>
              </a:tblPr>
              <a:tblGrid>
                <a:gridCol w="2109558">
                  <a:extLst>
                    <a:ext uri="{9D8B030D-6E8A-4147-A177-3AD203B41FA5}">
                      <a16:colId xmlns:a16="http://schemas.microsoft.com/office/drawing/2014/main" val="2977911748"/>
                    </a:ext>
                  </a:extLst>
                </a:gridCol>
                <a:gridCol w="1665563">
                  <a:extLst>
                    <a:ext uri="{9D8B030D-6E8A-4147-A177-3AD203B41FA5}">
                      <a16:colId xmlns:a16="http://schemas.microsoft.com/office/drawing/2014/main" val="985510923"/>
                    </a:ext>
                  </a:extLst>
                </a:gridCol>
              </a:tblGrid>
              <a:tr h="352506">
                <a:tc>
                  <a:txBody>
                    <a:bodyPr/>
                    <a:lstStyle/>
                    <a:p>
                      <a:pPr>
                        <a:buNone/>
                      </a:pPr>
                      <a:r>
                        <a:rPr lang="en-IN" sz="1400" b="1" dirty="0"/>
                        <a:t>KPI</a:t>
                      </a:r>
                    </a:p>
                  </a:txBody>
                  <a:tcPr anchor="ctr"/>
                </a:tc>
                <a:tc>
                  <a:txBody>
                    <a:bodyPr/>
                    <a:lstStyle/>
                    <a:p>
                      <a:pPr algn="r">
                        <a:buNone/>
                      </a:pPr>
                      <a:r>
                        <a:rPr lang="en-IN" sz="1400" b="1" dirty="0"/>
                        <a:t>Value</a:t>
                      </a:r>
                    </a:p>
                  </a:txBody>
                  <a:tcPr anchor="ctr"/>
                </a:tc>
                <a:extLst>
                  <a:ext uri="{0D108BD9-81ED-4DB2-BD59-A6C34878D82A}">
                    <a16:rowId xmlns:a16="http://schemas.microsoft.com/office/drawing/2014/main" val="2951451813"/>
                  </a:ext>
                </a:extLst>
              </a:tr>
              <a:tr h="417002">
                <a:tc>
                  <a:txBody>
                    <a:bodyPr/>
                    <a:lstStyle/>
                    <a:p>
                      <a:pPr>
                        <a:buNone/>
                      </a:pPr>
                      <a:r>
                        <a:rPr lang="en-IN" sz="1200" b="0" dirty="0"/>
                        <a:t>Total Travel CO₂ Emissions</a:t>
                      </a:r>
                    </a:p>
                  </a:txBody>
                  <a:tcPr anchor="ctr"/>
                </a:tc>
                <a:tc>
                  <a:txBody>
                    <a:bodyPr/>
                    <a:lstStyle/>
                    <a:p>
                      <a:pPr algn="r">
                        <a:buNone/>
                      </a:pPr>
                      <a:r>
                        <a:rPr lang="en-IN" sz="1200" b="1" dirty="0"/>
                        <a:t>178.1M kg </a:t>
                      </a:r>
                      <a:r>
                        <a:rPr lang="en-IN" sz="1200" b="1" dirty="0" err="1"/>
                        <a:t>CO₂e</a:t>
                      </a:r>
                      <a:endParaRPr lang="en-IN" sz="1200" b="1" dirty="0"/>
                    </a:p>
                  </a:txBody>
                  <a:tcPr anchor="ctr"/>
                </a:tc>
                <a:extLst>
                  <a:ext uri="{0D108BD9-81ED-4DB2-BD59-A6C34878D82A}">
                    <a16:rowId xmlns:a16="http://schemas.microsoft.com/office/drawing/2014/main" val="3455583087"/>
                  </a:ext>
                </a:extLst>
              </a:tr>
              <a:tr h="341838">
                <a:tc>
                  <a:txBody>
                    <a:bodyPr/>
                    <a:lstStyle/>
                    <a:p>
                      <a:pPr>
                        <a:buNone/>
                      </a:pPr>
                      <a:r>
                        <a:rPr lang="en-IN" sz="1200" b="0" dirty="0"/>
                        <a:t>Total Trips</a:t>
                      </a:r>
                    </a:p>
                  </a:txBody>
                  <a:tcPr anchor="ctr"/>
                </a:tc>
                <a:tc>
                  <a:txBody>
                    <a:bodyPr/>
                    <a:lstStyle/>
                    <a:p>
                      <a:pPr algn="r">
                        <a:buNone/>
                      </a:pPr>
                      <a:r>
                        <a:rPr lang="en-IN" sz="1200" b="1" dirty="0"/>
                        <a:t>65,289</a:t>
                      </a:r>
                    </a:p>
                  </a:txBody>
                  <a:tcPr anchor="ctr"/>
                </a:tc>
                <a:extLst>
                  <a:ext uri="{0D108BD9-81ED-4DB2-BD59-A6C34878D82A}">
                    <a16:rowId xmlns:a16="http://schemas.microsoft.com/office/drawing/2014/main" val="3996954950"/>
                  </a:ext>
                </a:extLst>
              </a:tr>
              <a:tr h="341838">
                <a:tc>
                  <a:txBody>
                    <a:bodyPr/>
                    <a:lstStyle/>
                    <a:p>
                      <a:pPr>
                        <a:buNone/>
                      </a:pPr>
                      <a:r>
                        <a:rPr lang="en-IN" sz="1200" b="0" dirty="0"/>
                        <a:t>High-Carbon Trips</a:t>
                      </a:r>
                    </a:p>
                  </a:txBody>
                  <a:tcPr anchor="ctr"/>
                </a:tc>
                <a:tc>
                  <a:txBody>
                    <a:bodyPr/>
                    <a:lstStyle/>
                    <a:p>
                      <a:pPr algn="r">
                        <a:buNone/>
                      </a:pPr>
                      <a:r>
                        <a:rPr lang="en-IN" sz="1200" b="1" dirty="0"/>
                        <a:t>16,326 (25%)</a:t>
                      </a:r>
                    </a:p>
                  </a:txBody>
                  <a:tcPr anchor="ctr"/>
                </a:tc>
                <a:extLst>
                  <a:ext uri="{0D108BD9-81ED-4DB2-BD59-A6C34878D82A}">
                    <a16:rowId xmlns:a16="http://schemas.microsoft.com/office/drawing/2014/main" val="2966714488"/>
                  </a:ext>
                </a:extLst>
              </a:tr>
              <a:tr h="341838">
                <a:tc>
                  <a:txBody>
                    <a:bodyPr/>
                    <a:lstStyle/>
                    <a:p>
                      <a:pPr>
                        <a:buNone/>
                      </a:pPr>
                      <a:r>
                        <a:rPr lang="en-IN" sz="1200" b="0" dirty="0"/>
                        <a:t>Average CO₂ per Trip</a:t>
                      </a:r>
                    </a:p>
                  </a:txBody>
                  <a:tcPr anchor="ctr"/>
                </a:tc>
                <a:tc>
                  <a:txBody>
                    <a:bodyPr/>
                    <a:lstStyle/>
                    <a:p>
                      <a:pPr algn="r">
                        <a:buNone/>
                      </a:pPr>
                      <a:r>
                        <a:rPr lang="en-IN" sz="1200" b="1" dirty="0"/>
                        <a:t>2,728 kg </a:t>
                      </a:r>
                      <a:r>
                        <a:rPr lang="en-IN" sz="1200" b="1" dirty="0" err="1"/>
                        <a:t>CO₂e</a:t>
                      </a:r>
                      <a:endParaRPr lang="en-IN" sz="1200" b="1" dirty="0"/>
                    </a:p>
                  </a:txBody>
                  <a:tcPr anchor="ctr"/>
                </a:tc>
                <a:extLst>
                  <a:ext uri="{0D108BD9-81ED-4DB2-BD59-A6C34878D82A}">
                    <a16:rowId xmlns:a16="http://schemas.microsoft.com/office/drawing/2014/main" val="1248429803"/>
                  </a:ext>
                </a:extLst>
              </a:tr>
              <a:tr h="3418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0" dirty="0"/>
                        <a:t>Average CO₂ per Employee</a:t>
                      </a:r>
                    </a:p>
                  </a:txBody>
                  <a:tcPr anchor="ct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t>3209 kg </a:t>
                      </a:r>
                      <a:r>
                        <a:rPr lang="en-IN" sz="1200" b="1" dirty="0" err="1"/>
                        <a:t>CO₂e</a:t>
                      </a:r>
                      <a:endParaRPr lang="en-IN" sz="1200" b="1" dirty="0"/>
                    </a:p>
                  </a:txBody>
                  <a:tcPr anchor="ctr"/>
                </a:tc>
                <a:extLst>
                  <a:ext uri="{0D108BD9-81ED-4DB2-BD59-A6C34878D82A}">
                    <a16:rowId xmlns:a16="http://schemas.microsoft.com/office/drawing/2014/main" val="2025937800"/>
                  </a:ext>
                </a:extLst>
              </a:tr>
            </a:tbl>
          </a:graphicData>
        </a:graphic>
      </p:graphicFrame>
      <p:graphicFrame>
        <p:nvGraphicFramePr>
          <p:cNvPr id="5" name="Table 4">
            <a:extLst>
              <a:ext uri="{FF2B5EF4-FFF2-40B4-BE49-F238E27FC236}">
                <a16:creationId xmlns:a16="http://schemas.microsoft.com/office/drawing/2014/main" id="{D4E44539-4885-0B4D-E12A-F90A4706DF00}"/>
              </a:ext>
            </a:extLst>
          </p:cNvPr>
          <p:cNvGraphicFramePr>
            <a:graphicFrameLocks noGrp="1"/>
          </p:cNvGraphicFramePr>
          <p:nvPr>
            <p:extLst>
              <p:ext uri="{D42A27DB-BD31-4B8C-83A1-F6EECF244321}">
                <p14:modId xmlns:p14="http://schemas.microsoft.com/office/powerpoint/2010/main" val="2994274968"/>
              </p:ext>
            </p:extLst>
          </p:nvPr>
        </p:nvGraphicFramePr>
        <p:xfrm>
          <a:off x="4215865" y="2768849"/>
          <a:ext cx="4611925" cy="2136859"/>
        </p:xfrm>
        <a:graphic>
          <a:graphicData uri="http://schemas.openxmlformats.org/drawingml/2006/table">
            <a:tbl>
              <a:tblPr>
                <a:tableStyleId>{2D5ABB26-0587-4C30-8999-92F81FD0307C}</a:tableStyleId>
              </a:tblPr>
              <a:tblGrid>
                <a:gridCol w="2577169">
                  <a:extLst>
                    <a:ext uri="{9D8B030D-6E8A-4147-A177-3AD203B41FA5}">
                      <a16:colId xmlns:a16="http://schemas.microsoft.com/office/drawing/2014/main" val="2977911748"/>
                    </a:ext>
                  </a:extLst>
                </a:gridCol>
                <a:gridCol w="2034756">
                  <a:extLst>
                    <a:ext uri="{9D8B030D-6E8A-4147-A177-3AD203B41FA5}">
                      <a16:colId xmlns:a16="http://schemas.microsoft.com/office/drawing/2014/main" val="985510923"/>
                    </a:ext>
                  </a:extLst>
                </a:gridCol>
              </a:tblGrid>
              <a:tr h="399499">
                <a:tc>
                  <a:txBody>
                    <a:bodyPr/>
                    <a:lstStyle/>
                    <a:p>
                      <a:pPr>
                        <a:buNone/>
                      </a:pPr>
                      <a:r>
                        <a:rPr lang="en-IN" sz="1400" b="1" dirty="0"/>
                        <a:t>Top 3 Recommendations</a:t>
                      </a:r>
                    </a:p>
                  </a:txBody>
                  <a:tcPr anchor="ctr"/>
                </a:tc>
                <a:tc>
                  <a:txBody>
                    <a:bodyPr/>
                    <a:lstStyle/>
                    <a:p>
                      <a:pPr algn="r">
                        <a:buNone/>
                      </a:pPr>
                      <a:endParaRPr lang="en-IN" sz="1400" b="1" dirty="0"/>
                    </a:p>
                  </a:txBody>
                  <a:tcPr anchor="ctr"/>
                </a:tc>
                <a:extLst>
                  <a:ext uri="{0D108BD9-81ED-4DB2-BD59-A6C34878D82A}">
                    <a16:rowId xmlns:a16="http://schemas.microsoft.com/office/drawing/2014/main" val="2951451813"/>
                  </a:ext>
                </a:extLst>
              </a:tr>
              <a:tr h="1685840">
                <a:tc gridSpan="2">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dirty="0"/>
                        <a:t>Restrict Business &amp; First-Class Flight travel and promote rail alternatives on feasible European region.</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dirty="0"/>
                        <a:t>Adopt a </a:t>
                      </a:r>
                      <a:r>
                        <a:rPr lang="en-US" sz="1200" b="1" dirty="0"/>
                        <a:t>Virtual-First Policy</a:t>
                      </a:r>
                      <a:r>
                        <a:rPr lang="en-US" sz="1200" dirty="0"/>
                        <a:t> for internal meetings and introductory customer engagements to reduce unnecessary travel.</a:t>
                      </a:r>
                      <a:endParaRPr lang="en-US" sz="1200" u="none" strike="noStrike" dirty="0">
                        <a:effectLst/>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dirty="0"/>
                        <a:t>Deploy </a:t>
                      </a:r>
                      <a:r>
                        <a:rPr lang="en-US" sz="1200" b="1" dirty="0"/>
                        <a:t>AI-powered Carbon-Intelligence Travel App</a:t>
                      </a:r>
                      <a:r>
                        <a:rPr lang="en-US" sz="1200" dirty="0"/>
                        <a:t> with carbon budgets, sustainable transport recommendations (carbon calculator), and real-time policy compliance using </a:t>
                      </a:r>
                      <a:r>
                        <a:rPr lang="en-US" sz="1200" dirty="0" err="1"/>
                        <a:t>Celonis</a:t>
                      </a:r>
                      <a:r>
                        <a:rPr lang="en-US" sz="1200" dirty="0"/>
                        <a:t> Process Mining.</a:t>
                      </a:r>
                      <a:endParaRPr lang="en-IN" sz="1200" b="1" dirty="0"/>
                    </a:p>
                  </a:txBody>
                  <a:tcPr anchor="ctr"/>
                </a:tc>
                <a:tc hMerge="1">
                  <a:txBody>
                    <a:bodyPr/>
                    <a:lstStyle/>
                    <a:p>
                      <a:endParaRPr/>
                    </a:p>
                  </a:txBody>
                  <a:tcPr anchor="ctr"/>
                </a:tc>
                <a:extLst>
                  <a:ext uri="{0D108BD9-81ED-4DB2-BD59-A6C34878D82A}">
                    <a16:rowId xmlns:a16="http://schemas.microsoft.com/office/drawing/2014/main" val="3455583087"/>
                  </a:ext>
                </a:extLst>
              </a:tr>
            </a:tbl>
          </a:graphicData>
        </a:graphic>
      </p:graphicFrame>
      <p:graphicFrame>
        <p:nvGraphicFramePr>
          <p:cNvPr id="10" name="Table 9">
            <a:extLst>
              <a:ext uri="{FF2B5EF4-FFF2-40B4-BE49-F238E27FC236}">
                <a16:creationId xmlns:a16="http://schemas.microsoft.com/office/drawing/2014/main" id="{D40DD545-A9B7-C7B8-ACDF-394112FCA34A}"/>
              </a:ext>
            </a:extLst>
          </p:cNvPr>
          <p:cNvGraphicFramePr>
            <a:graphicFrameLocks noGrp="1"/>
          </p:cNvGraphicFramePr>
          <p:nvPr>
            <p:extLst>
              <p:ext uri="{D42A27DB-BD31-4B8C-83A1-F6EECF244321}">
                <p14:modId xmlns:p14="http://schemas.microsoft.com/office/powerpoint/2010/main" val="2613244880"/>
              </p:ext>
            </p:extLst>
          </p:nvPr>
        </p:nvGraphicFramePr>
        <p:xfrm>
          <a:off x="305992" y="2918848"/>
          <a:ext cx="3821332" cy="1946924"/>
        </p:xfrm>
        <a:graphic>
          <a:graphicData uri="http://schemas.openxmlformats.org/drawingml/2006/table">
            <a:tbl>
              <a:tblPr firstRow="1" bandRow="1">
                <a:tableStyleId>{69012ECD-51FC-41F1-AA8D-1B2483CD663E}</a:tableStyleId>
              </a:tblPr>
              <a:tblGrid>
                <a:gridCol w="1910666">
                  <a:extLst>
                    <a:ext uri="{9D8B030D-6E8A-4147-A177-3AD203B41FA5}">
                      <a16:colId xmlns:a16="http://schemas.microsoft.com/office/drawing/2014/main" val="2495381909"/>
                    </a:ext>
                  </a:extLst>
                </a:gridCol>
                <a:gridCol w="1910666">
                  <a:extLst>
                    <a:ext uri="{9D8B030D-6E8A-4147-A177-3AD203B41FA5}">
                      <a16:colId xmlns:a16="http://schemas.microsoft.com/office/drawing/2014/main" val="3836469626"/>
                    </a:ext>
                  </a:extLst>
                </a:gridCol>
              </a:tblGrid>
              <a:tr h="402648">
                <a:tc gridSpan="2">
                  <a:txBody>
                    <a:bodyPr/>
                    <a:lstStyle/>
                    <a:p>
                      <a:pPr algn="ctr">
                        <a:buNone/>
                      </a:pPr>
                      <a:r>
                        <a:rPr lang="en-IN" sz="1400" b="1" dirty="0">
                          <a:solidFill>
                            <a:schemeClr val="bg1"/>
                          </a:solidFill>
                        </a:rPr>
                        <a:t>Estimated Impact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hMerge="1">
                  <a:txBody>
                    <a:bodyPr/>
                    <a:lstStyle/>
                    <a:p>
                      <a:endParaRPr lang="en-IN"/>
                    </a:p>
                  </a:txBody>
                  <a:tcPr/>
                </a:tc>
                <a:extLst>
                  <a:ext uri="{0D108BD9-81ED-4DB2-BD59-A6C34878D82A}">
                    <a16:rowId xmlns:a16="http://schemas.microsoft.com/office/drawing/2014/main" val="3749116678"/>
                  </a:ext>
                </a:extLst>
              </a:tr>
              <a:tr h="772138">
                <a:tc>
                  <a:txBody>
                    <a:bodyPr/>
                    <a:lstStyle/>
                    <a:p>
                      <a:r>
                        <a:rPr lang="en-US" sz="1200" dirty="0">
                          <a:solidFill>
                            <a:schemeClr val="tx1"/>
                          </a:solidFill>
                        </a:rPr>
                        <a:t>Potential reduction of  emissions (≈26% of the current travel footprint).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r>
                        <a:rPr lang="en-US" sz="2400" b="1" dirty="0">
                          <a:solidFill>
                            <a:schemeClr val="tx1"/>
                          </a:solidFill>
                        </a:rPr>
                        <a:t>46 </a:t>
                      </a:r>
                    </a:p>
                    <a:p>
                      <a:pPr algn="ctr"/>
                      <a:r>
                        <a:rPr lang="en-US" sz="1200" b="0" dirty="0">
                          <a:solidFill>
                            <a:schemeClr val="tx1"/>
                          </a:solidFill>
                        </a:rPr>
                        <a:t>million kg </a:t>
                      </a:r>
                      <a:r>
                        <a:rPr lang="en-US" sz="1200" b="0" dirty="0" err="1">
                          <a:solidFill>
                            <a:schemeClr val="tx1"/>
                          </a:solidFill>
                        </a:rPr>
                        <a:t>CO₂e</a:t>
                      </a:r>
                      <a:endParaRPr lang="en-US" sz="1200" b="0" dirty="0">
                        <a:solidFill>
                          <a:schemeClr val="tx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5978125"/>
                  </a:ext>
                </a:extLst>
              </a:tr>
              <a:tr h="7721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solidFill>
                            <a:schemeClr val="tx1"/>
                          </a:solidFill>
                        </a:rPr>
                        <a:t>Estimated travel cost savings</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a:r>
                        <a:rPr lang="en-US" sz="2400" b="1" dirty="0">
                          <a:solidFill>
                            <a:schemeClr val="tx1"/>
                          </a:solidFill>
                        </a:rPr>
                        <a:t>$14</a:t>
                      </a:r>
                    </a:p>
                    <a:p>
                      <a:pPr algn="ctr"/>
                      <a:r>
                        <a:rPr lang="en-US" sz="1200" dirty="0">
                          <a:solidFill>
                            <a:schemeClr val="tx1"/>
                          </a:solidFill>
                        </a:rPr>
                        <a:t>million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094117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6"/>
          <p:cNvSpPr txBox="1">
            <a:spLocks noGrp="1"/>
          </p:cNvSpPr>
          <p:nvPr>
            <p:ph type="title"/>
          </p:nvPr>
        </p:nvSpPr>
        <p:spPr>
          <a:xfrm>
            <a:off x="305991" y="277728"/>
            <a:ext cx="7945500" cy="246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Emissions Profile and Benchmarking</a:t>
            </a:r>
            <a:endParaRPr dirty="0"/>
          </a:p>
        </p:txBody>
      </p:sp>
      <p:sp>
        <p:nvSpPr>
          <p:cNvPr id="164" name="Google Shape;164;p36"/>
          <p:cNvSpPr txBox="1"/>
          <p:nvPr/>
        </p:nvSpPr>
        <p:spPr>
          <a:xfrm>
            <a:off x="311100" y="619540"/>
            <a:ext cx="8521800" cy="4478149"/>
          </a:xfrm>
          <a:prstGeom prst="rect">
            <a:avLst/>
          </a:prstGeom>
          <a:noFill/>
          <a:ln>
            <a:noFill/>
          </a:ln>
        </p:spPr>
        <p:txBody>
          <a:bodyPr spcFirstLastPara="1" wrap="square" lIns="0" tIns="0" rIns="0" bIns="0" anchor="t" anchorCtr="0">
            <a:spAutoFit/>
          </a:bodyPr>
          <a:lstStyle/>
          <a:p>
            <a:r>
              <a:rPr lang="en-US" sz="1200" dirty="0" err="1">
                <a:latin typeface="+mj-lt"/>
              </a:rPr>
              <a:t>Celonis</a:t>
            </a:r>
            <a:r>
              <a:rPr lang="en-US" sz="1200" dirty="0">
                <a:latin typeface="+mj-lt"/>
              </a:rPr>
              <a:t> sustainability report indicates Scope 3 carbon emissions stems from employee business travel </a:t>
            </a:r>
            <a:r>
              <a:rPr lang="en-US" sz="1200" b="1" dirty="0">
                <a:latin typeface="+mj-lt"/>
              </a:rPr>
              <a:t>contributing 47.6% towards total emissions</a:t>
            </a:r>
            <a:r>
              <a:rPr lang="en-US" sz="1200" dirty="0">
                <a:latin typeface="+mj-lt"/>
              </a:rPr>
              <a:t>[1]. </a:t>
            </a:r>
          </a:p>
          <a:p>
            <a:endParaRPr lang="en-IN" sz="1100" dirty="0">
              <a:latin typeface="+mj-lt"/>
            </a:endParaRPr>
          </a:p>
          <a:p>
            <a:endParaRPr lang="en-IN" sz="1200" dirty="0">
              <a:latin typeface="+mj-lt"/>
            </a:endParaRPr>
          </a:p>
          <a:p>
            <a:endParaRPr lang="en-IN"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US" sz="1200" dirty="0">
              <a:latin typeface="+mj-lt"/>
            </a:endParaRPr>
          </a:p>
          <a:p>
            <a:endParaRPr lang="en-IN" sz="1600" b="1" dirty="0">
              <a:latin typeface="Poppins SemiBold" panose="00000700000000000000" pitchFamily="2" charset="0"/>
              <a:cs typeface="Poppins SemiBold" panose="00000700000000000000" pitchFamily="2" charset="0"/>
            </a:endParaRPr>
          </a:p>
          <a:p>
            <a:endParaRPr lang="en-IN" sz="1600" b="1" dirty="0">
              <a:latin typeface="Poppins SemiBold" panose="00000700000000000000" pitchFamily="2" charset="0"/>
              <a:cs typeface="Poppins SemiBold" panose="00000700000000000000" pitchFamily="2" charset="0"/>
            </a:endParaRPr>
          </a:p>
          <a:p>
            <a:endParaRPr lang="en-IN" sz="1600" b="1" dirty="0">
              <a:latin typeface="Poppins SemiBold" panose="00000700000000000000" pitchFamily="2" charset="0"/>
              <a:cs typeface="Poppins SemiBold" panose="00000700000000000000" pitchFamily="2" charset="0"/>
            </a:endParaRPr>
          </a:p>
          <a:p>
            <a:r>
              <a:rPr lang="en-IN" sz="1600" dirty="0">
                <a:latin typeface="Poppins SemiBold" panose="00000700000000000000" pitchFamily="2" charset="0"/>
                <a:cs typeface="Poppins SemiBold" panose="00000700000000000000" pitchFamily="2" charset="0"/>
              </a:rPr>
              <a:t>Industry Benchmark</a:t>
            </a:r>
          </a:p>
          <a:p>
            <a:pPr lvl="0"/>
            <a:r>
              <a:rPr lang="en-US" sz="1200" dirty="0">
                <a:latin typeface="+mj-lt"/>
              </a:rPr>
              <a:t>Scope 3 emissions dominate the carbon footprint of SaaS and technology companies, often contributing to more than 90% of total emissions, making business travel an important decarbonization focus.[3][4] </a:t>
            </a:r>
          </a:p>
          <a:p>
            <a:pPr lvl="0"/>
            <a:endParaRPr lang="en-US" sz="1200" dirty="0">
              <a:latin typeface="+mj-lt"/>
            </a:endParaRPr>
          </a:p>
          <a:p>
            <a:pPr lvl="0"/>
            <a:r>
              <a:rPr lang="en-US" sz="1200" dirty="0" err="1"/>
              <a:t>Celonis</a:t>
            </a:r>
            <a:r>
              <a:rPr lang="en-US" sz="1200" dirty="0"/>
              <a:t> travel emissions are consistent with SaaS companies where employee travel is one of the largest Scope 3 categories.</a:t>
            </a:r>
          </a:p>
          <a:p>
            <a:pPr lvl="0"/>
            <a:endParaRPr lang="en-US" sz="1200" dirty="0">
              <a:latin typeface="+mj-lt"/>
            </a:endParaRPr>
          </a:p>
          <a:p>
            <a:pPr lvl="0"/>
            <a:r>
              <a:rPr lang="en-US" sz="1200" dirty="0" err="1">
                <a:latin typeface="+mj-lt"/>
              </a:rPr>
              <a:t>Celonis</a:t>
            </a:r>
            <a:r>
              <a:rPr lang="en-US" sz="1200" dirty="0">
                <a:latin typeface="+mj-lt"/>
              </a:rPr>
              <a:t> aligns with CDP benchmarks by targeting per-FTE intensity reductions (51.6%) to ensure the company lowers its environmental impact even as the business scales.[2]</a:t>
            </a:r>
          </a:p>
        </p:txBody>
      </p:sp>
      <p:graphicFrame>
        <p:nvGraphicFramePr>
          <p:cNvPr id="7" name="Table 6">
            <a:extLst>
              <a:ext uri="{FF2B5EF4-FFF2-40B4-BE49-F238E27FC236}">
                <a16:creationId xmlns:a16="http://schemas.microsoft.com/office/drawing/2014/main" id="{EB1B24FD-C1CD-8623-B5BC-F5628A7AAEBC}"/>
              </a:ext>
            </a:extLst>
          </p:cNvPr>
          <p:cNvGraphicFramePr>
            <a:graphicFrameLocks noGrp="1"/>
          </p:cNvGraphicFramePr>
          <p:nvPr>
            <p:extLst>
              <p:ext uri="{D42A27DB-BD31-4B8C-83A1-F6EECF244321}">
                <p14:modId xmlns:p14="http://schemas.microsoft.com/office/powerpoint/2010/main" val="2550374985"/>
              </p:ext>
            </p:extLst>
          </p:nvPr>
        </p:nvGraphicFramePr>
        <p:xfrm>
          <a:off x="305991" y="1075984"/>
          <a:ext cx="4146739" cy="2291079"/>
        </p:xfrm>
        <a:graphic>
          <a:graphicData uri="http://schemas.openxmlformats.org/drawingml/2006/table">
            <a:tbl>
              <a:tblPr firstRow="1" bandRow="1">
                <a:tableStyleId>{912C8C85-51F0-491E-9774-3900AFEF0FD7}</a:tableStyleId>
              </a:tblPr>
              <a:tblGrid>
                <a:gridCol w="4146739">
                  <a:extLst>
                    <a:ext uri="{9D8B030D-6E8A-4147-A177-3AD203B41FA5}">
                      <a16:colId xmlns:a16="http://schemas.microsoft.com/office/drawing/2014/main" val="2495381909"/>
                    </a:ext>
                  </a:extLst>
                </a:gridCol>
              </a:tblGrid>
              <a:tr h="322527">
                <a:tc>
                  <a:txBody>
                    <a:bodyPr/>
                    <a:lstStyle/>
                    <a:p>
                      <a:pPr algn="ctr"/>
                      <a:r>
                        <a:rPr lang="en-US" sz="1400" b="1" i="0" u="none" strike="noStrike" cap="none" dirty="0">
                          <a:solidFill>
                            <a:schemeClr val="bg1"/>
                          </a:solidFill>
                          <a:latin typeface="+mn-lt"/>
                          <a:ea typeface="+mn-ea"/>
                          <a:cs typeface="+mn-cs"/>
                          <a:sym typeface="Arial"/>
                        </a:rPr>
                        <a:t>Transport Mode Footprint</a:t>
                      </a:r>
                      <a:endParaRPr lang="en-IN" dirty="0"/>
                    </a:p>
                  </a:txBody>
                  <a:tcPr/>
                </a:tc>
                <a:extLst>
                  <a:ext uri="{0D108BD9-81ED-4DB2-BD59-A6C34878D82A}">
                    <a16:rowId xmlns:a16="http://schemas.microsoft.com/office/drawing/2014/main" val="3749116678"/>
                  </a:ext>
                </a:extLst>
              </a:tr>
              <a:tr h="196855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a:solidFill>
                            <a:schemeClr val="tx1"/>
                          </a:solidFill>
                          <a:latin typeface="+mn-lt"/>
                          <a:ea typeface="+mn-ea"/>
                          <a:cs typeface="+mn-cs"/>
                          <a:sym typeface="Arial"/>
                        </a:rPr>
                        <a:t>Flights account for approximately 84% of total travel emissions</a:t>
                      </a:r>
                      <a:r>
                        <a:rPr lang="en-US" sz="1200" b="0" i="0" u="none" strike="noStrike" cap="none" dirty="0">
                          <a:solidFill>
                            <a:schemeClr val="tx1"/>
                          </a:solidFill>
                          <a:latin typeface="+mn-lt"/>
                          <a:ea typeface="+mn-ea"/>
                          <a:cs typeface="+mn-cs"/>
                          <a:sym typeface="Arial"/>
                        </a:rPr>
                        <a:t>, making air travel the primary decarbonization opportunity. Rail and Ground Transit (</a:t>
                      </a:r>
                      <a:r>
                        <a:rPr lang="en-US" sz="1200" b="0" i="1" dirty="0">
                          <a:solidFill>
                            <a:schemeClr val="tx1"/>
                          </a:solidFill>
                        </a:rPr>
                        <a:t>≈ </a:t>
                      </a:r>
                      <a:r>
                        <a:rPr lang="en-US" sz="1200" b="0" i="0" u="none" strike="noStrike" cap="none" dirty="0">
                          <a:solidFill>
                            <a:schemeClr val="tx1"/>
                          </a:solidFill>
                          <a:latin typeface="+mn-lt"/>
                          <a:ea typeface="+mn-ea"/>
                          <a:cs typeface="+mn-cs"/>
                          <a:sym typeface="Arial"/>
                        </a:rPr>
                        <a:t>15%)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1" i="0" u="none" strike="noStrike" cap="none" dirty="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a:solidFill>
                            <a:schemeClr val="tx1"/>
                          </a:solidFill>
                          <a:latin typeface="+mn-lt"/>
                          <a:ea typeface="+mn-ea"/>
                          <a:cs typeface="+mn-cs"/>
                          <a:sym typeface="Arial"/>
                        </a:rPr>
                        <a:t>Trains and EVs account for 1.5% of emissions </a:t>
                      </a:r>
                      <a:r>
                        <a:rPr lang="en-US" sz="1200" b="0" i="0" u="none" strike="noStrike" cap="none" dirty="0">
                          <a:solidFill>
                            <a:schemeClr val="tx1"/>
                          </a:solidFill>
                          <a:latin typeface="+mn-lt"/>
                          <a:ea typeface="+mn-ea"/>
                          <a:cs typeface="+mn-cs"/>
                          <a:sym typeface="Arial"/>
                        </a:rPr>
                        <a:t>offering promising savings in costs and carbon emissions for net zero objective.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0" i="0" u="none" strike="noStrike" cap="none" dirty="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a:solidFill>
                            <a:schemeClr val="tx1"/>
                          </a:solidFill>
                          <a:latin typeface="+mn-lt"/>
                          <a:ea typeface="+mn-ea"/>
                          <a:cs typeface="+mn-cs"/>
                          <a:sym typeface="Arial"/>
                        </a:rPr>
                        <a:t>Petrol/Diesel Cars account for 14% of emissions. </a:t>
                      </a:r>
                      <a:r>
                        <a:rPr lang="en-US" sz="1200" b="0" i="0" u="none" strike="noStrike" cap="none" dirty="0">
                          <a:solidFill>
                            <a:schemeClr val="tx1"/>
                          </a:solidFill>
                          <a:latin typeface="+mn-lt"/>
                          <a:ea typeface="+mn-ea"/>
                          <a:cs typeface="+mn-cs"/>
                          <a:sym typeface="Arial"/>
                        </a:rPr>
                        <a:t>Replacing them with EVs can have significant impact. </a:t>
                      </a:r>
                      <a:endParaRPr lang="en-IN" b="0" dirty="0"/>
                    </a:p>
                  </a:txBody>
                  <a:tcPr/>
                </a:tc>
                <a:extLst>
                  <a:ext uri="{0D108BD9-81ED-4DB2-BD59-A6C34878D82A}">
                    <a16:rowId xmlns:a16="http://schemas.microsoft.com/office/drawing/2014/main" val="1945978125"/>
                  </a:ext>
                </a:extLst>
              </a:tr>
            </a:tbl>
          </a:graphicData>
        </a:graphic>
      </p:graphicFrame>
      <p:graphicFrame>
        <p:nvGraphicFramePr>
          <p:cNvPr id="8" name="Table 7">
            <a:extLst>
              <a:ext uri="{FF2B5EF4-FFF2-40B4-BE49-F238E27FC236}">
                <a16:creationId xmlns:a16="http://schemas.microsoft.com/office/drawing/2014/main" id="{A7B9268A-48C0-6480-460D-758AD34133ED}"/>
              </a:ext>
            </a:extLst>
          </p:cNvPr>
          <p:cNvGraphicFramePr>
            <a:graphicFrameLocks noGrp="1"/>
          </p:cNvGraphicFramePr>
          <p:nvPr>
            <p:extLst>
              <p:ext uri="{D42A27DB-BD31-4B8C-83A1-F6EECF244321}">
                <p14:modId xmlns:p14="http://schemas.microsoft.com/office/powerpoint/2010/main" val="3289422585"/>
              </p:ext>
            </p:extLst>
          </p:nvPr>
        </p:nvGraphicFramePr>
        <p:xfrm>
          <a:off x="4691272" y="1066046"/>
          <a:ext cx="4146739" cy="2291080"/>
        </p:xfrm>
        <a:graphic>
          <a:graphicData uri="http://schemas.openxmlformats.org/drawingml/2006/table">
            <a:tbl>
              <a:tblPr firstRow="1" bandRow="1">
                <a:tableStyleId>{912C8C85-51F0-491E-9774-3900AFEF0FD7}</a:tableStyleId>
              </a:tblPr>
              <a:tblGrid>
                <a:gridCol w="4146739">
                  <a:extLst>
                    <a:ext uri="{9D8B030D-6E8A-4147-A177-3AD203B41FA5}">
                      <a16:colId xmlns:a16="http://schemas.microsoft.com/office/drawing/2014/main" val="2495381909"/>
                    </a:ext>
                  </a:extLst>
                </a:gridCol>
              </a:tblGrid>
              <a:tr h="370840">
                <a:tc>
                  <a:txBody>
                    <a:bodyPr/>
                    <a:lstStyle/>
                    <a:p>
                      <a:pPr algn="ctr"/>
                      <a:r>
                        <a:rPr lang="en-US" sz="1400" b="1" i="0" u="none" strike="noStrike" cap="none" dirty="0">
                          <a:solidFill>
                            <a:schemeClr val="bg1"/>
                          </a:solidFill>
                          <a:latin typeface="+mn-lt"/>
                          <a:ea typeface="+mn-ea"/>
                          <a:cs typeface="+mn-cs"/>
                          <a:sym typeface="Arial"/>
                        </a:rPr>
                        <a:t>Regional Footprint</a:t>
                      </a:r>
                      <a:endParaRPr lang="en-IN" dirty="0"/>
                    </a:p>
                  </a:txBody>
                  <a:tcPr/>
                </a:tc>
                <a:extLst>
                  <a:ext uri="{0D108BD9-81ED-4DB2-BD59-A6C34878D82A}">
                    <a16:rowId xmlns:a16="http://schemas.microsoft.com/office/drawing/2014/main" val="374911667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mn-lt"/>
                          <a:ea typeface="+mn-ea"/>
                          <a:cs typeface="+mn-cs"/>
                          <a:sym typeface="Arial"/>
                        </a:rPr>
                        <a:t>Regional analysis shows that </a:t>
                      </a:r>
                      <a:r>
                        <a:rPr lang="en-US" sz="1200" b="1" i="0" u="none" strike="noStrike" cap="none" dirty="0">
                          <a:solidFill>
                            <a:schemeClr val="tx1"/>
                          </a:solidFill>
                          <a:latin typeface="+mn-lt"/>
                          <a:ea typeface="+mn-ea"/>
                          <a:cs typeface="+mn-cs"/>
                          <a:sym typeface="Arial"/>
                        </a:rPr>
                        <a:t>Australia, Brazil, China</a:t>
                      </a:r>
                      <a:r>
                        <a:rPr lang="en-US" sz="1200" b="0" i="0" u="none" strike="noStrike" cap="none" dirty="0">
                          <a:solidFill>
                            <a:schemeClr val="tx1"/>
                          </a:solidFill>
                          <a:latin typeface="+mn-lt"/>
                          <a:ea typeface="+mn-ea"/>
                          <a:cs typeface="+mn-cs"/>
                          <a:sym typeface="Arial"/>
                        </a:rPr>
                        <a:t> are the largest departure emission sources.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0" i="0" u="none" strike="noStrike" cap="none" dirty="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b="1" dirty="0"/>
                        <a:t>Route Analysis </a:t>
                      </a:r>
                      <a:r>
                        <a:rPr lang="en-IN" sz="1200" dirty="0"/>
                        <a:t>shows </a:t>
                      </a:r>
                      <a:r>
                        <a:rPr lang="en-IN" sz="1200" b="0" dirty="0"/>
                        <a:t>that</a:t>
                      </a:r>
                      <a:r>
                        <a:rPr lang="en-IN" sz="1200" b="1" dirty="0"/>
                        <a:t> Extra Long Haul &amp; Long Haul Routes</a:t>
                      </a:r>
                      <a:r>
                        <a:rPr lang="en-IN" sz="1200" dirty="0"/>
                        <a:t> account for </a:t>
                      </a:r>
                      <a:r>
                        <a:rPr lang="en-IN" sz="1200" b="1" dirty="0"/>
                        <a:t>75% </a:t>
                      </a:r>
                      <a:r>
                        <a:rPr lang="en-IN" sz="1200" dirty="0"/>
                        <a:t>of the Travel Emissions with Business &amp; Economy Flights contributing 67% alone.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12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All routes with a </a:t>
                      </a:r>
                      <a:r>
                        <a:rPr lang="en-US" sz="1200" b="1" dirty="0"/>
                        <a:t>100% High Carbon Rate (AU→DE, BR→JP, CN→TR)</a:t>
                      </a:r>
                      <a:r>
                        <a:rPr lang="en-US" sz="1200" dirty="0"/>
                        <a:t> belong to the Long/Extra Long-Haul route &amp; account for 25% of Emissions.</a:t>
                      </a:r>
                      <a:endParaRPr lang="en-IN" sz="1200" dirty="0"/>
                    </a:p>
                  </a:txBody>
                  <a:tcPr/>
                </a:tc>
                <a:extLst>
                  <a:ext uri="{0D108BD9-81ED-4DB2-BD59-A6C34878D82A}">
                    <a16:rowId xmlns:a16="http://schemas.microsoft.com/office/drawing/2014/main" val="194597812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7"/>
          <p:cNvSpPr txBox="1">
            <a:spLocks noGrp="1"/>
          </p:cNvSpPr>
          <p:nvPr>
            <p:ph type="title"/>
          </p:nvPr>
        </p:nvSpPr>
        <p:spPr>
          <a:xfrm>
            <a:off x="305991" y="277728"/>
            <a:ext cx="7945500" cy="276999"/>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Hotspot</a:t>
            </a:r>
            <a:r>
              <a:rPr lang="en" sz="1800" dirty="0"/>
              <a:t> </a:t>
            </a:r>
            <a:r>
              <a:rPr lang="en" dirty="0"/>
              <a:t>Analysis</a:t>
            </a:r>
            <a:endParaRPr sz="1800" dirty="0"/>
          </a:p>
        </p:txBody>
      </p:sp>
      <p:graphicFrame>
        <p:nvGraphicFramePr>
          <p:cNvPr id="2" name="Table 1">
            <a:extLst>
              <a:ext uri="{FF2B5EF4-FFF2-40B4-BE49-F238E27FC236}">
                <a16:creationId xmlns:a16="http://schemas.microsoft.com/office/drawing/2014/main" id="{D190A67A-4E6C-4863-8335-ABEF2D4C3CBE}"/>
              </a:ext>
            </a:extLst>
          </p:cNvPr>
          <p:cNvGraphicFramePr>
            <a:graphicFrameLocks noGrp="1"/>
          </p:cNvGraphicFramePr>
          <p:nvPr>
            <p:extLst>
              <p:ext uri="{D42A27DB-BD31-4B8C-83A1-F6EECF244321}">
                <p14:modId xmlns:p14="http://schemas.microsoft.com/office/powerpoint/2010/main" val="1778037584"/>
              </p:ext>
            </p:extLst>
          </p:nvPr>
        </p:nvGraphicFramePr>
        <p:xfrm>
          <a:off x="304617" y="574110"/>
          <a:ext cx="4146739" cy="1986860"/>
        </p:xfrm>
        <a:graphic>
          <a:graphicData uri="http://schemas.openxmlformats.org/drawingml/2006/table">
            <a:tbl>
              <a:tblPr firstRow="1" bandRow="1">
                <a:tableStyleId>{912C8C85-51F0-491E-9774-3900AFEF0FD7}</a:tableStyleId>
              </a:tblPr>
              <a:tblGrid>
                <a:gridCol w="4146739">
                  <a:extLst>
                    <a:ext uri="{9D8B030D-6E8A-4147-A177-3AD203B41FA5}">
                      <a16:colId xmlns:a16="http://schemas.microsoft.com/office/drawing/2014/main" val="2495381909"/>
                    </a:ext>
                  </a:extLst>
                </a:gridCol>
              </a:tblGrid>
              <a:tr h="275589">
                <a:tc>
                  <a:txBody>
                    <a:bodyPr/>
                    <a:lstStyle/>
                    <a:p>
                      <a:pPr algn="ctr"/>
                      <a:r>
                        <a:rPr lang="en-US" sz="1400" b="1" dirty="0"/>
                        <a:t>Business Unit Hotspots</a:t>
                      </a:r>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solidFill>
                      <a:srgbClr val="FF5757"/>
                    </a:solidFill>
                  </a:tcPr>
                </a:tc>
                <a:extLst>
                  <a:ext uri="{0D108BD9-81ED-4DB2-BD59-A6C34878D82A}">
                    <a16:rowId xmlns:a16="http://schemas.microsoft.com/office/drawing/2014/main" val="3749116678"/>
                  </a:ext>
                </a:extLst>
              </a:tr>
              <a:tr h="1682060">
                <a:tc>
                  <a:txBody>
                    <a:bodyPr/>
                    <a:lstStyle/>
                    <a:p>
                      <a:r>
                        <a:rPr lang="en-US" sz="1200" b="1" u="sng" dirty="0"/>
                        <a:t>Sales</a:t>
                      </a:r>
                      <a:r>
                        <a:rPr lang="en-US" sz="1200" b="1" dirty="0"/>
                        <a:t> is the largest contributor</a:t>
                      </a:r>
                      <a:r>
                        <a:rPr lang="en-US" sz="1200" dirty="0"/>
                        <a:t>, generating </a:t>
                      </a:r>
                      <a:r>
                        <a:rPr lang="en-US" sz="1200" b="1" dirty="0"/>
                        <a:t>47.1 million kg </a:t>
                      </a:r>
                      <a:r>
                        <a:rPr lang="en-US" sz="1200" b="1" dirty="0" err="1"/>
                        <a:t>CO₂e</a:t>
                      </a:r>
                      <a:r>
                        <a:rPr lang="en-US" sz="1200" b="1" dirty="0"/>
                        <a:t> (26.4%)</a:t>
                      </a:r>
                      <a:r>
                        <a:rPr lang="en-US" sz="1200" dirty="0"/>
                        <a:t> of total travel emissions, primarily driven by extensive customer-facing travel. </a:t>
                      </a:r>
                    </a:p>
                    <a:p>
                      <a:endParaRPr lang="en-US" sz="1200" dirty="0"/>
                    </a:p>
                    <a:p>
                      <a:r>
                        <a:rPr lang="en-US" sz="1200" b="1" u="sng" dirty="0"/>
                        <a:t>Marketing</a:t>
                      </a:r>
                      <a:r>
                        <a:rPr lang="en-US" sz="1200" b="1" dirty="0"/>
                        <a:t> (14.8%)</a:t>
                      </a:r>
                      <a:r>
                        <a:rPr lang="en-US" sz="1200" dirty="0"/>
                        <a:t> and </a:t>
                      </a:r>
                      <a:r>
                        <a:rPr lang="en-US" sz="1200" b="1" u="sng" dirty="0"/>
                        <a:t>Value Engineering</a:t>
                      </a:r>
                      <a:r>
                        <a:rPr lang="en-US" sz="1200" b="1" dirty="0"/>
                        <a:t> (7.8%)</a:t>
                      </a:r>
                      <a:r>
                        <a:rPr lang="en-US" sz="1200" dirty="0"/>
                        <a:t> are the next highest contributors, indicating that commercial and pre-sales functions account for the majority of travel-related emissions.</a:t>
                      </a:r>
                      <a:endParaRPr lang="en-IN" sz="1200" b="0" dirty="0"/>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45978125"/>
                  </a:ext>
                </a:extLst>
              </a:tr>
            </a:tbl>
          </a:graphicData>
        </a:graphic>
      </p:graphicFrame>
      <p:graphicFrame>
        <p:nvGraphicFramePr>
          <p:cNvPr id="3" name="Table 2">
            <a:extLst>
              <a:ext uri="{FF2B5EF4-FFF2-40B4-BE49-F238E27FC236}">
                <a16:creationId xmlns:a16="http://schemas.microsoft.com/office/drawing/2014/main" id="{60E3E203-CB8F-A390-2142-5F304D05614B}"/>
              </a:ext>
            </a:extLst>
          </p:cNvPr>
          <p:cNvGraphicFramePr>
            <a:graphicFrameLocks noGrp="1"/>
          </p:cNvGraphicFramePr>
          <p:nvPr>
            <p:extLst>
              <p:ext uri="{D42A27DB-BD31-4B8C-83A1-F6EECF244321}">
                <p14:modId xmlns:p14="http://schemas.microsoft.com/office/powerpoint/2010/main" val="1403853728"/>
              </p:ext>
            </p:extLst>
          </p:nvPr>
        </p:nvGraphicFramePr>
        <p:xfrm>
          <a:off x="4692644" y="570279"/>
          <a:ext cx="4146739" cy="1986860"/>
        </p:xfrm>
        <a:graphic>
          <a:graphicData uri="http://schemas.openxmlformats.org/drawingml/2006/table">
            <a:tbl>
              <a:tblPr firstRow="1" bandRow="1">
                <a:tableStyleId>{912C8C85-51F0-491E-9774-3900AFEF0FD7}</a:tableStyleId>
              </a:tblPr>
              <a:tblGrid>
                <a:gridCol w="4146739">
                  <a:extLst>
                    <a:ext uri="{9D8B030D-6E8A-4147-A177-3AD203B41FA5}">
                      <a16:colId xmlns:a16="http://schemas.microsoft.com/office/drawing/2014/main" val="2495381909"/>
                    </a:ext>
                  </a:extLst>
                </a:gridCol>
              </a:tblGrid>
              <a:tr h="308216">
                <a:tc>
                  <a:txBody>
                    <a:bodyPr/>
                    <a:lstStyle/>
                    <a:p>
                      <a:pPr algn="ctr"/>
                      <a:r>
                        <a:rPr lang="en-US" sz="1400" b="1" dirty="0"/>
                        <a:t>Travel Purpose Hotspots</a:t>
                      </a:r>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solidFill>
                      <a:srgbClr val="FF5757"/>
                    </a:solidFill>
                  </a:tcPr>
                </a:tc>
                <a:extLst>
                  <a:ext uri="{0D108BD9-81ED-4DB2-BD59-A6C34878D82A}">
                    <a16:rowId xmlns:a16="http://schemas.microsoft.com/office/drawing/2014/main" val="3749116678"/>
                  </a:ext>
                </a:extLst>
              </a:tr>
              <a:tr h="1678644">
                <a:tc>
                  <a:txBody>
                    <a:bodyPr/>
                    <a:lstStyle/>
                    <a:p>
                      <a:r>
                        <a:rPr lang="en-US" sz="1200" b="1" u="sng" dirty="0"/>
                        <a:t>Customer Visits</a:t>
                      </a:r>
                      <a:r>
                        <a:rPr lang="en-US" sz="1200" b="1" u="none" dirty="0"/>
                        <a:t> </a:t>
                      </a:r>
                      <a:r>
                        <a:rPr lang="en-US" sz="1200" b="0" dirty="0"/>
                        <a:t>account for </a:t>
                      </a:r>
                      <a:r>
                        <a:rPr lang="en-US" sz="1200" b="1" dirty="0"/>
                        <a:t>76.9 million kg </a:t>
                      </a:r>
                      <a:r>
                        <a:rPr lang="en-US" sz="1200" b="1" dirty="0" err="1"/>
                        <a:t>CO₂e</a:t>
                      </a:r>
                      <a:r>
                        <a:rPr lang="en-US" sz="1200" b="1" dirty="0"/>
                        <a:t> (43.2%)</a:t>
                      </a:r>
                      <a:r>
                        <a:rPr lang="en-US" sz="1200" dirty="0"/>
                        <a:t>, making them the single largest source of travel emissions. </a:t>
                      </a:r>
                    </a:p>
                    <a:p>
                      <a:endParaRPr lang="en-US" sz="12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u="sng" dirty="0"/>
                        <a:t>Conferences and Exhibitions </a:t>
                      </a:r>
                      <a:r>
                        <a:rPr lang="en-US" sz="1200" b="0" dirty="0"/>
                        <a:t>contribute</a:t>
                      </a:r>
                      <a:r>
                        <a:rPr lang="en-US" sz="1200" b="1" dirty="0"/>
                        <a:t> 35.4%</a:t>
                      </a:r>
                      <a:r>
                        <a:rPr lang="en-US" sz="1200" dirty="0"/>
                        <a:t> of total emissions, highlighting external engagement activities as another significant carbon hotspot. The above 2 purposes are the </a:t>
                      </a:r>
                      <a:r>
                        <a:rPr lang="en-US" sz="1200" b="0" i="0" u="none" strike="noStrike" cap="none" dirty="0">
                          <a:solidFill>
                            <a:schemeClr val="tx1"/>
                          </a:solidFill>
                          <a:latin typeface="+mn-lt"/>
                          <a:ea typeface="+mn-ea"/>
                          <a:cs typeface="+mn-cs"/>
                          <a:sym typeface="Arial"/>
                        </a:rPr>
                        <a:t>highest-priority areas for emission reduction.</a:t>
                      </a:r>
                      <a:endParaRPr lang="en-US" sz="1200" dirty="0"/>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tcPr>
                </a:tc>
                <a:extLst>
                  <a:ext uri="{0D108BD9-81ED-4DB2-BD59-A6C34878D82A}">
                    <a16:rowId xmlns:a16="http://schemas.microsoft.com/office/drawing/2014/main" val="1945978125"/>
                  </a:ext>
                </a:extLst>
              </a:tr>
            </a:tbl>
          </a:graphicData>
        </a:graphic>
      </p:graphicFrame>
      <p:graphicFrame>
        <p:nvGraphicFramePr>
          <p:cNvPr id="4" name="Table 3">
            <a:extLst>
              <a:ext uri="{FF2B5EF4-FFF2-40B4-BE49-F238E27FC236}">
                <a16:creationId xmlns:a16="http://schemas.microsoft.com/office/drawing/2014/main" id="{A75DDA0A-C8CD-1E75-C0AE-856DE3491207}"/>
              </a:ext>
            </a:extLst>
          </p:cNvPr>
          <p:cNvGraphicFramePr>
            <a:graphicFrameLocks noGrp="1"/>
          </p:cNvGraphicFramePr>
          <p:nvPr>
            <p:extLst>
              <p:ext uri="{D42A27DB-BD31-4B8C-83A1-F6EECF244321}">
                <p14:modId xmlns:p14="http://schemas.microsoft.com/office/powerpoint/2010/main" val="815171830"/>
              </p:ext>
            </p:extLst>
          </p:nvPr>
        </p:nvGraphicFramePr>
        <p:xfrm>
          <a:off x="304617" y="2785158"/>
          <a:ext cx="8534767" cy="2158801"/>
        </p:xfrm>
        <a:graphic>
          <a:graphicData uri="http://schemas.openxmlformats.org/drawingml/2006/table">
            <a:tbl>
              <a:tblPr firstRow="1" bandRow="1">
                <a:tableStyleId>{912C8C85-51F0-491E-9774-3900AFEF0FD7}</a:tableStyleId>
              </a:tblPr>
              <a:tblGrid>
                <a:gridCol w="8534767">
                  <a:extLst>
                    <a:ext uri="{9D8B030D-6E8A-4147-A177-3AD203B41FA5}">
                      <a16:colId xmlns:a16="http://schemas.microsoft.com/office/drawing/2014/main" val="2495381909"/>
                    </a:ext>
                  </a:extLst>
                </a:gridCol>
              </a:tblGrid>
              <a:tr h="345246">
                <a:tc>
                  <a:txBody>
                    <a:bodyPr/>
                    <a:lstStyle/>
                    <a:p>
                      <a:pPr algn="ctr"/>
                      <a:r>
                        <a:rPr lang="en-US" sz="1400" b="1" i="0" u="none" strike="noStrike" cap="none" dirty="0">
                          <a:solidFill>
                            <a:schemeClr val="bg1"/>
                          </a:solidFill>
                          <a:latin typeface="+mn-lt"/>
                          <a:ea typeface="+mn-ea"/>
                          <a:cs typeface="+mn-cs"/>
                          <a:sym typeface="Arial"/>
                        </a:rPr>
                        <a:t>High-Impact Travel Routes</a:t>
                      </a:r>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solidFill>
                      <a:srgbClr val="FF5757"/>
                    </a:solidFill>
                  </a:tcPr>
                </a:tc>
                <a:extLst>
                  <a:ext uri="{0D108BD9-81ED-4DB2-BD59-A6C34878D82A}">
                    <a16:rowId xmlns:a16="http://schemas.microsoft.com/office/drawing/2014/main" val="3749116678"/>
                  </a:ext>
                </a:extLst>
              </a:tr>
              <a:tr h="1813555">
                <a:tc>
                  <a:txBody>
                    <a:bodyPr/>
                    <a:lstStyle/>
                    <a:p>
                      <a:pPr marL="171450" indent="-171450">
                        <a:buFont typeface="Arial" panose="020B0604020202020204" pitchFamily="34" charset="0"/>
                        <a:buChar char="•"/>
                      </a:pPr>
                      <a:r>
                        <a:rPr lang="en-US" sz="1200" b="1" i="0" u="none" strike="noStrike" cap="none" dirty="0">
                          <a:solidFill>
                            <a:schemeClr val="tx1"/>
                          </a:solidFill>
                          <a:latin typeface="+mn-lt"/>
                          <a:ea typeface="+mn-ea"/>
                          <a:cs typeface="+mn-cs"/>
                          <a:sym typeface="Arial"/>
                        </a:rPr>
                        <a:t>Australia → Germany (Extra Long Haul Route) </a:t>
                      </a:r>
                      <a:r>
                        <a:rPr lang="en-US" sz="1200" b="0" i="0" u="none" strike="noStrike" cap="none" dirty="0">
                          <a:solidFill>
                            <a:schemeClr val="tx1"/>
                          </a:solidFill>
                          <a:latin typeface="+mn-lt"/>
                          <a:ea typeface="+mn-ea"/>
                          <a:cs typeface="+mn-cs"/>
                          <a:sym typeface="Arial"/>
                        </a:rPr>
                        <a:t>is the largest carbon hotspot, generating </a:t>
                      </a:r>
                      <a:r>
                        <a:rPr lang="en-US" sz="1200" b="1" i="0" u="none" strike="noStrike" cap="none" dirty="0">
                          <a:solidFill>
                            <a:schemeClr val="tx1"/>
                          </a:solidFill>
                          <a:latin typeface="+mn-lt"/>
                          <a:ea typeface="+mn-ea"/>
                          <a:cs typeface="+mn-cs"/>
                          <a:sym typeface="Arial"/>
                        </a:rPr>
                        <a:t>37.9 million kg </a:t>
                      </a:r>
                      <a:r>
                        <a:rPr lang="en-US" sz="1200" b="1" i="0" u="none" strike="noStrike" cap="none" dirty="0" err="1">
                          <a:solidFill>
                            <a:schemeClr val="tx1"/>
                          </a:solidFill>
                          <a:latin typeface="+mn-lt"/>
                          <a:ea typeface="+mn-ea"/>
                          <a:cs typeface="+mn-cs"/>
                          <a:sym typeface="Arial"/>
                        </a:rPr>
                        <a:t>CO₂e</a:t>
                      </a:r>
                      <a:r>
                        <a:rPr lang="en-US" sz="1200" b="0" i="0" u="none" strike="noStrike" cap="none" dirty="0">
                          <a:solidFill>
                            <a:schemeClr val="tx1"/>
                          </a:solidFill>
                          <a:latin typeface="+mn-lt"/>
                          <a:ea typeface="+mn-ea"/>
                          <a:cs typeface="+mn-cs"/>
                          <a:sym typeface="Arial"/>
                        </a:rPr>
                        <a:t> across </a:t>
                      </a:r>
                      <a:r>
                        <a:rPr lang="en-US" sz="1200" b="1" i="0" u="none" strike="noStrike" cap="none" dirty="0">
                          <a:solidFill>
                            <a:schemeClr val="tx1"/>
                          </a:solidFill>
                          <a:latin typeface="+mn-lt"/>
                          <a:ea typeface="+mn-ea"/>
                          <a:cs typeface="+mn-cs"/>
                          <a:sym typeface="Arial"/>
                        </a:rPr>
                        <a:t>5,366 trips</a:t>
                      </a:r>
                      <a:r>
                        <a:rPr lang="en-US" sz="1200" b="0" i="0" u="none" strike="noStrike" cap="none" dirty="0">
                          <a:solidFill>
                            <a:schemeClr val="tx1"/>
                          </a:solidFill>
                          <a:latin typeface="+mn-lt"/>
                          <a:ea typeface="+mn-ea"/>
                          <a:cs typeface="+mn-cs"/>
                          <a:sym typeface="Arial"/>
                        </a:rPr>
                        <a:t>, with </a:t>
                      </a:r>
                      <a:r>
                        <a:rPr lang="en-US" sz="1200" b="1" i="0" u="none" strike="noStrike" cap="none" dirty="0">
                          <a:solidFill>
                            <a:schemeClr val="tx1"/>
                          </a:solidFill>
                          <a:latin typeface="+mn-lt"/>
                          <a:ea typeface="+mn-ea"/>
                          <a:cs typeface="+mn-cs"/>
                          <a:sym typeface="Arial"/>
                        </a:rPr>
                        <a:t>100% classified as high-carbon.</a:t>
                      </a:r>
                    </a:p>
                    <a:p>
                      <a:pPr marL="171450" indent="-171450">
                        <a:buFont typeface="Arial" panose="020B0604020202020204" pitchFamily="34" charset="0"/>
                        <a:buChar char="•"/>
                      </a:pPr>
                      <a:r>
                        <a:rPr lang="en-US" sz="1200" b="1" i="0" u="none" strike="noStrike" cap="none" dirty="0">
                          <a:solidFill>
                            <a:schemeClr val="tx1"/>
                          </a:solidFill>
                          <a:latin typeface="+mn-lt"/>
                          <a:ea typeface="+mn-ea"/>
                          <a:cs typeface="+mn-cs"/>
                          <a:sym typeface="Arial"/>
                        </a:rPr>
                        <a:t>Australia → United States (Extra Long Haul Route) </a:t>
                      </a:r>
                      <a:r>
                        <a:rPr lang="en-US" sz="1200" b="0" i="0" u="none" strike="noStrike" cap="none" dirty="0">
                          <a:solidFill>
                            <a:schemeClr val="tx1"/>
                          </a:solidFill>
                          <a:latin typeface="+mn-lt"/>
                          <a:ea typeface="+mn-ea"/>
                          <a:cs typeface="+mn-cs"/>
                          <a:sym typeface="Arial"/>
                        </a:rPr>
                        <a:t>contributes </a:t>
                      </a:r>
                      <a:r>
                        <a:rPr lang="en-US" sz="1200" b="1" i="0" u="none" strike="noStrike" cap="none" dirty="0">
                          <a:solidFill>
                            <a:schemeClr val="tx1"/>
                          </a:solidFill>
                          <a:latin typeface="+mn-lt"/>
                          <a:ea typeface="+mn-ea"/>
                          <a:cs typeface="+mn-cs"/>
                          <a:sym typeface="Arial"/>
                        </a:rPr>
                        <a:t>28.2 million kg </a:t>
                      </a:r>
                      <a:r>
                        <a:rPr lang="en-US" sz="1200" b="1" i="0" u="none" strike="noStrike" cap="none" dirty="0" err="1">
                          <a:solidFill>
                            <a:schemeClr val="tx1"/>
                          </a:solidFill>
                          <a:latin typeface="+mn-lt"/>
                          <a:ea typeface="+mn-ea"/>
                          <a:cs typeface="+mn-cs"/>
                          <a:sym typeface="Arial"/>
                        </a:rPr>
                        <a:t>CO₂e</a:t>
                      </a:r>
                      <a:r>
                        <a:rPr lang="en-US" sz="1200" b="0" i="0" u="none" strike="noStrike" cap="none" dirty="0">
                          <a:solidFill>
                            <a:schemeClr val="tx1"/>
                          </a:solidFill>
                          <a:latin typeface="+mn-lt"/>
                          <a:ea typeface="+mn-ea"/>
                          <a:cs typeface="+mn-cs"/>
                          <a:sym typeface="Arial"/>
                        </a:rPr>
                        <a:t>, making it the second-largest hotspot route despite a lower high-carbon rate </a:t>
                      </a:r>
                      <a:r>
                        <a:rPr lang="en-US" sz="1200" b="1" i="0" u="none" strike="noStrike" cap="none" dirty="0">
                          <a:solidFill>
                            <a:schemeClr val="tx1"/>
                          </a:solidFill>
                          <a:latin typeface="+mn-lt"/>
                          <a:ea typeface="+mn-ea"/>
                          <a:cs typeface="+mn-cs"/>
                          <a:sym typeface="Arial"/>
                        </a:rPr>
                        <a:t>(47%).</a:t>
                      </a:r>
                    </a:p>
                    <a:p>
                      <a:pPr marL="171450" indent="-171450">
                        <a:buFont typeface="Arial" panose="020B0604020202020204" pitchFamily="34" charset="0"/>
                        <a:buChar char="•"/>
                      </a:pPr>
                      <a:r>
                        <a:rPr lang="en-US" sz="1200" b="1" i="0" u="none" strike="noStrike" cap="none" dirty="0">
                          <a:solidFill>
                            <a:schemeClr val="tx1"/>
                          </a:solidFill>
                          <a:latin typeface="+mn-lt"/>
                          <a:ea typeface="+mn-ea"/>
                          <a:cs typeface="+mn-cs"/>
                          <a:sym typeface="Arial"/>
                        </a:rPr>
                        <a:t>Brazil → United States (15.5 million kg </a:t>
                      </a:r>
                      <a:r>
                        <a:rPr lang="en-US" sz="1200" b="1" i="0" u="none" strike="noStrike" cap="none" dirty="0" err="1">
                          <a:solidFill>
                            <a:schemeClr val="tx1"/>
                          </a:solidFill>
                          <a:latin typeface="+mn-lt"/>
                          <a:ea typeface="+mn-ea"/>
                          <a:cs typeface="+mn-cs"/>
                          <a:sym typeface="Arial"/>
                        </a:rPr>
                        <a:t>CO₂e</a:t>
                      </a:r>
                      <a:r>
                        <a:rPr lang="en-US" sz="1200" b="1" i="0" u="none" strike="noStrike" cap="none" dirty="0">
                          <a:solidFill>
                            <a:schemeClr val="tx1"/>
                          </a:solidFill>
                          <a:latin typeface="+mn-lt"/>
                          <a:ea typeface="+mn-ea"/>
                          <a:cs typeface="+mn-cs"/>
                          <a:sym typeface="Arial"/>
                        </a:rPr>
                        <a:t>) </a:t>
                      </a:r>
                      <a:r>
                        <a:rPr lang="en-US" sz="1200" b="0" i="0" u="none" strike="noStrike" cap="none" dirty="0">
                          <a:solidFill>
                            <a:schemeClr val="tx1"/>
                          </a:solidFill>
                          <a:latin typeface="+mn-lt"/>
                          <a:ea typeface="+mn-ea"/>
                          <a:cs typeface="+mn-cs"/>
                          <a:sym typeface="Arial"/>
                        </a:rPr>
                        <a:t>and </a:t>
                      </a:r>
                      <a:r>
                        <a:rPr lang="en-US" sz="1200" b="1" i="0" u="none" strike="noStrike" cap="none" dirty="0">
                          <a:solidFill>
                            <a:schemeClr val="tx1"/>
                          </a:solidFill>
                          <a:latin typeface="+mn-lt"/>
                          <a:ea typeface="+mn-ea"/>
                          <a:cs typeface="+mn-cs"/>
                          <a:sym typeface="Arial"/>
                        </a:rPr>
                        <a:t>Australia → Singapore (13.2 million kg </a:t>
                      </a:r>
                      <a:r>
                        <a:rPr lang="en-US" sz="1200" b="1" i="0" u="none" strike="noStrike" cap="none" dirty="0" err="1">
                          <a:solidFill>
                            <a:schemeClr val="tx1"/>
                          </a:solidFill>
                          <a:latin typeface="+mn-lt"/>
                          <a:ea typeface="+mn-ea"/>
                          <a:cs typeface="+mn-cs"/>
                          <a:sym typeface="Arial"/>
                        </a:rPr>
                        <a:t>CO₂e</a:t>
                      </a:r>
                      <a:r>
                        <a:rPr lang="en-US" sz="1200" b="1" i="0" u="none" strike="noStrike" cap="none" dirty="0">
                          <a:solidFill>
                            <a:schemeClr val="tx1"/>
                          </a:solidFill>
                          <a:latin typeface="+mn-lt"/>
                          <a:ea typeface="+mn-ea"/>
                          <a:cs typeface="+mn-cs"/>
                          <a:sym typeface="Arial"/>
                        </a:rPr>
                        <a:t>) </a:t>
                      </a:r>
                      <a:r>
                        <a:rPr lang="en-US" sz="1200" b="0" i="0" u="none" strike="noStrike" cap="none" dirty="0">
                          <a:solidFill>
                            <a:schemeClr val="tx1"/>
                          </a:solidFill>
                          <a:latin typeface="+mn-lt"/>
                          <a:ea typeface="+mn-ea"/>
                          <a:cs typeface="+mn-cs"/>
                          <a:sym typeface="Arial"/>
                        </a:rPr>
                        <a:t>also contribute substantially due to their high travel volumes.</a:t>
                      </a:r>
                    </a:p>
                    <a:p>
                      <a:pPr marL="171450" indent="-171450">
                        <a:buFont typeface="Arial" panose="020B0604020202020204" pitchFamily="34" charset="0"/>
                        <a:buChar char="•"/>
                      </a:pPr>
                      <a:r>
                        <a:rPr lang="en-US" sz="1200" b="0" i="0" u="none" strike="noStrike" cap="none" dirty="0">
                          <a:solidFill>
                            <a:schemeClr val="tx1"/>
                          </a:solidFill>
                          <a:latin typeface="+mn-lt"/>
                          <a:ea typeface="+mn-ea"/>
                          <a:cs typeface="+mn-cs"/>
                          <a:sym typeface="Arial"/>
                        </a:rPr>
                        <a:t>Although </a:t>
                      </a:r>
                      <a:r>
                        <a:rPr lang="en-US" sz="1200" b="1" i="0" u="none" strike="noStrike" cap="none" dirty="0">
                          <a:solidFill>
                            <a:schemeClr val="tx1"/>
                          </a:solidFill>
                          <a:latin typeface="+mn-lt"/>
                          <a:ea typeface="+mn-ea"/>
                          <a:cs typeface="+mn-cs"/>
                          <a:sym typeface="Arial"/>
                        </a:rPr>
                        <a:t>Brazil → Japan</a:t>
                      </a:r>
                      <a:r>
                        <a:rPr lang="en-US" sz="1200" b="0" i="0" u="none" strike="noStrike" cap="none" dirty="0">
                          <a:solidFill>
                            <a:schemeClr val="tx1"/>
                          </a:solidFill>
                          <a:latin typeface="+mn-lt"/>
                          <a:ea typeface="+mn-ea"/>
                          <a:cs typeface="+mn-cs"/>
                          <a:sym typeface="Arial"/>
                        </a:rPr>
                        <a:t> contributes a smaller total volume (</a:t>
                      </a:r>
                      <a:r>
                        <a:rPr lang="en-US" sz="1200" b="1" i="0" u="none" strike="noStrike" cap="none" dirty="0">
                          <a:solidFill>
                            <a:schemeClr val="tx1"/>
                          </a:solidFill>
                          <a:latin typeface="+mn-lt"/>
                          <a:ea typeface="+mn-ea"/>
                          <a:cs typeface="+mn-cs"/>
                          <a:sym typeface="Arial"/>
                        </a:rPr>
                        <a:t>5.5 million kg </a:t>
                      </a:r>
                      <a:r>
                        <a:rPr lang="en-US" sz="1200" b="1" i="0" u="none" strike="noStrike" cap="none" dirty="0" err="1">
                          <a:solidFill>
                            <a:schemeClr val="tx1"/>
                          </a:solidFill>
                          <a:latin typeface="+mn-lt"/>
                          <a:ea typeface="+mn-ea"/>
                          <a:cs typeface="+mn-cs"/>
                          <a:sym typeface="Arial"/>
                        </a:rPr>
                        <a:t>CO₂e</a:t>
                      </a:r>
                      <a:r>
                        <a:rPr lang="en-US" sz="1200" b="0" i="0" u="none" strike="noStrike" cap="none" dirty="0">
                          <a:solidFill>
                            <a:schemeClr val="tx1"/>
                          </a:solidFill>
                          <a:latin typeface="+mn-lt"/>
                          <a:ea typeface="+mn-ea"/>
                          <a:cs typeface="+mn-cs"/>
                          <a:sym typeface="Arial"/>
                        </a:rPr>
                        <a:t>), it records the </a:t>
                      </a:r>
                      <a:r>
                        <a:rPr lang="en-US" sz="1200" b="1" i="0" u="none" strike="noStrike" cap="none" dirty="0">
                          <a:solidFill>
                            <a:schemeClr val="tx1"/>
                          </a:solidFill>
                          <a:latin typeface="+mn-lt"/>
                          <a:ea typeface="+mn-ea"/>
                          <a:cs typeface="+mn-cs"/>
                          <a:sym typeface="Arial"/>
                        </a:rPr>
                        <a:t>highest average emissions per trip (7,693 kg </a:t>
                      </a:r>
                      <a:r>
                        <a:rPr lang="en-US" sz="1200" b="1" i="0" u="none" strike="noStrike" cap="none" dirty="0" err="1">
                          <a:solidFill>
                            <a:schemeClr val="tx1"/>
                          </a:solidFill>
                          <a:latin typeface="+mn-lt"/>
                          <a:ea typeface="+mn-ea"/>
                          <a:cs typeface="+mn-cs"/>
                          <a:sym typeface="Arial"/>
                        </a:rPr>
                        <a:t>CO₂e</a:t>
                      </a:r>
                      <a:r>
                        <a:rPr lang="en-US" sz="1200" b="1" i="0" u="none" strike="noStrike" cap="none" dirty="0">
                          <a:solidFill>
                            <a:schemeClr val="tx1"/>
                          </a:solidFill>
                          <a:latin typeface="+mn-lt"/>
                          <a:ea typeface="+mn-ea"/>
                          <a:cs typeface="+mn-cs"/>
                          <a:sym typeface="Arial"/>
                        </a:rPr>
                        <a:t>) </a:t>
                      </a:r>
                      <a:r>
                        <a:rPr lang="en-US" sz="1200" b="0" i="0" u="none" strike="noStrike" cap="none" dirty="0">
                          <a:solidFill>
                            <a:schemeClr val="tx1"/>
                          </a:solidFill>
                          <a:latin typeface="+mn-lt"/>
                          <a:ea typeface="+mn-ea"/>
                          <a:cs typeface="+mn-cs"/>
                          <a:sym typeface="Arial"/>
                        </a:rPr>
                        <a:t>with a </a:t>
                      </a:r>
                      <a:r>
                        <a:rPr lang="en-US" sz="1200" b="1" i="0" u="none" strike="noStrike" cap="none" dirty="0">
                          <a:solidFill>
                            <a:schemeClr val="tx1"/>
                          </a:solidFill>
                          <a:latin typeface="+mn-lt"/>
                          <a:ea typeface="+mn-ea"/>
                          <a:cs typeface="+mn-cs"/>
                          <a:sym typeface="Arial"/>
                        </a:rPr>
                        <a:t>100% high-carbon rate</a:t>
                      </a:r>
                      <a:r>
                        <a:rPr lang="en-US" sz="1200" b="0" i="0" u="none" strike="noStrike" cap="none" dirty="0">
                          <a:solidFill>
                            <a:schemeClr val="tx1"/>
                          </a:solidFill>
                          <a:latin typeface="+mn-lt"/>
                          <a:ea typeface="+mn-ea"/>
                          <a:cs typeface="+mn-cs"/>
                          <a:sym typeface="Arial"/>
                        </a:rPr>
                        <a:t>, making it one of the least carbon-efficient routes.</a:t>
                      </a:r>
                    </a:p>
                    <a:p>
                      <a:pPr marL="171450" indent="-171450">
                        <a:buFont typeface="Arial" panose="020B0604020202020204" pitchFamily="34" charset="0"/>
                        <a:buChar char="•"/>
                      </a:pPr>
                      <a:r>
                        <a:rPr lang="en-US" sz="1200" b="1" i="0" u="none" strike="noStrike" cap="none" dirty="0">
                          <a:solidFill>
                            <a:schemeClr val="tx1"/>
                          </a:solidFill>
                          <a:latin typeface="+mn-lt"/>
                          <a:ea typeface="+mn-ea"/>
                          <a:cs typeface="+mn-cs"/>
                          <a:sym typeface="Arial"/>
                        </a:rPr>
                        <a:t>China → United States</a:t>
                      </a:r>
                      <a:r>
                        <a:rPr lang="en-US" sz="1200" b="0" i="0" u="none" strike="noStrike" cap="none" dirty="0">
                          <a:solidFill>
                            <a:schemeClr val="tx1"/>
                          </a:solidFill>
                          <a:latin typeface="+mn-lt"/>
                          <a:ea typeface="+mn-ea"/>
                          <a:cs typeface="+mn-cs"/>
                          <a:sym typeface="Arial"/>
                        </a:rPr>
                        <a:t> must not be ignored for its </a:t>
                      </a:r>
                      <a:r>
                        <a:rPr lang="en-US" sz="1200" b="1" i="0" u="none" strike="noStrike" cap="none" dirty="0">
                          <a:solidFill>
                            <a:schemeClr val="tx1"/>
                          </a:solidFill>
                          <a:latin typeface="+mn-lt"/>
                          <a:ea typeface="+mn-ea"/>
                          <a:cs typeface="+mn-cs"/>
                          <a:sym typeface="Arial"/>
                        </a:rPr>
                        <a:t>highest average emissions per trip (7,606 kg </a:t>
                      </a:r>
                      <a:r>
                        <a:rPr lang="en-US" sz="1200" b="1" i="0" u="none" strike="noStrike" cap="none" dirty="0" err="1">
                          <a:solidFill>
                            <a:schemeClr val="tx1"/>
                          </a:solidFill>
                          <a:latin typeface="+mn-lt"/>
                          <a:ea typeface="+mn-ea"/>
                          <a:cs typeface="+mn-cs"/>
                          <a:sym typeface="Arial"/>
                        </a:rPr>
                        <a:t>CO₂e</a:t>
                      </a:r>
                      <a:r>
                        <a:rPr lang="en-US" sz="1200" b="1" i="0" u="none" strike="noStrike" cap="none" dirty="0">
                          <a:solidFill>
                            <a:schemeClr val="tx1"/>
                          </a:solidFill>
                          <a:latin typeface="+mn-lt"/>
                          <a:ea typeface="+mn-ea"/>
                          <a:cs typeface="+mn-cs"/>
                          <a:sym typeface="Arial"/>
                        </a:rPr>
                        <a:t>).</a:t>
                      </a:r>
                      <a:endParaRPr lang="en-US" sz="1400" dirty="0"/>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tcPr>
                </a:tc>
                <a:extLst>
                  <a:ext uri="{0D108BD9-81ED-4DB2-BD59-A6C34878D82A}">
                    <a16:rowId xmlns:a16="http://schemas.microsoft.com/office/drawing/2014/main" val="194597812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8"/>
          <p:cNvSpPr txBox="1">
            <a:spLocks noGrp="1"/>
          </p:cNvSpPr>
          <p:nvPr>
            <p:ph type="title"/>
          </p:nvPr>
        </p:nvSpPr>
        <p:spPr>
          <a:xfrm>
            <a:off x="305991" y="261544"/>
            <a:ext cx="7945500" cy="246221"/>
          </a:xfrm>
          <a:prstGeom prst="rect">
            <a:avLst/>
          </a:prstGeom>
          <a:noFill/>
          <a:ln>
            <a:noFill/>
          </a:ln>
        </p:spPr>
        <p:txBody>
          <a:bodyPr spcFirstLastPara="1" wrap="square" lIns="0" tIns="0" rIns="0" bIns="0" anchor="t" anchorCtr="0">
            <a:spAutoFit/>
          </a:bodyPr>
          <a:lstStyle/>
          <a:p>
            <a:pPr lvl="0"/>
            <a:r>
              <a:rPr lang="en" dirty="0"/>
              <a:t>Inefficiencies Identified</a:t>
            </a:r>
            <a:endParaRPr dirty="0"/>
          </a:p>
        </p:txBody>
      </p:sp>
      <p:graphicFrame>
        <p:nvGraphicFramePr>
          <p:cNvPr id="2" name="Table 1">
            <a:extLst>
              <a:ext uri="{FF2B5EF4-FFF2-40B4-BE49-F238E27FC236}">
                <a16:creationId xmlns:a16="http://schemas.microsoft.com/office/drawing/2014/main" id="{790A9D2D-B7E9-AC9A-F9ED-F42D98C5C2AF}"/>
              </a:ext>
            </a:extLst>
          </p:cNvPr>
          <p:cNvGraphicFramePr>
            <a:graphicFrameLocks noGrp="1"/>
          </p:cNvGraphicFramePr>
          <p:nvPr>
            <p:extLst>
              <p:ext uri="{D42A27DB-BD31-4B8C-83A1-F6EECF244321}">
                <p14:modId xmlns:p14="http://schemas.microsoft.com/office/powerpoint/2010/main" val="3517913409"/>
              </p:ext>
            </p:extLst>
          </p:nvPr>
        </p:nvGraphicFramePr>
        <p:xfrm>
          <a:off x="305992" y="581796"/>
          <a:ext cx="4395482" cy="4325280"/>
        </p:xfrm>
        <a:graphic>
          <a:graphicData uri="http://schemas.openxmlformats.org/drawingml/2006/table">
            <a:tbl>
              <a:tblPr firstRow="1" bandRow="1">
                <a:tableStyleId>{912C8C85-51F0-491E-9774-3900AFEF0FD7}</a:tableStyleId>
              </a:tblPr>
              <a:tblGrid>
                <a:gridCol w="4395482">
                  <a:extLst>
                    <a:ext uri="{9D8B030D-6E8A-4147-A177-3AD203B41FA5}">
                      <a16:colId xmlns:a16="http://schemas.microsoft.com/office/drawing/2014/main" val="2495381909"/>
                    </a:ext>
                  </a:extLst>
                </a:gridCol>
              </a:tblGrid>
              <a:tr h="281465">
                <a:tc>
                  <a:txBody>
                    <a:bodyPr/>
                    <a:lstStyle/>
                    <a:p>
                      <a:pPr algn="ctr"/>
                      <a:r>
                        <a:rPr lang="en" dirty="0"/>
                        <a:t>Process Inefficiencies</a:t>
                      </a:r>
                      <a:endParaRPr lang="en-US" sz="1400" b="1" dirty="0"/>
                    </a:p>
                  </a:txBody>
                  <a:tcPr marL="0" marR="36000" marT="108000" marB="72000">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solidFill>
                      <a:srgbClr val="FF5757"/>
                    </a:solidFill>
                  </a:tcPr>
                </a:tc>
                <a:extLst>
                  <a:ext uri="{0D108BD9-81ED-4DB2-BD59-A6C34878D82A}">
                    <a16:rowId xmlns:a16="http://schemas.microsoft.com/office/drawing/2014/main" val="3749116678"/>
                  </a:ext>
                </a:extLst>
              </a:tr>
              <a:tr h="2158146">
                <a:tc>
                  <a:txBody>
                    <a:bodyPr/>
                    <a:lstStyle/>
                    <a:p>
                      <a:r>
                        <a:rPr lang="en-IN" sz="1200" b="1" dirty="0"/>
                        <a:t>1. High Process Variation: 373 unique travel process variants</a:t>
                      </a:r>
                      <a:r>
                        <a:rPr lang="en-IN" sz="1200" dirty="0"/>
                        <a:t> were identified, indicating inconsistent travel execution. While the </a:t>
                      </a:r>
                      <a:r>
                        <a:rPr lang="en-IN" sz="1200" b="1" dirty="0"/>
                        <a:t>top 34 variants account for 87% of all trips</a:t>
                      </a:r>
                      <a:r>
                        <a:rPr lang="en-IN" sz="1200" dirty="0"/>
                        <a:t>, the remaining </a:t>
                      </a:r>
                      <a:r>
                        <a:rPr lang="en-IN" sz="1200" b="1" dirty="0"/>
                        <a:t>339 variants</a:t>
                      </a:r>
                      <a:r>
                        <a:rPr lang="en-IN" sz="1200" dirty="0"/>
                        <a:t> have opportunities for workflow standardization.</a:t>
                      </a:r>
                    </a:p>
                    <a:p>
                      <a:endParaRPr lang="en-IN" sz="1200" dirty="0"/>
                    </a:p>
                    <a:p>
                      <a:r>
                        <a:rPr lang="en-IN" sz="1200" b="1" dirty="0"/>
                        <a:t>2. Long Process Cycle Time: </a:t>
                      </a:r>
                      <a:r>
                        <a:rPr lang="en-IN" sz="1200" dirty="0"/>
                        <a:t>The </a:t>
                      </a:r>
                      <a:r>
                        <a:rPr lang="en-IN" sz="1200" b="1" dirty="0"/>
                        <a:t>average end-to-end travel lifecycle duration is 22.3 days</a:t>
                      </a:r>
                      <a:r>
                        <a:rPr lang="en-IN" sz="1200" dirty="0"/>
                        <a:t>. Also, the t</a:t>
                      </a:r>
                      <a:r>
                        <a:rPr lang="en-US" sz="1200" dirty="0"/>
                        <a:t>ravel process records emissions </a:t>
                      </a:r>
                      <a:r>
                        <a:rPr lang="en-US" sz="1200" b="1" dirty="0"/>
                        <a:t>after travel is completed</a:t>
                      </a:r>
                      <a:r>
                        <a:rPr lang="en-US" sz="1200" dirty="0"/>
                        <a:t>, but employees currently receive no carbon guidance during planning. </a:t>
                      </a:r>
                    </a:p>
                    <a:p>
                      <a:endParaRPr lang="en-IN" sz="1200" dirty="0"/>
                    </a:p>
                    <a:p>
                      <a:r>
                        <a:rPr lang="en-IN" sz="1200" b="1" dirty="0"/>
                        <a:t>3. Heavy Dependence on Air Travel: Aviation account for approximately 84% of total travel emissions. </a:t>
                      </a:r>
                      <a:r>
                        <a:rPr lang="en-IN" sz="1200" b="0" dirty="0"/>
                        <a:t>Departure  and Return flights have same travel class (increases cost and emissions).</a:t>
                      </a:r>
                      <a:endParaRPr lang="en-US" sz="1200" b="0" dirty="0"/>
                    </a:p>
                    <a:p>
                      <a:endParaRPr lang="en-US" sz="1200" dirty="0"/>
                    </a:p>
                    <a:p>
                      <a:r>
                        <a:rPr lang="en-US" sz="1200" b="0" dirty="0"/>
                        <a:t>4. </a:t>
                      </a:r>
                      <a:r>
                        <a:rPr lang="en-US" sz="1200" b="1" dirty="0"/>
                        <a:t>Emission Concentration: </a:t>
                      </a:r>
                      <a:r>
                        <a:rPr lang="en-US" sz="1200" b="0" dirty="0"/>
                        <a:t>Few business units (</a:t>
                      </a:r>
                      <a:r>
                        <a:rPr lang="en-US" sz="1200" b="1" dirty="0"/>
                        <a:t>Sales &amp; </a:t>
                      </a:r>
                      <a:r>
                        <a:rPr lang="en-IN" sz="1200" b="1" dirty="0"/>
                        <a:t>Customer Visits</a:t>
                      </a:r>
                      <a:r>
                        <a:rPr lang="en-IN" sz="1200" dirty="0"/>
                        <a:t>) and Few Routes (</a:t>
                      </a:r>
                      <a:r>
                        <a:rPr lang="fr-FR" sz="1200" b="1" dirty="0"/>
                        <a:t>AU → DE, AU → US, BR → US</a:t>
                      </a:r>
                      <a:r>
                        <a:rPr lang="en-IN" sz="1200" dirty="0"/>
                        <a:t>) contribute to highest share of carbon footprint. Small policy changes can have significant impact.</a:t>
                      </a:r>
                      <a:endParaRPr lang="en-IN" sz="1200" b="0" dirty="0"/>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45978125"/>
                  </a:ext>
                </a:extLst>
              </a:tr>
            </a:tbl>
          </a:graphicData>
        </a:graphic>
      </p:graphicFrame>
      <p:graphicFrame>
        <p:nvGraphicFramePr>
          <p:cNvPr id="5" name="Table 4">
            <a:extLst>
              <a:ext uri="{FF2B5EF4-FFF2-40B4-BE49-F238E27FC236}">
                <a16:creationId xmlns:a16="http://schemas.microsoft.com/office/drawing/2014/main" id="{116E4584-6CEF-744D-B3D1-68B4DE808B51}"/>
              </a:ext>
            </a:extLst>
          </p:cNvPr>
          <p:cNvGraphicFramePr>
            <a:graphicFrameLocks noGrp="1"/>
          </p:cNvGraphicFramePr>
          <p:nvPr>
            <p:extLst>
              <p:ext uri="{D42A27DB-BD31-4B8C-83A1-F6EECF244321}">
                <p14:modId xmlns:p14="http://schemas.microsoft.com/office/powerpoint/2010/main" val="1324627633"/>
              </p:ext>
            </p:extLst>
          </p:nvPr>
        </p:nvGraphicFramePr>
        <p:xfrm>
          <a:off x="4863313" y="580592"/>
          <a:ext cx="3974697" cy="4325279"/>
        </p:xfrm>
        <a:graphic>
          <a:graphicData uri="http://schemas.openxmlformats.org/drawingml/2006/table">
            <a:tbl>
              <a:tblPr firstRow="1" bandRow="1">
                <a:tableStyleId>{912C8C85-51F0-491E-9774-3900AFEF0FD7}</a:tableStyleId>
              </a:tblPr>
              <a:tblGrid>
                <a:gridCol w="3974697">
                  <a:extLst>
                    <a:ext uri="{9D8B030D-6E8A-4147-A177-3AD203B41FA5}">
                      <a16:colId xmlns:a16="http://schemas.microsoft.com/office/drawing/2014/main" val="2495381909"/>
                    </a:ext>
                  </a:extLst>
                </a:gridCol>
              </a:tblGrid>
              <a:tr h="420228">
                <a:tc>
                  <a:txBody>
                    <a:bodyPr/>
                    <a:lstStyle/>
                    <a:p>
                      <a:pPr lvl="0" algn="ctr"/>
                      <a:r>
                        <a:rPr lang="en-IN" b="1" dirty="0"/>
                        <a:t>Data Inconsistencies</a:t>
                      </a:r>
                    </a:p>
                  </a:txBody>
                  <a:tcPr marL="0" marR="36000" marT="36000" marB="72000" anchor="ct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solidFill>
                      <a:srgbClr val="FF5757"/>
                    </a:solidFill>
                  </a:tcPr>
                </a:tc>
                <a:extLst>
                  <a:ext uri="{0D108BD9-81ED-4DB2-BD59-A6C34878D82A}">
                    <a16:rowId xmlns:a16="http://schemas.microsoft.com/office/drawing/2014/main" val="3749116678"/>
                  </a:ext>
                </a:extLst>
              </a:tr>
              <a:tr h="3905051">
                <a:tc>
                  <a:txBody>
                    <a:bodyPr/>
                    <a:lstStyle/>
                    <a:p>
                      <a:r>
                        <a:rPr lang="en-IN" sz="1200" b="1" dirty="0"/>
                        <a:t>Route infeasibility: </a:t>
                      </a:r>
                      <a:r>
                        <a:rPr lang="en-IN" sz="1200" dirty="0"/>
                        <a:t>A number of train journeys and road journeys (e.g., China → India/USA/Aus/GB) appear operationally infeasible, suggesting synthetic routing assumptions within the dataset. </a:t>
                      </a:r>
                    </a:p>
                    <a:p>
                      <a:endParaRPr lang="en-IN" sz="1200" dirty="0"/>
                    </a:p>
                    <a:p>
                      <a:r>
                        <a:rPr lang="en-IN" sz="1200" dirty="0"/>
                        <a:t>In some routes the average </a:t>
                      </a:r>
                      <a:r>
                        <a:rPr lang="en-IN" sz="1200" dirty="0" err="1"/>
                        <a:t>netcosts</a:t>
                      </a:r>
                      <a:r>
                        <a:rPr lang="en-IN" sz="1200" dirty="0"/>
                        <a:t> of business class trips is lower than average </a:t>
                      </a:r>
                      <a:r>
                        <a:rPr lang="en-IN" sz="1200" dirty="0" err="1"/>
                        <a:t>netcosts</a:t>
                      </a:r>
                      <a:r>
                        <a:rPr lang="en-IN" sz="1200" dirty="0"/>
                        <a:t> of economy class trips.</a:t>
                      </a:r>
                    </a:p>
                    <a:p>
                      <a:endParaRPr lang="en-IN" sz="1200" dirty="0"/>
                    </a:p>
                    <a:p>
                      <a:r>
                        <a:rPr lang="en-IN" sz="1200" b="1" dirty="0"/>
                        <a:t>Employee travel continuity: </a:t>
                      </a:r>
                      <a:r>
                        <a:rPr lang="en-IN" sz="1200" dirty="0"/>
                        <a:t>Consecutive trips for the same employee (</a:t>
                      </a:r>
                      <a:r>
                        <a:rPr lang="en-IN" sz="1200" dirty="0" err="1"/>
                        <a:t>eg.</a:t>
                      </a:r>
                      <a:r>
                        <a:rPr lang="en-IN" sz="1200" dirty="0"/>
                        <a:t> M1009-M5146) sometimes originate from unrelated cities without recorded repositioning travel, indicating that employee location continuity is not explicitly </a:t>
                      </a:r>
                      <a:r>
                        <a:rPr lang="en-IN" sz="1200" dirty="0" err="1"/>
                        <a:t>modeled</a:t>
                      </a:r>
                      <a:r>
                        <a:rPr lang="en-IN" sz="1200" dirty="0"/>
                        <a:t>.</a:t>
                      </a:r>
                    </a:p>
                    <a:p>
                      <a:endParaRPr lang="en-IN" sz="1200" dirty="0"/>
                    </a:p>
                    <a:p>
                      <a:r>
                        <a:rPr lang="en-IN" sz="1200" b="1" dirty="0"/>
                        <a:t>Emission drivers: </a:t>
                      </a:r>
                      <a:r>
                        <a:rPr lang="en-US" sz="1200" b="0" dirty="0"/>
                        <a:t>H</a:t>
                      </a:r>
                      <a:r>
                        <a:rPr lang="en-US" sz="1200" dirty="0"/>
                        <a:t>otel category impacts emissions than duration alone, creating a need to record hotel category to reduce emissions by prioritizing low-carbon hotels.</a:t>
                      </a:r>
                      <a:endParaRPr lang="en-IN" sz="1200" dirty="0"/>
                    </a:p>
                  </a:txBody>
                  <a:tcPr>
                    <a:lnL w="12700" cap="flat" cmpd="sng" algn="ctr">
                      <a:solidFill>
                        <a:srgbClr val="FF5757"/>
                      </a:solidFill>
                      <a:prstDash val="solid"/>
                      <a:round/>
                      <a:headEnd type="none" w="med" len="med"/>
                      <a:tailEnd type="none" w="med" len="med"/>
                    </a:lnL>
                    <a:lnR w="12700" cap="flat" cmpd="sng" algn="ctr">
                      <a:solidFill>
                        <a:srgbClr val="FF5757"/>
                      </a:solidFill>
                      <a:prstDash val="solid"/>
                      <a:round/>
                      <a:headEnd type="none" w="med" len="med"/>
                      <a:tailEnd type="none" w="med" len="med"/>
                    </a:lnR>
                    <a:lnT w="12700" cap="flat" cmpd="sng" algn="ctr">
                      <a:solidFill>
                        <a:srgbClr val="FF5757"/>
                      </a:solidFill>
                      <a:prstDash val="solid"/>
                      <a:round/>
                      <a:headEnd type="none" w="med" len="med"/>
                      <a:tailEnd type="none" w="med" len="med"/>
                    </a:lnT>
                    <a:lnB w="12700" cap="flat" cmpd="sng" algn="ctr">
                      <a:solidFill>
                        <a:srgbClr val="FF5757"/>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4597812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0"/>
        <p:cNvGrpSpPr/>
        <p:nvPr/>
      </p:nvGrpSpPr>
      <p:grpSpPr>
        <a:xfrm>
          <a:off x="0" y="0"/>
          <a:ext cx="0" cy="0"/>
          <a:chOff x="0" y="0"/>
          <a:chExt cx="0" cy="0"/>
        </a:xfrm>
      </p:grpSpPr>
      <p:sp>
        <p:nvSpPr>
          <p:cNvPr id="181" name="Google Shape;181;p39"/>
          <p:cNvSpPr txBox="1">
            <a:spLocks noGrp="1"/>
          </p:cNvSpPr>
          <p:nvPr>
            <p:ph type="title"/>
          </p:nvPr>
        </p:nvSpPr>
        <p:spPr>
          <a:xfrm>
            <a:off x="228600" y="148340"/>
            <a:ext cx="7945500" cy="246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Low Carbon Strategic Recommendations (Quantified)</a:t>
            </a:r>
            <a:endParaRPr dirty="0"/>
          </a:p>
        </p:txBody>
      </p:sp>
      <p:sp>
        <p:nvSpPr>
          <p:cNvPr id="182" name="Google Shape;182;p39"/>
          <p:cNvSpPr txBox="1"/>
          <p:nvPr/>
        </p:nvSpPr>
        <p:spPr>
          <a:xfrm>
            <a:off x="228600" y="4694724"/>
            <a:ext cx="8599191" cy="369332"/>
          </a:xfrm>
          <a:prstGeom prst="rect">
            <a:avLst/>
          </a:prstGeom>
          <a:noFill/>
          <a:ln>
            <a:noFill/>
          </a:ln>
        </p:spPr>
        <p:txBody>
          <a:bodyPr spcFirstLastPara="1" wrap="square" lIns="0" tIns="0" rIns="0" bIns="0" anchor="t" anchorCtr="0">
            <a:spAutoFit/>
          </a:bodyPr>
          <a:lstStyle/>
          <a:p>
            <a:r>
              <a:rPr lang="en-IN" sz="1200" b="1" dirty="0"/>
              <a:t>Estimated Impact: </a:t>
            </a:r>
            <a:r>
              <a:rPr lang="en-IN" sz="1200" dirty="0"/>
              <a:t>46 million kg </a:t>
            </a:r>
            <a:r>
              <a:rPr lang="en-IN" sz="1200" dirty="0" err="1"/>
              <a:t>CO₂e</a:t>
            </a:r>
            <a:r>
              <a:rPr lang="en-IN" sz="1200" dirty="0"/>
              <a:t> Savings &amp; ≈ $14 million Cost Savings</a:t>
            </a:r>
          </a:p>
          <a:p>
            <a:r>
              <a:rPr lang="en-IN" sz="1200" dirty="0"/>
              <a:t>Reduced dependence on premium flights &amp; unnecessary travel. Improved policy compliance through AI and Process Mining.</a:t>
            </a:r>
          </a:p>
        </p:txBody>
      </p:sp>
      <p:graphicFrame>
        <p:nvGraphicFramePr>
          <p:cNvPr id="3" name="Table 2">
            <a:extLst>
              <a:ext uri="{FF2B5EF4-FFF2-40B4-BE49-F238E27FC236}">
                <a16:creationId xmlns:a16="http://schemas.microsoft.com/office/drawing/2014/main" id="{A3668274-0816-D33E-ABDE-5F46E40893BB}"/>
              </a:ext>
            </a:extLst>
          </p:cNvPr>
          <p:cNvGraphicFramePr>
            <a:graphicFrameLocks noGrp="1"/>
          </p:cNvGraphicFramePr>
          <p:nvPr>
            <p:extLst>
              <p:ext uri="{D42A27DB-BD31-4B8C-83A1-F6EECF244321}">
                <p14:modId xmlns:p14="http://schemas.microsoft.com/office/powerpoint/2010/main" val="1415323472"/>
              </p:ext>
            </p:extLst>
          </p:nvPr>
        </p:nvGraphicFramePr>
        <p:xfrm>
          <a:off x="228600" y="462371"/>
          <a:ext cx="8742145" cy="4148130"/>
        </p:xfrm>
        <a:graphic>
          <a:graphicData uri="http://schemas.openxmlformats.org/drawingml/2006/table">
            <a:tbl>
              <a:tblPr firstRow="1">
                <a:tableStyleId>{69012ECD-51FC-41F1-AA8D-1B2483CD663E}</a:tableStyleId>
              </a:tblPr>
              <a:tblGrid>
                <a:gridCol w="2116667">
                  <a:extLst>
                    <a:ext uri="{9D8B030D-6E8A-4147-A177-3AD203B41FA5}">
                      <a16:colId xmlns:a16="http://schemas.microsoft.com/office/drawing/2014/main" val="305497071"/>
                    </a:ext>
                  </a:extLst>
                </a:gridCol>
                <a:gridCol w="2696682">
                  <a:extLst>
                    <a:ext uri="{9D8B030D-6E8A-4147-A177-3AD203B41FA5}">
                      <a16:colId xmlns:a16="http://schemas.microsoft.com/office/drawing/2014/main" val="2096275029"/>
                    </a:ext>
                  </a:extLst>
                </a:gridCol>
                <a:gridCol w="1757619">
                  <a:extLst>
                    <a:ext uri="{9D8B030D-6E8A-4147-A177-3AD203B41FA5}">
                      <a16:colId xmlns:a16="http://schemas.microsoft.com/office/drawing/2014/main" val="538696596"/>
                    </a:ext>
                  </a:extLst>
                </a:gridCol>
                <a:gridCol w="2171177">
                  <a:extLst>
                    <a:ext uri="{9D8B030D-6E8A-4147-A177-3AD203B41FA5}">
                      <a16:colId xmlns:a16="http://schemas.microsoft.com/office/drawing/2014/main" val="3381243544"/>
                    </a:ext>
                  </a:extLst>
                </a:gridCol>
              </a:tblGrid>
              <a:tr h="441040">
                <a:tc>
                  <a:txBody>
                    <a:bodyPr/>
                    <a:lstStyle/>
                    <a:p>
                      <a:pPr lvl="1" algn="ctr" fontAlgn="ctr">
                        <a:buNone/>
                      </a:pPr>
                      <a:r>
                        <a:rPr lang="en-IN" sz="1400" b="1" u="none" strike="noStrike" dirty="0">
                          <a:effectLst/>
                        </a:rPr>
                        <a:t>Top Recommendations</a:t>
                      </a:r>
                      <a:endParaRPr lang="en-IN" sz="1400" b="1" i="0" u="none" strike="noStrike" dirty="0">
                        <a:solidFill>
                          <a:srgbClr val="000000"/>
                        </a:solidFill>
                        <a:effectLst/>
                        <a:latin typeface="Calibri" panose="020F0502020204030204" pitchFamily="34" charset="0"/>
                      </a:endParaRPr>
                    </a:p>
                  </a:txBody>
                  <a:tcPr marL="4424" marR="4424" marT="4424" marB="0" anchor="ctr">
                    <a:lnL w="12700" cap="flat" cmpd="sng" algn="ctr">
                      <a:solidFill>
                        <a:schemeClr val="tx2"/>
                      </a:solidFill>
                      <a:prstDash val="solid"/>
                      <a:round/>
                      <a:headEnd type="none" w="med" len="med"/>
                      <a:tailEnd type="none" w="med" len="med"/>
                    </a:lnL>
                    <a:lnT w="12700" cap="flat" cmpd="sng" algn="ctr">
                      <a:solidFill>
                        <a:schemeClr val="tx2"/>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chemeClr val="tx2"/>
                    </a:solidFill>
                  </a:tcPr>
                </a:tc>
                <a:tc>
                  <a:txBody>
                    <a:bodyPr/>
                    <a:lstStyle/>
                    <a:p>
                      <a:pPr algn="ctr" fontAlgn="ctr">
                        <a:buNone/>
                      </a:pPr>
                      <a:r>
                        <a:rPr lang="en-IN" sz="1400" b="1" u="none" strike="noStrike" dirty="0">
                          <a:effectLst/>
                        </a:rPr>
                        <a:t>Data-backed Justification</a:t>
                      </a:r>
                      <a:endParaRPr lang="en-IN" sz="1400" b="1" i="0" u="none" strike="noStrike" dirty="0">
                        <a:solidFill>
                          <a:srgbClr val="000000"/>
                        </a:solidFill>
                        <a:effectLst/>
                        <a:latin typeface="Calibri" panose="020F0502020204030204" pitchFamily="34" charset="0"/>
                      </a:endParaRPr>
                    </a:p>
                  </a:txBody>
                  <a:tcPr marL="4424" marR="4424" marT="4424" marB="0" anchor="ctr">
                    <a:lnT w="12700" cap="flat" cmpd="sng" algn="ctr">
                      <a:solidFill>
                        <a:schemeClr val="tx2"/>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chemeClr val="tx2"/>
                    </a:solidFill>
                  </a:tcPr>
                </a:tc>
                <a:tc>
                  <a:txBody>
                    <a:bodyPr/>
                    <a:lstStyle/>
                    <a:p>
                      <a:pPr algn="ctr" fontAlgn="ctr">
                        <a:buNone/>
                      </a:pPr>
                      <a:r>
                        <a:rPr lang="en-IN" sz="1400" b="1" u="none" strike="noStrike" dirty="0">
                          <a:effectLst/>
                        </a:rPr>
                        <a:t>Estimated CO₂ Reduction</a:t>
                      </a:r>
                      <a:endParaRPr lang="en-IN" sz="1400" b="1" i="0" u="none" strike="noStrike" dirty="0">
                        <a:solidFill>
                          <a:srgbClr val="000000"/>
                        </a:solidFill>
                        <a:effectLst/>
                        <a:latin typeface="Calibri" panose="020F0502020204030204" pitchFamily="34" charset="0"/>
                      </a:endParaRPr>
                    </a:p>
                  </a:txBody>
                  <a:tcPr marL="4424" marR="4424" marT="4424" marB="0" anchor="ctr">
                    <a:lnT w="12700" cap="flat" cmpd="sng" algn="ctr">
                      <a:solidFill>
                        <a:schemeClr val="tx2"/>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chemeClr val="tx2"/>
                    </a:solidFill>
                  </a:tcPr>
                </a:tc>
                <a:tc>
                  <a:txBody>
                    <a:bodyPr/>
                    <a:lstStyle/>
                    <a:p>
                      <a:pPr algn="ctr" fontAlgn="ctr">
                        <a:buNone/>
                      </a:pPr>
                      <a:r>
                        <a:rPr lang="en-IN" sz="1400" b="1" u="none" strike="noStrike" dirty="0">
                          <a:effectLst/>
                        </a:rPr>
                        <a:t>Estimated Cost Savings</a:t>
                      </a:r>
                      <a:endParaRPr lang="en-IN" sz="1400" b="1" i="0" u="none" strike="noStrike" dirty="0">
                        <a:solidFill>
                          <a:srgbClr val="000000"/>
                        </a:solidFill>
                        <a:effectLst/>
                        <a:latin typeface="Calibri" panose="020F0502020204030204" pitchFamily="34" charset="0"/>
                      </a:endParaRPr>
                    </a:p>
                  </a:txBody>
                  <a:tcPr marL="4424" marR="4424" marT="4424" marB="0" anchor="ctr">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chemeClr val="tx2"/>
                    </a:solidFill>
                  </a:tcPr>
                </a:tc>
                <a:extLst>
                  <a:ext uri="{0D108BD9-81ED-4DB2-BD59-A6C34878D82A}">
                    <a16:rowId xmlns:a16="http://schemas.microsoft.com/office/drawing/2014/main" val="3705984168"/>
                  </a:ext>
                </a:extLst>
              </a:tr>
              <a:tr h="818461">
                <a:tc>
                  <a:txBody>
                    <a:bodyPr/>
                    <a:lstStyle/>
                    <a:p>
                      <a:pPr lvl="6" algn="l" fontAlgn="ctr">
                        <a:buNone/>
                      </a:pPr>
                      <a:r>
                        <a:rPr lang="en-US" sz="900" u="none" strike="noStrike" dirty="0">
                          <a:effectLst/>
                        </a:rPr>
                        <a:t>Restrict Business &amp; First-Class Travel (VP level &amp; above)</a:t>
                      </a:r>
                      <a:endParaRPr lang="en-US" sz="900" b="1" i="0" u="none" strike="noStrike" dirty="0">
                        <a:solidFill>
                          <a:srgbClr val="000000"/>
                        </a:solidFill>
                        <a:effectLst/>
                        <a:latin typeface="Calibri" panose="020F0502020204030204" pitchFamily="34" charset="0"/>
                      </a:endParaRPr>
                    </a:p>
                  </a:txBody>
                  <a:tcPr marL="72000" marR="4424" marT="4424" marB="0" anchor="ctr">
                    <a:lnL w="12700" cap="flat" cmpd="sng" algn="ctr">
                      <a:solidFill>
                        <a:schemeClr val="tx2"/>
                      </a:solidFill>
                      <a:prstDash val="solid"/>
                      <a:round/>
                      <a:headEnd type="none" w="med" len="med"/>
                      <a:tailEnd type="none" w="med" len="med"/>
                    </a:lnL>
                    <a:lnT w="12700" cap="flat" cmpd="sng" algn="ctr">
                      <a:solidFill>
                        <a:srgbClr val="00B050"/>
                      </a:solidFill>
                      <a:prstDash val="solid"/>
                      <a:round/>
                      <a:headEnd type="none" w="med" len="med"/>
                      <a:tailEnd type="none" w="med" len="med"/>
                    </a:lnT>
                  </a:tcPr>
                </a:tc>
                <a:tc>
                  <a:txBody>
                    <a:bodyPr/>
                    <a:lstStyle/>
                    <a:p>
                      <a:pPr algn="l" fontAlgn="ctr">
                        <a:buNone/>
                      </a:pPr>
                      <a:r>
                        <a:rPr lang="en-US" sz="900" u="none" strike="noStrike" dirty="0">
                          <a:effectLst/>
                        </a:rPr>
                        <a:t>Business &amp; First-Class flights are responsible for ≈80 million kg </a:t>
                      </a:r>
                      <a:r>
                        <a:rPr lang="en-US" sz="900" u="none" strike="noStrike" dirty="0" err="1">
                          <a:effectLst/>
                        </a:rPr>
                        <a:t>CO₂e</a:t>
                      </a:r>
                      <a:r>
                        <a:rPr lang="en-US" sz="900" u="none" strike="noStrike" dirty="0">
                          <a:effectLst/>
                        </a:rPr>
                        <a:t> (45% of total travel emissions). Reducing premium travel by 20% with stricter approval policies would significantly lower emissions.</a:t>
                      </a:r>
                      <a:endParaRPr lang="en-US" sz="900" b="0" i="0" u="none" strike="noStrike" dirty="0">
                        <a:solidFill>
                          <a:srgbClr val="000000"/>
                        </a:solidFill>
                        <a:effectLst/>
                        <a:latin typeface="Calibri" panose="020F0502020204030204" pitchFamily="34" charset="0"/>
                      </a:endParaRPr>
                    </a:p>
                  </a:txBody>
                  <a:tcPr marL="72000" marR="4424" marT="4424" marB="36000" anchor="ctr">
                    <a:lnT w="12700" cap="flat" cmpd="sng" algn="ctr">
                      <a:solidFill>
                        <a:srgbClr val="00B050"/>
                      </a:solidFill>
                      <a:prstDash val="solid"/>
                      <a:round/>
                      <a:headEnd type="none" w="med" len="med"/>
                      <a:tailEnd type="none" w="med" len="med"/>
                    </a:lnT>
                  </a:tcPr>
                </a:tc>
                <a:tc>
                  <a:txBody>
                    <a:bodyPr/>
                    <a:lstStyle/>
                    <a:p>
                      <a:pPr algn="ctr" fontAlgn="ctr">
                        <a:buNone/>
                      </a:pPr>
                      <a:r>
                        <a:rPr lang="en-IN" sz="900" u="none" strike="noStrike" dirty="0">
                          <a:effectLst/>
                        </a:rPr>
                        <a:t>≈16M kg </a:t>
                      </a:r>
                      <a:r>
                        <a:rPr lang="en-IN" sz="900" u="none" strike="noStrike" dirty="0" err="1">
                          <a:effectLst/>
                        </a:rPr>
                        <a:t>CO₂e</a:t>
                      </a:r>
                      <a:endParaRPr lang="en-IN" sz="900" b="1" i="0" u="none" strike="noStrike" dirty="0">
                        <a:solidFill>
                          <a:srgbClr val="000000"/>
                        </a:solidFill>
                        <a:effectLst/>
                        <a:latin typeface="Calibri" panose="020F0502020204030204" pitchFamily="34" charset="0"/>
                      </a:endParaRPr>
                    </a:p>
                  </a:txBody>
                  <a:tcPr marL="4424" marR="4424" marT="4424" marB="0" anchor="ctr">
                    <a:lnT w="12700" cap="flat" cmpd="sng" algn="ctr">
                      <a:solidFill>
                        <a:srgbClr val="00B050"/>
                      </a:solidFill>
                      <a:prstDash val="solid"/>
                      <a:round/>
                      <a:headEnd type="none" w="med" len="med"/>
                      <a:tailEnd type="none" w="med" len="med"/>
                    </a:lnT>
                  </a:tcPr>
                </a:tc>
                <a:tc>
                  <a:txBody>
                    <a:bodyPr/>
                    <a:lstStyle/>
                    <a:p>
                      <a:pPr algn="ctr" fontAlgn="ctr">
                        <a:buNone/>
                      </a:pPr>
                      <a:r>
                        <a:rPr lang="en-IN" sz="900" u="none" strike="noStrike" dirty="0">
                          <a:effectLst/>
                        </a:rPr>
                        <a:t>≈$6.8M</a:t>
                      </a:r>
                      <a:endParaRPr lang="en-IN" sz="900" b="1" i="0" u="none" strike="noStrike" dirty="0">
                        <a:solidFill>
                          <a:srgbClr val="000000"/>
                        </a:solidFill>
                        <a:effectLst/>
                        <a:latin typeface="Calibri" panose="020F0502020204030204" pitchFamily="34" charset="0"/>
                      </a:endParaRPr>
                    </a:p>
                  </a:txBody>
                  <a:tcPr marL="4424" marR="4424" marT="4424" marB="0" anchor="ctr">
                    <a:lnR w="12700" cap="flat" cmpd="sng" algn="ctr">
                      <a:solidFill>
                        <a:schemeClr val="tx2"/>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80881897"/>
                  </a:ext>
                </a:extLst>
              </a:tr>
              <a:tr h="818461">
                <a:tc>
                  <a:txBody>
                    <a:bodyPr/>
                    <a:lstStyle/>
                    <a:p>
                      <a:pPr lvl="5" algn="l" fontAlgn="ctr">
                        <a:buNone/>
                      </a:pPr>
                      <a:r>
                        <a:rPr lang="en-IN" sz="900" u="none" strike="noStrike" dirty="0">
                          <a:effectLst/>
                        </a:rPr>
                        <a:t>Optimize High-Emission International Routes (AU→DE, AU→US, BR→US, AU→SG, BR→JP)[1]</a:t>
                      </a:r>
                    </a:p>
                    <a:p>
                      <a:pPr lvl="5" algn="l" fontAlgn="ctr">
                        <a:buNone/>
                      </a:pPr>
                      <a:r>
                        <a:rPr lang="en-IN" sz="900" b="0" u="none" strike="noStrike" cap="none" dirty="0">
                          <a:solidFill>
                            <a:schemeClr val="tx1"/>
                          </a:solidFill>
                          <a:effectLst/>
                          <a:sym typeface="Arial"/>
                        </a:rPr>
                        <a:t>And Extra Long Haul, Long Haul and Short Haul Routes</a:t>
                      </a:r>
                      <a:endParaRPr lang="en-IN" sz="900" b="0" i="0" u="none" strike="noStrike" cap="none" dirty="0">
                        <a:solidFill>
                          <a:schemeClr val="tx1"/>
                        </a:solidFill>
                        <a:effectLst/>
                        <a:latin typeface="+mn-lt"/>
                        <a:ea typeface="+mn-ea"/>
                        <a:cs typeface="+mn-cs"/>
                        <a:sym typeface="Arial"/>
                      </a:endParaRPr>
                    </a:p>
                  </a:txBody>
                  <a:tcPr marL="72000" marR="4424" marT="4424" marB="0" anchor="ctr">
                    <a:lnL w="12700" cap="flat" cmpd="sng" algn="ctr">
                      <a:solidFill>
                        <a:schemeClr val="tx2"/>
                      </a:solidFill>
                      <a:prstDash val="solid"/>
                      <a:round/>
                      <a:headEnd type="none" w="med" len="med"/>
                      <a:tailEnd type="none" w="med" len="med"/>
                    </a:lnL>
                  </a:tcPr>
                </a:tc>
                <a:tc>
                  <a:txBody>
                    <a:bodyPr/>
                    <a:lstStyle/>
                    <a:p>
                      <a:pPr algn="l" fontAlgn="ctr">
                        <a:buNone/>
                      </a:pPr>
                      <a:r>
                        <a:rPr lang="en-US" sz="900" u="none" strike="noStrike" dirty="0">
                          <a:effectLst/>
                        </a:rPr>
                        <a:t>These 5 routes alone generate ≈100M kg </a:t>
                      </a:r>
                      <a:r>
                        <a:rPr lang="en-US" sz="900" u="none" strike="noStrike" dirty="0" err="1">
                          <a:effectLst/>
                        </a:rPr>
                        <a:t>CO₂e</a:t>
                      </a:r>
                      <a:r>
                        <a:rPr lang="en-US" sz="900" u="none" strike="noStrike" dirty="0">
                          <a:effectLst/>
                        </a:rPr>
                        <a:t> (56% of total travel emissions). Conservative scenario[1] can reduce emissions by total 11%.</a:t>
                      </a:r>
                      <a:endParaRPr lang="en-US" sz="900" b="0" i="0" u="none" strike="noStrike" dirty="0">
                        <a:solidFill>
                          <a:srgbClr val="000000"/>
                        </a:solidFill>
                        <a:effectLst/>
                        <a:latin typeface="Calibri" panose="020F0502020204030204" pitchFamily="34" charset="0"/>
                      </a:endParaRPr>
                    </a:p>
                  </a:txBody>
                  <a:tcPr marL="72000" marR="4424" marT="4424" marB="36000" anchor="ctr"/>
                </a:tc>
                <a:tc>
                  <a:txBody>
                    <a:bodyPr/>
                    <a:lstStyle/>
                    <a:p>
                      <a:pPr algn="ctr" fontAlgn="ctr">
                        <a:buNone/>
                      </a:pPr>
                      <a:r>
                        <a:rPr lang="en-IN" sz="900" u="none" strike="noStrike" dirty="0">
                          <a:effectLst/>
                        </a:rPr>
                        <a:t>≈11.6M kg </a:t>
                      </a:r>
                      <a:r>
                        <a:rPr lang="en-IN" sz="900" u="none" strike="noStrike" dirty="0" err="1">
                          <a:effectLst/>
                        </a:rPr>
                        <a:t>CO₂e</a:t>
                      </a:r>
                      <a:r>
                        <a:rPr lang="en-IN" sz="900" u="none" strike="noStrike" dirty="0">
                          <a:effectLst/>
                        </a:rPr>
                        <a:t> +</a:t>
                      </a:r>
                    </a:p>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IN" sz="900" u="none" strike="noStrike" dirty="0">
                          <a:effectLst/>
                        </a:rPr>
                        <a:t>≈8M kg </a:t>
                      </a:r>
                      <a:r>
                        <a:rPr lang="en-IN" sz="900" u="none" strike="noStrike" dirty="0" err="1">
                          <a:effectLst/>
                        </a:rPr>
                        <a:t>CO₂e</a:t>
                      </a:r>
                      <a:endParaRPr lang="en-IN" sz="900" u="none" strike="noStrike" dirty="0">
                        <a:effectLst/>
                      </a:endParaRPr>
                    </a:p>
                  </a:txBody>
                  <a:tcPr marL="4424" marR="4424" marT="4424" marB="0" anchor="ctr">
                    <a:lnR w="12700" cap="flat" cmpd="sng" algn="ctr">
                      <a:noFill/>
                      <a:prstDash val="solid"/>
                      <a:round/>
                      <a:headEnd type="none" w="med" len="med"/>
                      <a:tailEnd type="none" w="med" len="med"/>
                    </a:lnR>
                  </a:tcPr>
                </a:tc>
                <a:tc>
                  <a:txBody>
                    <a:bodyPr/>
                    <a:lstStyle/>
                    <a:p>
                      <a:pPr algn="ctr" fontAlgn="ctr">
                        <a:buNone/>
                      </a:pPr>
                      <a:r>
                        <a:rPr lang="en-IN" sz="900" u="none" strike="noStrike" dirty="0">
                          <a:effectLst/>
                        </a:rPr>
                        <a:t>≈$0.5M</a:t>
                      </a:r>
                      <a:endParaRPr lang="en-IN" sz="900" b="1" i="0" u="none" strike="noStrike" dirty="0">
                        <a:solidFill>
                          <a:srgbClr val="000000"/>
                        </a:solidFill>
                        <a:effectLst/>
                        <a:latin typeface="Calibri" panose="020F0502020204030204" pitchFamily="34" charset="0"/>
                      </a:endParaRPr>
                    </a:p>
                  </a:txBody>
                  <a:tcPr marL="4424" marR="4424" marT="4424" marB="0" anchor="ctr">
                    <a:lnL w="12700" cap="flat" cmpd="sng" algn="ctr">
                      <a:no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5486521"/>
                  </a:ext>
                </a:extLst>
              </a:tr>
              <a:tr h="682051">
                <a:tc>
                  <a:txBody>
                    <a:bodyPr/>
                    <a:lstStyle/>
                    <a:p>
                      <a:pPr lvl="5" algn="l" fontAlgn="ctr">
                        <a:buNone/>
                      </a:pPr>
                      <a:r>
                        <a:rPr lang="en-US" sz="900" u="none" strike="noStrike" dirty="0">
                          <a:effectLst/>
                        </a:rPr>
                        <a:t>Adopt a Virtual-First Policy for introductory client meetings and internal meetings</a:t>
                      </a:r>
                      <a:endParaRPr lang="en-US" sz="900" b="1" i="0" u="none" strike="noStrike" dirty="0">
                        <a:solidFill>
                          <a:srgbClr val="000000"/>
                        </a:solidFill>
                        <a:effectLst/>
                        <a:latin typeface="Calibri" panose="020F0502020204030204" pitchFamily="34" charset="0"/>
                      </a:endParaRPr>
                    </a:p>
                  </a:txBody>
                  <a:tcPr marL="72000" marR="4424" marT="4424" marB="0" anchor="ctr">
                    <a:lnL w="12700" cap="flat" cmpd="sng" algn="ctr">
                      <a:solidFill>
                        <a:schemeClr val="tx2"/>
                      </a:solidFill>
                      <a:prstDash val="solid"/>
                      <a:round/>
                      <a:headEnd type="none" w="med" len="med"/>
                      <a:tailEnd type="none" w="med" len="med"/>
                    </a:lnL>
                  </a:tcPr>
                </a:tc>
                <a:tc>
                  <a:txBody>
                    <a:bodyPr/>
                    <a:lstStyle/>
                    <a:p>
                      <a:pPr algn="l" fontAlgn="ctr">
                        <a:buNone/>
                      </a:pPr>
                      <a:r>
                        <a:rPr lang="en-US" sz="900" u="none" strike="noStrike" dirty="0">
                          <a:effectLst/>
                        </a:rPr>
                        <a:t>Customer Visits generate 76.9M kg </a:t>
                      </a:r>
                      <a:r>
                        <a:rPr lang="en-US" sz="900" u="none" strike="noStrike" dirty="0" err="1">
                          <a:effectLst/>
                        </a:rPr>
                        <a:t>CO₂e</a:t>
                      </a:r>
                      <a:r>
                        <a:rPr lang="en-US" sz="900" u="none" strike="noStrike" dirty="0">
                          <a:effectLst/>
                        </a:rPr>
                        <a:t> (43%) of total emissions. Replacing just 10% of these trips with virtual meetings would reduce unnecessary travel while maintaining client engagement.</a:t>
                      </a:r>
                      <a:endParaRPr lang="en-US" sz="900" b="0" i="0" u="none" strike="noStrike" dirty="0">
                        <a:solidFill>
                          <a:srgbClr val="000000"/>
                        </a:solidFill>
                        <a:effectLst/>
                        <a:latin typeface="Calibri" panose="020F0502020204030204" pitchFamily="34" charset="0"/>
                      </a:endParaRPr>
                    </a:p>
                  </a:txBody>
                  <a:tcPr marL="72000" marR="4424" marT="4424" marB="36000" anchor="ctr"/>
                </a:tc>
                <a:tc>
                  <a:txBody>
                    <a:bodyPr/>
                    <a:lstStyle/>
                    <a:p>
                      <a:pPr algn="ctr" fontAlgn="ctr">
                        <a:buNone/>
                      </a:pPr>
                      <a:r>
                        <a:rPr lang="en-IN" sz="900" u="none" strike="noStrike" dirty="0">
                          <a:effectLst/>
                        </a:rPr>
                        <a:t>≈7.7M kg </a:t>
                      </a:r>
                      <a:r>
                        <a:rPr lang="en-IN" sz="900" u="none" strike="noStrike" dirty="0" err="1">
                          <a:effectLst/>
                        </a:rPr>
                        <a:t>CO₂e</a:t>
                      </a:r>
                      <a:endParaRPr lang="en-IN" sz="900" b="1" i="0" u="none" strike="noStrike" dirty="0">
                        <a:solidFill>
                          <a:srgbClr val="000000"/>
                        </a:solidFill>
                        <a:effectLst/>
                        <a:latin typeface="Calibri" panose="020F0502020204030204" pitchFamily="34" charset="0"/>
                      </a:endParaRPr>
                    </a:p>
                  </a:txBody>
                  <a:tcPr marL="4424" marR="4424" marT="4424" marB="0" anchor="ctr"/>
                </a:tc>
                <a:tc>
                  <a:txBody>
                    <a:bodyPr/>
                    <a:lstStyle/>
                    <a:p>
                      <a:pPr algn="ctr" fontAlgn="ctr">
                        <a:buNone/>
                      </a:pPr>
                      <a:r>
                        <a:rPr lang="en-IN" sz="900" u="none" strike="noStrike" dirty="0">
                          <a:effectLst/>
                        </a:rPr>
                        <a:t>≈$6M</a:t>
                      </a:r>
                      <a:endParaRPr lang="en-IN" sz="900" b="1" i="0" u="none" strike="noStrike" dirty="0">
                        <a:solidFill>
                          <a:srgbClr val="000000"/>
                        </a:solidFill>
                        <a:effectLst/>
                        <a:latin typeface="Calibri" panose="020F0502020204030204" pitchFamily="34" charset="0"/>
                      </a:endParaRPr>
                    </a:p>
                  </a:txBody>
                  <a:tcPr marL="4424" marR="4424" marT="4424" marB="0" anchor="ctr">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946584227"/>
                  </a:ext>
                </a:extLst>
              </a:tr>
              <a:tr h="682051">
                <a:tc>
                  <a:txBody>
                    <a:bodyPr/>
                    <a:lstStyle/>
                    <a:p>
                      <a:pPr lvl="5" algn="l" fontAlgn="ctr">
                        <a:buNone/>
                      </a:pPr>
                      <a:r>
                        <a:rPr lang="en-US" sz="900" u="none" strike="noStrike" dirty="0">
                          <a:effectLst/>
                        </a:rPr>
                        <a:t>Replace Return Flights with Rail on Feasible European Corridors (e.g., DE→FR, DE→NL, DE→IT, DE→ES and domestic Germany)</a:t>
                      </a:r>
                      <a:endParaRPr lang="en-US" sz="900" b="1" i="0" u="none" strike="noStrike" dirty="0">
                        <a:solidFill>
                          <a:srgbClr val="000000"/>
                        </a:solidFill>
                        <a:effectLst/>
                        <a:latin typeface="Calibri" panose="020F0502020204030204" pitchFamily="34" charset="0"/>
                      </a:endParaRPr>
                    </a:p>
                  </a:txBody>
                  <a:tcPr marL="72000" marR="4424" marT="4424" marB="0" anchor="ctr">
                    <a:lnL w="12700" cap="flat" cmpd="sng" algn="ctr">
                      <a:solidFill>
                        <a:schemeClr val="tx2"/>
                      </a:solidFill>
                      <a:prstDash val="solid"/>
                      <a:round/>
                      <a:headEnd type="none" w="med" len="med"/>
                      <a:tailEnd type="none" w="med" len="med"/>
                    </a:lnL>
                    <a:solidFill>
                      <a:schemeClr val="lt1"/>
                    </a:solidFill>
                  </a:tcPr>
                </a:tc>
                <a:tc>
                  <a:txBody>
                    <a:bodyPr/>
                    <a:lstStyle/>
                    <a:p>
                      <a:pPr algn="l" fontAlgn="ctr">
                        <a:buNone/>
                      </a:pPr>
                      <a:r>
                        <a:rPr lang="en-US" sz="900" u="none" strike="noStrike" dirty="0">
                          <a:effectLst/>
                        </a:rPr>
                        <a:t>Rail-connected European routes currently generate ≈1.67M kg </a:t>
                      </a:r>
                      <a:r>
                        <a:rPr lang="en-US" sz="900" u="none" strike="noStrike" dirty="0" err="1">
                          <a:effectLst/>
                        </a:rPr>
                        <a:t>CO₂e</a:t>
                      </a:r>
                      <a:r>
                        <a:rPr lang="en-US" sz="900" u="none" strike="noStrike" dirty="0">
                          <a:effectLst/>
                        </a:rPr>
                        <a:t> from Business &amp; First-Class flights alone. Replacing these flights with rail returns is a quick-win solution.[2]</a:t>
                      </a:r>
                      <a:endParaRPr lang="en-US" sz="900" b="0" i="0" u="none" strike="noStrike" dirty="0">
                        <a:solidFill>
                          <a:srgbClr val="000000"/>
                        </a:solidFill>
                        <a:effectLst/>
                        <a:latin typeface="Calibri" panose="020F0502020204030204" pitchFamily="34" charset="0"/>
                      </a:endParaRPr>
                    </a:p>
                  </a:txBody>
                  <a:tcPr marL="72000" marR="4424" marT="4424" marB="36000" anchor="ctr"/>
                </a:tc>
                <a:tc>
                  <a:txBody>
                    <a:bodyPr/>
                    <a:lstStyle/>
                    <a:p>
                      <a:pPr algn="ctr" fontAlgn="ctr">
                        <a:buNone/>
                      </a:pPr>
                      <a:r>
                        <a:rPr lang="en-IN" sz="900" u="none" strike="noStrike" dirty="0">
                          <a:effectLst/>
                        </a:rPr>
                        <a:t>≈3.3M kg </a:t>
                      </a:r>
                      <a:r>
                        <a:rPr lang="en-IN" sz="900" u="none" strike="noStrike" dirty="0" err="1">
                          <a:effectLst/>
                        </a:rPr>
                        <a:t>CO₂e</a:t>
                      </a:r>
                      <a:endParaRPr lang="en-IN" sz="900" b="1" i="0" u="none" strike="noStrike" dirty="0">
                        <a:solidFill>
                          <a:srgbClr val="000000"/>
                        </a:solidFill>
                        <a:effectLst/>
                        <a:latin typeface="Calibri" panose="020F0502020204030204" pitchFamily="34" charset="0"/>
                      </a:endParaRPr>
                    </a:p>
                  </a:txBody>
                  <a:tcPr marL="4424" marR="4424" marT="4424"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IN" sz="900" u="none" strike="noStrike" dirty="0">
                          <a:effectLst/>
                        </a:rPr>
                        <a:t>≈$0.5M</a:t>
                      </a:r>
                      <a:endParaRPr lang="en-IN" sz="900" b="1" u="none" strike="noStrike" dirty="0">
                        <a:solidFill>
                          <a:srgbClr val="000000"/>
                        </a:solidFill>
                        <a:effectLst/>
                      </a:endParaRPr>
                    </a:p>
                    <a:p>
                      <a:pPr algn="ctr" fontAlgn="ctr">
                        <a:buNone/>
                      </a:pPr>
                      <a:r>
                        <a:rPr lang="en-US" sz="900" u="none" strike="noStrike" dirty="0">
                          <a:effectLst/>
                        </a:rPr>
                        <a:t>(No return airfare and airport-related costs)</a:t>
                      </a:r>
                      <a:endParaRPr lang="en-US" sz="900" b="0" i="0" u="none" strike="noStrike" dirty="0">
                        <a:solidFill>
                          <a:srgbClr val="000000"/>
                        </a:solidFill>
                        <a:effectLst/>
                        <a:latin typeface="Calibri" panose="020F0502020204030204" pitchFamily="34" charset="0"/>
                      </a:endParaRPr>
                    </a:p>
                  </a:txBody>
                  <a:tcPr marL="4424" marR="4424" marT="4424" marB="0" anchor="ctr">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649307619"/>
                  </a:ext>
                </a:extLst>
              </a:tr>
              <a:tr h="706066">
                <a:tc>
                  <a:txBody>
                    <a:bodyPr/>
                    <a:lstStyle/>
                    <a:p>
                      <a:pPr lvl="5" algn="l" fontAlgn="ctr">
                        <a:buNone/>
                      </a:pPr>
                      <a:r>
                        <a:rPr lang="en-US" sz="900" u="none" strike="noStrike" dirty="0">
                          <a:effectLst/>
                        </a:rPr>
                        <a:t>Deploy </a:t>
                      </a:r>
                      <a:r>
                        <a:rPr lang="en-IN" sz="900" dirty="0"/>
                        <a:t>AI-powered Carbon-Intelligence Travel </a:t>
                      </a:r>
                      <a:r>
                        <a:rPr lang="en-US" sz="900" u="none" strike="noStrike" dirty="0">
                          <a:effectLst/>
                        </a:rPr>
                        <a:t>app using </a:t>
                      </a:r>
                      <a:r>
                        <a:rPr lang="en-US" sz="900" u="none" strike="noStrike" dirty="0" err="1">
                          <a:effectLst/>
                        </a:rPr>
                        <a:t>Celonis</a:t>
                      </a:r>
                      <a:endParaRPr lang="en-US" sz="900" b="1" i="0" u="none" strike="noStrike" dirty="0">
                        <a:solidFill>
                          <a:srgbClr val="000000"/>
                        </a:solidFill>
                        <a:effectLst/>
                        <a:latin typeface="Calibri" panose="020F0502020204030204" pitchFamily="34" charset="0"/>
                      </a:endParaRPr>
                    </a:p>
                  </a:txBody>
                  <a:tcPr marL="72000" marR="4424" marT="4424" marB="0" anchor="ctr">
                    <a:lnL w="12700" cap="flat" cmpd="sng" algn="ctr">
                      <a:solidFill>
                        <a:schemeClr val="tx2"/>
                      </a:solidFill>
                      <a:prstDash val="solid"/>
                      <a:round/>
                      <a:headEnd type="none" w="med" len="med"/>
                      <a:tailEnd type="none" w="med" len="med"/>
                    </a:lnL>
                    <a:lnB w="12700" cap="flat" cmpd="sng" algn="ctr">
                      <a:solidFill>
                        <a:schemeClr val="tx2"/>
                      </a:solidFill>
                      <a:prstDash val="solid"/>
                      <a:round/>
                      <a:headEnd type="none" w="med" len="med"/>
                      <a:tailEnd type="none" w="med" len="med"/>
                    </a:lnB>
                  </a:tcPr>
                </a:tc>
                <a:tc>
                  <a:txBody>
                    <a:bodyPr/>
                    <a:lstStyle/>
                    <a:p>
                      <a:pPr algn="l" fontAlgn="ctr">
                        <a:buNone/>
                      </a:pPr>
                      <a:r>
                        <a:rPr lang="en-US" sz="900" u="none" strike="noStrike" dirty="0">
                          <a:effectLst/>
                        </a:rPr>
                        <a:t>Integrate carbon budgets, approval workflows, low emission recommendations, carbon calculators and policy checks into the booking process to prevent high-carbon travel before it is booked.</a:t>
                      </a:r>
                      <a:endParaRPr lang="en-US" sz="900" b="0" i="0" u="none" strike="noStrike" dirty="0">
                        <a:solidFill>
                          <a:srgbClr val="000000"/>
                        </a:solidFill>
                        <a:effectLst/>
                        <a:latin typeface="Calibri" panose="020F0502020204030204" pitchFamily="34" charset="0"/>
                      </a:endParaRPr>
                    </a:p>
                  </a:txBody>
                  <a:tcPr marL="72000" marR="4424" marT="4424" marB="36000" anchor="ctr">
                    <a:lnB w="12700" cap="flat" cmpd="sng" algn="ctr">
                      <a:solidFill>
                        <a:schemeClr val="tx2"/>
                      </a:solidFill>
                      <a:prstDash val="solid"/>
                      <a:round/>
                      <a:headEnd type="none" w="med" len="med"/>
                      <a:tailEnd type="none" w="med" len="med"/>
                    </a:lnB>
                  </a:tcPr>
                </a:tc>
                <a:tc>
                  <a:txBody>
                    <a:bodyPr/>
                    <a:lstStyle/>
                    <a:p>
                      <a:pPr algn="ctr" fontAlgn="ctr">
                        <a:buNone/>
                      </a:pPr>
                      <a:r>
                        <a:rPr lang="en-IN" sz="900" u="none" strike="noStrike" dirty="0">
                          <a:effectLst/>
                        </a:rPr>
                        <a:t>Continuous long-term reduction</a:t>
                      </a:r>
                      <a:endParaRPr lang="en-IN" sz="900" b="0" i="0" u="none" strike="noStrike" dirty="0">
                        <a:solidFill>
                          <a:srgbClr val="000000"/>
                        </a:solidFill>
                        <a:effectLst/>
                        <a:latin typeface="Calibri" panose="020F0502020204030204" pitchFamily="34" charset="0"/>
                      </a:endParaRPr>
                    </a:p>
                  </a:txBody>
                  <a:tcPr marL="4424" marR="4424" marT="4424" marB="0" anchor="ctr">
                    <a:lnB w="12700" cap="flat" cmpd="sng" algn="ctr">
                      <a:solidFill>
                        <a:schemeClr val="tx2"/>
                      </a:solidFill>
                      <a:prstDash val="solid"/>
                      <a:round/>
                      <a:headEnd type="none" w="med" len="med"/>
                      <a:tailEnd type="none" w="med" len="med"/>
                    </a:lnB>
                  </a:tcPr>
                </a:tc>
                <a:tc>
                  <a:txBody>
                    <a:bodyPr/>
                    <a:lstStyle/>
                    <a:p>
                      <a:pPr algn="ctr" fontAlgn="ctr">
                        <a:buNone/>
                      </a:pPr>
                      <a:r>
                        <a:rPr lang="en-US" sz="900" u="none" strike="noStrike" dirty="0">
                          <a:effectLst/>
                        </a:rPr>
                        <a:t>Reduced travel and administrative costs</a:t>
                      </a:r>
                      <a:endParaRPr lang="en-US" sz="900" b="0" i="0" u="none" strike="noStrike" dirty="0">
                        <a:solidFill>
                          <a:srgbClr val="000000"/>
                        </a:solidFill>
                        <a:effectLst/>
                        <a:latin typeface="Calibri" panose="020F0502020204030204" pitchFamily="34" charset="0"/>
                      </a:endParaRPr>
                    </a:p>
                  </a:txBody>
                  <a:tcPr marL="4424" marR="4424" marT="4424" marB="0" anchor="ctr">
                    <a:lnR w="12700" cap="flat" cmpd="sng" algn="ctr">
                      <a:solidFill>
                        <a:schemeClr val="tx2"/>
                      </a:solidFill>
                      <a:prstDash val="solid"/>
                      <a:round/>
                      <a:headEnd type="none" w="med" len="med"/>
                      <a:tailEnd type="none" w="med" len="med"/>
                    </a:lnR>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21803458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44985D9-1C02-2EF1-951F-5EE61A3ED62F}"/>
              </a:ext>
            </a:extLst>
          </p:cNvPr>
          <p:cNvSpPr/>
          <p:nvPr/>
        </p:nvSpPr>
        <p:spPr>
          <a:xfrm>
            <a:off x="1359813" y="431721"/>
            <a:ext cx="7784188" cy="4711779"/>
          </a:xfrm>
          <a:custGeom>
            <a:avLst/>
            <a:gdLst>
              <a:gd name="connsiteX0" fmla="*/ 10378917 w 10378917"/>
              <a:gd name="connsiteY0" fmla="*/ 0 h 6282372"/>
              <a:gd name="connsiteX1" fmla="*/ 10378917 w 10378917"/>
              <a:gd name="connsiteY1" fmla="*/ 772431 h 6282372"/>
              <a:gd name="connsiteX2" fmla="*/ 9622619 w 10378917"/>
              <a:gd name="connsiteY2" fmla="*/ 1528730 h 6282372"/>
              <a:gd name="connsiteX3" fmla="*/ 8672116 w 10378917"/>
              <a:gd name="connsiteY3" fmla="*/ 1922444 h 6282372"/>
              <a:gd name="connsiteX4" fmla="*/ 8671608 w 10378917"/>
              <a:gd name="connsiteY4" fmla="*/ 1922444 h 6282372"/>
              <a:gd name="connsiteX5" fmla="*/ 7720852 w 10378917"/>
              <a:gd name="connsiteY5" fmla="*/ 1528094 h 6282372"/>
              <a:gd name="connsiteX6" fmla="*/ 7701293 w 10378917"/>
              <a:gd name="connsiteY6" fmla="*/ 1508535 h 6282372"/>
              <a:gd name="connsiteX7" fmla="*/ 7353427 w 10378917"/>
              <a:gd name="connsiteY7" fmla="*/ 1364131 h 6282372"/>
              <a:gd name="connsiteX8" fmla="*/ 7351649 w 10378917"/>
              <a:gd name="connsiteY8" fmla="*/ 1364131 h 6282372"/>
              <a:gd name="connsiteX9" fmla="*/ 6995274 w 10378917"/>
              <a:gd name="connsiteY9" fmla="*/ 1514377 h 6282372"/>
              <a:gd name="connsiteX10" fmla="*/ 6964031 w 10378917"/>
              <a:gd name="connsiteY10" fmla="*/ 1545621 h 6282372"/>
              <a:gd name="connsiteX11" fmla="*/ 6817467 w 10378917"/>
              <a:gd name="connsiteY11" fmla="*/ 1899710 h 6282372"/>
              <a:gd name="connsiteX12" fmla="*/ 6964412 w 10378917"/>
              <a:gd name="connsiteY12" fmla="*/ 2253672 h 6282372"/>
              <a:gd name="connsiteX13" fmla="*/ 7313293 w 10378917"/>
              <a:gd name="connsiteY13" fmla="*/ 2601792 h 6282372"/>
              <a:gd name="connsiteX14" fmla="*/ 7693038 w 10378917"/>
              <a:gd name="connsiteY14" fmla="*/ 3529815 h 6282372"/>
              <a:gd name="connsiteX15" fmla="*/ 7291576 w 10378917"/>
              <a:gd name="connsiteY15" fmla="*/ 4456314 h 6282372"/>
              <a:gd name="connsiteX16" fmla="*/ 7272907 w 10378917"/>
              <a:gd name="connsiteY16" fmla="*/ 4474222 h 6282372"/>
              <a:gd name="connsiteX17" fmla="*/ 6375746 w 10378917"/>
              <a:gd name="connsiteY17" fmla="*/ 4826533 h 6282372"/>
              <a:gd name="connsiteX18" fmla="*/ 5490778 w 10378917"/>
              <a:gd name="connsiteY18" fmla="*/ 4444630 h 6282372"/>
              <a:gd name="connsiteX19" fmla="*/ 4331987 w 10378917"/>
              <a:gd name="connsiteY19" fmla="*/ 3255611 h 6282372"/>
              <a:gd name="connsiteX20" fmla="*/ 3983994 w 10378917"/>
              <a:gd name="connsiteY20" fmla="*/ 3107524 h 6282372"/>
              <a:gd name="connsiteX21" fmla="*/ 3633969 w 10378917"/>
              <a:gd name="connsiteY21" fmla="*/ 3251167 h 6282372"/>
              <a:gd name="connsiteX22" fmla="*/ 3490327 w 10378917"/>
              <a:gd name="connsiteY22" fmla="*/ 3597889 h 6282372"/>
              <a:gd name="connsiteX23" fmla="*/ 3633969 w 10378917"/>
              <a:gd name="connsiteY23" fmla="*/ 3944611 h 6282372"/>
              <a:gd name="connsiteX24" fmla="*/ 3637907 w 10378917"/>
              <a:gd name="connsiteY24" fmla="*/ 3948675 h 6282372"/>
              <a:gd name="connsiteX25" fmla="*/ 3944877 w 10378917"/>
              <a:gd name="connsiteY25" fmla="*/ 4268601 h 6282372"/>
              <a:gd name="connsiteX26" fmla="*/ 4248037 w 10378917"/>
              <a:gd name="connsiteY26" fmla="*/ 5034058 h 6282372"/>
              <a:gd name="connsiteX27" fmla="*/ 3929001 w 10378917"/>
              <a:gd name="connsiteY27" fmla="*/ 5793037 h 6282372"/>
              <a:gd name="connsiteX28" fmla="*/ 3158972 w 10378917"/>
              <a:gd name="connsiteY28" fmla="*/ 6112073 h 6282372"/>
              <a:gd name="connsiteX29" fmla="*/ 3151351 w 10378917"/>
              <a:gd name="connsiteY29" fmla="*/ 6112073 h 6282372"/>
              <a:gd name="connsiteX30" fmla="*/ 2378148 w 10378917"/>
              <a:gd name="connsiteY30" fmla="*/ 5782497 h 6282372"/>
              <a:gd name="connsiteX31" fmla="*/ 1830504 w 10378917"/>
              <a:gd name="connsiteY31" fmla="*/ 5549062 h 6282372"/>
              <a:gd name="connsiteX32" fmla="*/ 1825042 w 10378917"/>
              <a:gd name="connsiteY32" fmla="*/ 5549062 h 6282372"/>
              <a:gd name="connsiteX33" fmla="*/ 1279684 w 10378917"/>
              <a:gd name="connsiteY33" fmla="*/ 5775003 h 6282372"/>
              <a:gd name="connsiteX34" fmla="*/ 772380 w 10378917"/>
              <a:gd name="connsiteY34" fmla="*/ 6282372 h 6282372"/>
              <a:gd name="connsiteX35" fmla="*/ 0 w 10378917"/>
              <a:gd name="connsiteY35" fmla="*/ 6282372 h 6282372"/>
              <a:gd name="connsiteX36" fmla="*/ 893844 w 10378917"/>
              <a:gd name="connsiteY36" fmla="*/ 5388528 h 6282372"/>
              <a:gd name="connsiteX37" fmla="*/ 1825169 w 10378917"/>
              <a:gd name="connsiteY37" fmla="*/ 5002687 h 6282372"/>
              <a:gd name="connsiteX38" fmla="*/ 1834440 w 10378917"/>
              <a:gd name="connsiteY38" fmla="*/ 5002687 h 6282372"/>
              <a:gd name="connsiteX39" fmla="*/ 2769703 w 10378917"/>
              <a:gd name="connsiteY39" fmla="*/ 5401355 h 6282372"/>
              <a:gd name="connsiteX40" fmla="*/ 3155289 w 10378917"/>
              <a:gd name="connsiteY40" fmla="*/ 5565699 h 6282372"/>
              <a:gd name="connsiteX41" fmla="*/ 3159099 w 10378917"/>
              <a:gd name="connsiteY41" fmla="*/ 5565699 h 6282372"/>
              <a:gd name="connsiteX42" fmla="*/ 3543035 w 10378917"/>
              <a:gd name="connsiteY42" fmla="*/ 5406563 h 6282372"/>
              <a:gd name="connsiteX43" fmla="*/ 3550908 w 10378917"/>
              <a:gd name="connsiteY43" fmla="*/ 4646439 h 6282372"/>
              <a:gd name="connsiteX44" fmla="*/ 3245970 w 10378917"/>
              <a:gd name="connsiteY44" fmla="*/ 4328547 h 6282372"/>
              <a:gd name="connsiteX45" fmla="*/ 3248129 w 10378917"/>
              <a:gd name="connsiteY45" fmla="*/ 2864946 h 6282372"/>
              <a:gd name="connsiteX46" fmla="*/ 3987804 w 10378917"/>
              <a:gd name="connsiteY46" fmla="*/ 2561404 h 6282372"/>
              <a:gd name="connsiteX47" fmla="*/ 4723416 w 10378917"/>
              <a:gd name="connsiteY47" fmla="*/ 2874597 h 6282372"/>
              <a:gd name="connsiteX48" fmla="*/ 5882078 w 10378917"/>
              <a:gd name="connsiteY48" fmla="*/ 4063488 h 6282372"/>
              <a:gd name="connsiteX49" fmla="*/ 6894940 w 10378917"/>
              <a:gd name="connsiteY49" fmla="*/ 4080253 h 6282372"/>
              <a:gd name="connsiteX50" fmla="*/ 6913611 w 10378917"/>
              <a:gd name="connsiteY50" fmla="*/ 4062345 h 6282372"/>
              <a:gd name="connsiteX51" fmla="*/ 7147044 w 10378917"/>
              <a:gd name="connsiteY51" fmla="*/ 3524607 h 6282372"/>
              <a:gd name="connsiteX52" fmla="*/ 6927581 w 10378917"/>
              <a:gd name="connsiteY52" fmla="*/ 2988520 h 6282372"/>
              <a:gd name="connsiteX53" fmla="*/ 6578698 w 10378917"/>
              <a:gd name="connsiteY53" fmla="*/ 2640274 h 6282372"/>
              <a:gd name="connsiteX54" fmla="*/ 6271475 w 10378917"/>
              <a:gd name="connsiteY54" fmla="*/ 1900091 h 6282372"/>
              <a:gd name="connsiteX55" fmla="*/ 6578063 w 10378917"/>
              <a:gd name="connsiteY55" fmla="*/ 1159654 h 6282372"/>
              <a:gd name="connsiteX56" fmla="*/ 6609307 w 10378917"/>
              <a:gd name="connsiteY56" fmla="*/ 1128410 h 6282372"/>
              <a:gd name="connsiteX57" fmla="*/ 7349871 w 10378917"/>
              <a:gd name="connsiteY57" fmla="*/ 818138 h 6282372"/>
              <a:gd name="connsiteX58" fmla="*/ 7353681 w 10378917"/>
              <a:gd name="connsiteY58" fmla="*/ 818138 h 6282372"/>
              <a:gd name="connsiteX59" fmla="*/ 8087769 w 10378917"/>
              <a:gd name="connsiteY59" fmla="*/ 1122695 h 6282372"/>
              <a:gd name="connsiteX60" fmla="*/ 8107327 w 10378917"/>
              <a:gd name="connsiteY60" fmla="*/ 1142254 h 6282372"/>
              <a:gd name="connsiteX61" fmla="*/ 8671863 w 10378917"/>
              <a:gd name="connsiteY61" fmla="*/ 1376450 h 6282372"/>
              <a:gd name="connsiteX62" fmla="*/ 8672116 w 10378917"/>
              <a:gd name="connsiteY62" fmla="*/ 1376450 h 6282372"/>
              <a:gd name="connsiteX63" fmla="*/ 9236398 w 10378917"/>
              <a:gd name="connsiteY63" fmla="*/ 1142762 h 6282372"/>
              <a:gd name="connsiteX64" fmla="*/ 10378917 w 10378917"/>
              <a:gd name="connsiteY64" fmla="*/ 0 h 6282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378917" h="6282372">
                <a:moveTo>
                  <a:pt x="10378917" y="0"/>
                </a:moveTo>
                <a:lnTo>
                  <a:pt x="10378917" y="772431"/>
                </a:lnTo>
                <a:lnTo>
                  <a:pt x="9622619" y="1528730"/>
                </a:lnTo>
                <a:cubicBezTo>
                  <a:pt x="9368737" y="1782612"/>
                  <a:pt x="9031158" y="1922444"/>
                  <a:pt x="8672116" y="1922444"/>
                </a:cubicBezTo>
                <a:cubicBezTo>
                  <a:pt x="8671989" y="1922444"/>
                  <a:pt x="8671863" y="1922444"/>
                  <a:pt x="8671608" y="1922444"/>
                </a:cubicBezTo>
                <a:cubicBezTo>
                  <a:pt x="8312440" y="1922316"/>
                  <a:pt x="7974734" y="1782231"/>
                  <a:pt x="7720852" y="1528094"/>
                </a:cubicBezTo>
                <a:lnTo>
                  <a:pt x="7701293" y="1508535"/>
                </a:lnTo>
                <a:cubicBezTo>
                  <a:pt x="7608199" y="1415314"/>
                  <a:pt x="7484751" y="1364131"/>
                  <a:pt x="7353427" y="1364131"/>
                </a:cubicBezTo>
                <a:cubicBezTo>
                  <a:pt x="7352792" y="1364131"/>
                  <a:pt x="7352285" y="1364131"/>
                  <a:pt x="7351649" y="1364131"/>
                </a:cubicBezTo>
                <a:cubicBezTo>
                  <a:pt x="7218294" y="1364639"/>
                  <a:pt x="7091671" y="1417981"/>
                  <a:pt x="6995274" y="1514377"/>
                </a:cubicBezTo>
                <a:lnTo>
                  <a:pt x="6964031" y="1545621"/>
                </a:lnTo>
                <a:cubicBezTo>
                  <a:pt x="6869413" y="1640240"/>
                  <a:pt x="6817341" y="1765974"/>
                  <a:pt x="6817467" y="1899710"/>
                </a:cubicBezTo>
                <a:cubicBezTo>
                  <a:pt x="6817467" y="2033446"/>
                  <a:pt x="6869667" y="2159180"/>
                  <a:pt x="6964412" y="2253672"/>
                </a:cubicBezTo>
                <a:lnTo>
                  <a:pt x="7313293" y="2601792"/>
                </a:lnTo>
                <a:cubicBezTo>
                  <a:pt x="7561587" y="2849578"/>
                  <a:pt x="7696467" y="3179155"/>
                  <a:pt x="7693038" y="3529815"/>
                </a:cubicBezTo>
                <a:cubicBezTo>
                  <a:pt x="7689609" y="3882126"/>
                  <a:pt x="7546982" y="4211195"/>
                  <a:pt x="7291576" y="4456314"/>
                </a:cubicBezTo>
                <a:lnTo>
                  <a:pt x="7272907" y="4474222"/>
                </a:lnTo>
                <a:cubicBezTo>
                  <a:pt x="7030455" y="4706894"/>
                  <a:pt x="6711545" y="4831739"/>
                  <a:pt x="6375746" y="4826533"/>
                </a:cubicBezTo>
                <a:cubicBezTo>
                  <a:pt x="6039692" y="4820944"/>
                  <a:pt x="5725355" y="4685303"/>
                  <a:pt x="5490778" y="4444630"/>
                </a:cubicBezTo>
                <a:cubicBezTo>
                  <a:pt x="5122337" y="4066663"/>
                  <a:pt x="4675026" y="3607796"/>
                  <a:pt x="4331987" y="3255611"/>
                </a:cubicBezTo>
                <a:cubicBezTo>
                  <a:pt x="4239782" y="3160993"/>
                  <a:pt x="4116206" y="3108286"/>
                  <a:pt x="3983994" y="3107524"/>
                </a:cubicBezTo>
                <a:cubicBezTo>
                  <a:pt x="3851782" y="3106889"/>
                  <a:pt x="3727572" y="3157691"/>
                  <a:pt x="3633969" y="3251167"/>
                </a:cubicBezTo>
                <a:cubicBezTo>
                  <a:pt x="3541383" y="3343752"/>
                  <a:pt x="3490327" y="3466948"/>
                  <a:pt x="3490327" y="3597889"/>
                </a:cubicBezTo>
                <a:cubicBezTo>
                  <a:pt x="3490327" y="3728831"/>
                  <a:pt x="3541383" y="3852025"/>
                  <a:pt x="3633969" y="3944611"/>
                </a:cubicBezTo>
                <a:lnTo>
                  <a:pt x="3637907" y="3948675"/>
                </a:lnTo>
                <a:lnTo>
                  <a:pt x="3944877" y="4268601"/>
                </a:lnTo>
                <a:cubicBezTo>
                  <a:pt x="4143385" y="4475492"/>
                  <a:pt x="4251085" y="4747282"/>
                  <a:pt x="4248037" y="5034058"/>
                </a:cubicBezTo>
                <a:cubicBezTo>
                  <a:pt x="4245116" y="5320707"/>
                  <a:pt x="4131827" y="5590338"/>
                  <a:pt x="3929001" y="5793037"/>
                </a:cubicBezTo>
                <a:cubicBezTo>
                  <a:pt x="3723127" y="5998912"/>
                  <a:pt x="3449940" y="6112073"/>
                  <a:pt x="3158972" y="6112073"/>
                </a:cubicBezTo>
                <a:cubicBezTo>
                  <a:pt x="3156432" y="6112073"/>
                  <a:pt x="3153891" y="6112073"/>
                  <a:pt x="3151351" y="6112073"/>
                </a:cubicBezTo>
                <a:cubicBezTo>
                  <a:pt x="2857590" y="6110041"/>
                  <a:pt x="2583006" y="5992943"/>
                  <a:pt x="2378148" y="5782497"/>
                </a:cubicBezTo>
                <a:cubicBezTo>
                  <a:pt x="2233108" y="5633393"/>
                  <a:pt x="2038537" y="5550458"/>
                  <a:pt x="1830504" y="5549062"/>
                </a:cubicBezTo>
                <a:cubicBezTo>
                  <a:pt x="1828725" y="5549062"/>
                  <a:pt x="1826820" y="5549062"/>
                  <a:pt x="1825042" y="5549062"/>
                </a:cubicBezTo>
                <a:cubicBezTo>
                  <a:pt x="1619041" y="5549062"/>
                  <a:pt x="1425613" y="5629202"/>
                  <a:pt x="1279684" y="5775003"/>
                </a:cubicBezTo>
                <a:lnTo>
                  <a:pt x="772380" y="6282372"/>
                </a:lnTo>
                <a:lnTo>
                  <a:pt x="0" y="6282372"/>
                </a:lnTo>
                <a:lnTo>
                  <a:pt x="893844" y="5388528"/>
                </a:lnTo>
                <a:cubicBezTo>
                  <a:pt x="1142900" y="5139472"/>
                  <a:pt x="1473366" y="5002687"/>
                  <a:pt x="1825169" y="5002687"/>
                </a:cubicBezTo>
                <a:cubicBezTo>
                  <a:pt x="1828217" y="5002687"/>
                  <a:pt x="1831392" y="5002687"/>
                  <a:pt x="1834440" y="5002687"/>
                </a:cubicBezTo>
                <a:cubicBezTo>
                  <a:pt x="2189799" y="5005101"/>
                  <a:pt x="2521917" y="5146711"/>
                  <a:pt x="2769703" y="5401355"/>
                </a:cubicBezTo>
                <a:cubicBezTo>
                  <a:pt x="2871815" y="5506388"/>
                  <a:pt x="3008852" y="5564683"/>
                  <a:pt x="3155289" y="5565699"/>
                </a:cubicBezTo>
                <a:cubicBezTo>
                  <a:pt x="3156558" y="5565699"/>
                  <a:pt x="3157829" y="5565699"/>
                  <a:pt x="3159099" y="5565699"/>
                </a:cubicBezTo>
                <a:cubicBezTo>
                  <a:pt x="3304138" y="5565699"/>
                  <a:pt x="3440414" y="5509310"/>
                  <a:pt x="3543035" y="5406563"/>
                </a:cubicBezTo>
                <a:cubicBezTo>
                  <a:pt x="3750432" y="5199164"/>
                  <a:pt x="3753989" y="4858156"/>
                  <a:pt x="3550908" y="4646439"/>
                </a:cubicBezTo>
                <a:lnTo>
                  <a:pt x="3245970" y="4328547"/>
                </a:lnTo>
                <a:cubicBezTo>
                  <a:pt x="2844001" y="3924291"/>
                  <a:pt x="2844762" y="3268439"/>
                  <a:pt x="3248129" y="2864946"/>
                </a:cubicBezTo>
                <a:cubicBezTo>
                  <a:pt x="3445749" y="2667326"/>
                  <a:pt x="3707886" y="2559372"/>
                  <a:pt x="3987804" y="2561404"/>
                </a:cubicBezTo>
                <a:cubicBezTo>
                  <a:pt x="4267214" y="2563182"/>
                  <a:pt x="4528463" y="2674438"/>
                  <a:pt x="4723416" y="2874597"/>
                </a:cubicBezTo>
                <a:cubicBezTo>
                  <a:pt x="5066455" y="3226654"/>
                  <a:pt x="5513638" y="3685650"/>
                  <a:pt x="5882078" y="4063488"/>
                </a:cubicBezTo>
                <a:cubicBezTo>
                  <a:pt x="6156663" y="4345184"/>
                  <a:pt x="6611085" y="4352805"/>
                  <a:pt x="6894940" y="4080253"/>
                </a:cubicBezTo>
                <a:lnTo>
                  <a:pt x="6913611" y="4062345"/>
                </a:lnTo>
                <a:cubicBezTo>
                  <a:pt x="7062205" y="3919719"/>
                  <a:pt x="7145140" y="3728831"/>
                  <a:pt x="7147044" y="3524607"/>
                </a:cubicBezTo>
                <a:cubicBezTo>
                  <a:pt x="7149077" y="3322035"/>
                  <a:pt x="7071095" y="3131655"/>
                  <a:pt x="6927581" y="2988520"/>
                </a:cubicBezTo>
                <a:lnTo>
                  <a:pt x="6578698" y="2640274"/>
                </a:lnTo>
                <a:cubicBezTo>
                  <a:pt x="6380699" y="2442654"/>
                  <a:pt x="6271602" y="2179755"/>
                  <a:pt x="6271475" y="1900091"/>
                </a:cubicBezTo>
                <a:cubicBezTo>
                  <a:pt x="6271348" y="1620426"/>
                  <a:pt x="6380191" y="1357399"/>
                  <a:pt x="6578063" y="1159654"/>
                </a:cubicBezTo>
                <a:lnTo>
                  <a:pt x="6609307" y="1128410"/>
                </a:lnTo>
                <a:cubicBezTo>
                  <a:pt x="6808323" y="929394"/>
                  <a:pt x="7071350" y="819154"/>
                  <a:pt x="7349871" y="818138"/>
                </a:cubicBezTo>
                <a:cubicBezTo>
                  <a:pt x="7351141" y="818138"/>
                  <a:pt x="7352411" y="818138"/>
                  <a:pt x="7353681" y="818138"/>
                </a:cubicBezTo>
                <a:cubicBezTo>
                  <a:pt x="7631059" y="818138"/>
                  <a:pt x="7891547" y="926219"/>
                  <a:pt x="8087769" y="1122695"/>
                </a:cubicBezTo>
                <a:lnTo>
                  <a:pt x="8107327" y="1142254"/>
                </a:lnTo>
                <a:cubicBezTo>
                  <a:pt x="8258081" y="1293135"/>
                  <a:pt x="8458494" y="1376323"/>
                  <a:pt x="8671863" y="1376450"/>
                </a:cubicBezTo>
                <a:cubicBezTo>
                  <a:pt x="8671989" y="1376450"/>
                  <a:pt x="8671989" y="1376450"/>
                  <a:pt x="8672116" y="1376450"/>
                </a:cubicBezTo>
                <a:cubicBezTo>
                  <a:pt x="8885358" y="1376450"/>
                  <a:pt x="9085771" y="1293390"/>
                  <a:pt x="9236398" y="1142762"/>
                </a:cubicBezTo>
                <a:lnTo>
                  <a:pt x="10378917" y="0"/>
                </a:lnTo>
                <a:close/>
              </a:path>
            </a:pathLst>
          </a:cu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ID" sz="1050"/>
          </a:p>
        </p:txBody>
      </p:sp>
      <p:sp>
        <p:nvSpPr>
          <p:cNvPr id="10" name="Freeform: Shape 9">
            <a:extLst>
              <a:ext uri="{FF2B5EF4-FFF2-40B4-BE49-F238E27FC236}">
                <a16:creationId xmlns:a16="http://schemas.microsoft.com/office/drawing/2014/main" id="{E4B454EB-A20B-AE22-753B-7DA373DC3A5D}"/>
              </a:ext>
            </a:extLst>
          </p:cNvPr>
          <p:cNvSpPr/>
          <p:nvPr/>
        </p:nvSpPr>
        <p:spPr>
          <a:xfrm>
            <a:off x="1549927" y="648975"/>
            <a:ext cx="7666475" cy="4594171"/>
          </a:xfrm>
          <a:custGeom>
            <a:avLst/>
            <a:gdLst>
              <a:gd name="connsiteX0" fmla="*/ 25846 w 9812206"/>
              <a:gd name="connsiteY0" fmla="*/ 5880010 h 5880009"/>
              <a:gd name="connsiteX1" fmla="*/ 0 w 9812206"/>
              <a:gd name="connsiteY1" fmla="*/ 5854164 h 5880009"/>
              <a:gd name="connsiteX2" fmla="*/ 102773 w 9812206"/>
              <a:gd name="connsiteY2" fmla="*/ 5751391 h 5880009"/>
              <a:gd name="connsiteX3" fmla="*/ 128619 w 9812206"/>
              <a:gd name="connsiteY3" fmla="*/ 5777237 h 5880009"/>
              <a:gd name="connsiteX4" fmla="*/ 25846 w 9812206"/>
              <a:gd name="connsiteY4" fmla="*/ 5880010 h 5880009"/>
              <a:gd name="connsiteX5" fmla="*/ 231392 w 9812206"/>
              <a:gd name="connsiteY5" fmla="*/ 5674342 h 5880009"/>
              <a:gd name="connsiteX6" fmla="*/ 205546 w 9812206"/>
              <a:gd name="connsiteY6" fmla="*/ 5648496 h 5880009"/>
              <a:gd name="connsiteX7" fmla="*/ 308319 w 9812206"/>
              <a:gd name="connsiteY7" fmla="*/ 5545723 h 5880009"/>
              <a:gd name="connsiteX8" fmla="*/ 334165 w 9812206"/>
              <a:gd name="connsiteY8" fmla="*/ 5571569 h 5880009"/>
              <a:gd name="connsiteX9" fmla="*/ 231392 w 9812206"/>
              <a:gd name="connsiteY9" fmla="*/ 5674342 h 5880009"/>
              <a:gd name="connsiteX10" fmla="*/ 437060 w 9812206"/>
              <a:gd name="connsiteY10" fmla="*/ 5468796 h 5880009"/>
              <a:gd name="connsiteX11" fmla="*/ 411214 w 9812206"/>
              <a:gd name="connsiteY11" fmla="*/ 5442950 h 5880009"/>
              <a:gd name="connsiteX12" fmla="*/ 513987 w 9812206"/>
              <a:gd name="connsiteY12" fmla="*/ 5340177 h 5880009"/>
              <a:gd name="connsiteX13" fmla="*/ 539833 w 9812206"/>
              <a:gd name="connsiteY13" fmla="*/ 5366023 h 5880009"/>
              <a:gd name="connsiteX14" fmla="*/ 437060 w 9812206"/>
              <a:gd name="connsiteY14" fmla="*/ 5468796 h 5880009"/>
              <a:gd name="connsiteX15" fmla="*/ 2789137 w 9812206"/>
              <a:gd name="connsiteY15" fmla="*/ 5345054 h 5880009"/>
              <a:gd name="connsiteX16" fmla="*/ 2656617 w 9812206"/>
              <a:gd name="connsiteY16" fmla="*/ 5334081 h 5880009"/>
              <a:gd name="connsiteX17" fmla="*/ 2662591 w 9812206"/>
              <a:gd name="connsiteY17" fmla="*/ 5297995 h 5880009"/>
              <a:gd name="connsiteX18" fmla="*/ 2804010 w 9812206"/>
              <a:gd name="connsiteY18" fmla="*/ 5308358 h 5880009"/>
              <a:gd name="connsiteX19" fmla="*/ 2804742 w 9812206"/>
              <a:gd name="connsiteY19" fmla="*/ 5344932 h 5880009"/>
              <a:gd name="connsiteX20" fmla="*/ 2789137 w 9812206"/>
              <a:gd name="connsiteY20" fmla="*/ 5345054 h 5880009"/>
              <a:gd name="connsiteX21" fmla="*/ 2952379 w 9812206"/>
              <a:gd name="connsiteY21" fmla="*/ 5328351 h 5880009"/>
              <a:gd name="connsiteX22" fmla="*/ 2944942 w 9812206"/>
              <a:gd name="connsiteY22" fmla="*/ 5292509 h 5880009"/>
              <a:gd name="connsiteX23" fmla="*/ 3080510 w 9812206"/>
              <a:gd name="connsiteY23" fmla="*/ 5251058 h 5880009"/>
              <a:gd name="connsiteX24" fmla="*/ 3094408 w 9812206"/>
              <a:gd name="connsiteY24" fmla="*/ 5284950 h 5880009"/>
              <a:gd name="connsiteX25" fmla="*/ 2952379 w 9812206"/>
              <a:gd name="connsiteY25" fmla="*/ 5328351 h 5880009"/>
              <a:gd name="connsiteX26" fmla="*/ 2513003 w 9812206"/>
              <a:gd name="connsiteY26" fmla="*/ 5296166 h 5880009"/>
              <a:gd name="connsiteX27" fmla="*/ 2378898 w 9812206"/>
              <a:gd name="connsiteY27" fmla="*/ 5232284 h 5880009"/>
              <a:gd name="connsiteX28" fmla="*/ 2397673 w 9812206"/>
              <a:gd name="connsiteY28" fmla="*/ 5200830 h 5880009"/>
              <a:gd name="connsiteX29" fmla="*/ 2525682 w 9812206"/>
              <a:gd name="connsiteY29" fmla="*/ 5261787 h 5880009"/>
              <a:gd name="connsiteX30" fmla="*/ 2513003 w 9812206"/>
              <a:gd name="connsiteY30" fmla="*/ 5296166 h 5880009"/>
              <a:gd name="connsiteX31" fmla="*/ 642606 w 9812206"/>
              <a:gd name="connsiteY31" fmla="*/ 5263250 h 5880009"/>
              <a:gd name="connsiteX32" fmla="*/ 616760 w 9812206"/>
              <a:gd name="connsiteY32" fmla="*/ 5237404 h 5880009"/>
              <a:gd name="connsiteX33" fmla="*/ 719533 w 9812206"/>
              <a:gd name="connsiteY33" fmla="*/ 5134631 h 5880009"/>
              <a:gd name="connsiteX34" fmla="*/ 745379 w 9812206"/>
              <a:gd name="connsiteY34" fmla="*/ 5160477 h 5880009"/>
              <a:gd name="connsiteX35" fmla="*/ 642606 w 9812206"/>
              <a:gd name="connsiteY35" fmla="*/ 5263250 h 5880009"/>
              <a:gd name="connsiteX36" fmla="*/ 3225953 w 9812206"/>
              <a:gd name="connsiteY36" fmla="*/ 5215825 h 5880009"/>
              <a:gd name="connsiteX37" fmla="*/ 3205959 w 9812206"/>
              <a:gd name="connsiteY37" fmla="*/ 5185225 h 5880009"/>
              <a:gd name="connsiteX38" fmla="*/ 3317144 w 9812206"/>
              <a:gd name="connsiteY38" fmla="*/ 5097203 h 5880009"/>
              <a:gd name="connsiteX39" fmla="*/ 3342380 w 9812206"/>
              <a:gd name="connsiteY39" fmla="*/ 5123659 h 5880009"/>
              <a:gd name="connsiteX40" fmla="*/ 3225953 w 9812206"/>
              <a:gd name="connsiteY40" fmla="*/ 5215825 h 5880009"/>
              <a:gd name="connsiteX41" fmla="*/ 2258935 w 9812206"/>
              <a:gd name="connsiteY41" fmla="*/ 5144750 h 5880009"/>
              <a:gd name="connsiteX42" fmla="*/ 2214559 w 9812206"/>
              <a:gd name="connsiteY42" fmla="*/ 5102446 h 5880009"/>
              <a:gd name="connsiteX43" fmla="*/ 2153602 w 9812206"/>
              <a:gd name="connsiteY43" fmla="*/ 5044902 h 5880009"/>
              <a:gd name="connsiteX44" fmla="*/ 2177619 w 9812206"/>
              <a:gd name="connsiteY44" fmla="*/ 5017228 h 5880009"/>
              <a:gd name="connsiteX45" fmla="*/ 2240770 w 9812206"/>
              <a:gd name="connsiteY45" fmla="*/ 5076966 h 5880009"/>
              <a:gd name="connsiteX46" fmla="*/ 2283196 w 9812206"/>
              <a:gd name="connsiteY46" fmla="*/ 5117441 h 5880009"/>
              <a:gd name="connsiteX47" fmla="*/ 2258935 w 9812206"/>
              <a:gd name="connsiteY47" fmla="*/ 5144750 h 5880009"/>
              <a:gd name="connsiteX48" fmla="*/ 848396 w 9812206"/>
              <a:gd name="connsiteY48" fmla="*/ 5059044 h 5880009"/>
              <a:gd name="connsiteX49" fmla="*/ 823770 w 9812206"/>
              <a:gd name="connsiteY49" fmla="*/ 5031980 h 5880009"/>
              <a:gd name="connsiteX50" fmla="*/ 940197 w 9812206"/>
              <a:gd name="connsiteY50" fmla="*/ 4940789 h 5880009"/>
              <a:gd name="connsiteX51" fmla="*/ 960556 w 9812206"/>
              <a:gd name="connsiteY51" fmla="*/ 4971145 h 5880009"/>
              <a:gd name="connsiteX52" fmla="*/ 848396 w 9812206"/>
              <a:gd name="connsiteY52" fmla="*/ 5059044 h 5880009"/>
              <a:gd name="connsiteX53" fmla="*/ 3440033 w 9812206"/>
              <a:gd name="connsiteY53" fmla="*/ 5011620 h 5880009"/>
              <a:gd name="connsiteX54" fmla="*/ 3410408 w 9812206"/>
              <a:gd name="connsiteY54" fmla="*/ 4990163 h 5880009"/>
              <a:gd name="connsiteX55" fmla="*/ 3482215 w 9812206"/>
              <a:gd name="connsiteY55" fmla="*/ 4868006 h 5880009"/>
              <a:gd name="connsiteX56" fmla="*/ 3515376 w 9812206"/>
              <a:gd name="connsiteY56" fmla="*/ 4883489 h 5880009"/>
              <a:gd name="connsiteX57" fmla="*/ 3440033 w 9812206"/>
              <a:gd name="connsiteY57" fmla="*/ 5011620 h 5880009"/>
              <a:gd name="connsiteX58" fmla="*/ 2039491 w 9812206"/>
              <a:gd name="connsiteY58" fmla="*/ 4959319 h 5880009"/>
              <a:gd name="connsiteX59" fmla="*/ 1914164 w 9812206"/>
              <a:gd name="connsiteY59" fmla="*/ 4891413 h 5880009"/>
              <a:gd name="connsiteX60" fmla="*/ 1929159 w 9812206"/>
              <a:gd name="connsiteY60" fmla="*/ 4858131 h 5880009"/>
              <a:gd name="connsiteX61" fmla="*/ 2059119 w 9812206"/>
              <a:gd name="connsiteY61" fmla="*/ 4928597 h 5880009"/>
              <a:gd name="connsiteX62" fmla="*/ 2039491 w 9812206"/>
              <a:gd name="connsiteY62" fmla="*/ 4959319 h 5880009"/>
              <a:gd name="connsiteX63" fmla="*/ 1084542 w 9812206"/>
              <a:gd name="connsiteY63" fmla="*/ 4900435 h 5880009"/>
              <a:gd name="connsiteX64" fmla="*/ 1068816 w 9812206"/>
              <a:gd name="connsiteY64" fmla="*/ 4867396 h 5880009"/>
              <a:gd name="connsiteX65" fmla="*/ 1206578 w 9812206"/>
              <a:gd name="connsiteY65" fmla="*/ 4813511 h 5880009"/>
              <a:gd name="connsiteX66" fmla="*/ 1217428 w 9812206"/>
              <a:gd name="connsiteY66" fmla="*/ 4848500 h 5880009"/>
              <a:gd name="connsiteX67" fmla="*/ 1084542 w 9812206"/>
              <a:gd name="connsiteY67" fmla="*/ 4900435 h 5880009"/>
              <a:gd name="connsiteX68" fmla="*/ 1780303 w 9812206"/>
              <a:gd name="connsiteY68" fmla="*/ 4842404 h 5880009"/>
              <a:gd name="connsiteX69" fmla="*/ 1640712 w 9812206"/>
              <a:gd name="connsiteY69" fmla="*/ 4813267 h 5880009"/>
              <a:gd name="connsiteX70" fmla="*/ 1645588 w 9812206"/>
              <a:gd name="connsiteY70" fmla="*/ 4777058 h 5880009"/>
              <a:gd name="connsiteX71" fmla="*/ 1790300 w 9812206"/>
              <a:gd name="connsiteY71" fmla="*/ 4807293 h 5880009"/>
              <a:gd name="connsiteX72" fmla="*/ 1780303 w 9812206"/>
              <a:gd name="connsiteY72" fmla="*/ 4842404 h 5880009"/>
              <a:gd name="connsiteX73" fmla="*/ 1356166 w 9812206"/>
              <a:gd name="connsiteY73" fmla="*/ 4816315 h 5880009"/>
              <a:gd name="connsiteX74" fmla="*/ 1350558 w 9812206"/>
              <a:gd name="connsiteY74" fmla="*/ 4780228 h 5880009"/>
              <a:gd name="connsiteX75" fmla="*/ 1497951 w 9812206"/>
              <a:gd name="connsiteY75" fmla="*/ 4768037 h 5880009"/>
              <a:gd name="connsiteX76" fmla="*/ 1498317 w 9812206"/>
              <a:gd name="connsiteY76" fmla="*/ 4804611 h 5880009"/>
              <a:gd name="connsiteX77" fmla="*/ 1356166 w 9812206"/>
              <a:gd name="connsiteY77" fmla="*/ 4816315 h 5880009"/>
              <a:gd name="connsiteX78" fmla="*/ 3565604 w 9812206"/>
              <a:gd name="connsiteY78" fmla="*/ 4743654 h 5880009"/>
              <a:gd name="connsiteX79" fmla="*/ 3530127 w 9812206"/>
              <a:gd name="connsiteY79" fmla="*/ 4734511 h 5880009"/>
              <a:gd name="connsiteX80" fmla="*/ 3552559 w 9812206"/>
              <a:gd name="connsiteY80" fmla="*/ 4594554 h 5880009"/>
              <a:gd name="connsiteX81" fmla="*/ 3589011 w 9812206"/>
              <a:gd name="connsiteY81" fmla="*/ 4596992 h 5880009"/>
              <a:gd name="connsiteX82" fmla="*/ 3565604 w 9812206"/>
              <a:gd name="connsiteY82" fmla="*/ 4743654 h 5880009"/>
              <a:gd name="connsiteX83" fmla="*/ 3549024 w 9812206"/>
              <a:gd name="connsiteY83" fmla="*/ 4452891 h 5880009"/>
              <a:gd name="connsiteX84" fmla="*/ 3519399 w 9812206"/>
              <a:gd name="connsiteY84" fmla="*/ 4314275 h 5880009"/>
              <a:gd name="connsiteX85" fmla="*/ 3554266 w 9812206"/>
              <a:gd name="connsiteY85" fmla="*/ 4303425 h 5880009"/>
              <a:gd name="connsiteX86" fmla="*/ 3585232 w 9812206"/>
              <a:gd name="connsiteY86" fmla="*/ 4448746 h 5880009"/>
              <a:gd name="connsiteX87" fmla="*/ 3549024 w 9812206"/>
              <a:gd name="connsiteY87" fmla="*/ 4452891 h 5880009"/>
              <a:gd name="connsiteX88" fmla="*/ 3464782 w 9812206"/>
              <a:gd name="connsiteY88" fmla="*/ 4183462 h 5880009"/>
              <a:gd name="connsiteX89" fmla="*/ 3386757 w 9812206"/>
              <a:gd name="connsiteY89" fmla="*/ 4065206 h 5880009"/>
              <a:gd name="connsiteX90" fmla="*/ 3415284 w 9812206"/>
              <a:gd name="connsiteY90" fmla="*/ 4042286 h 5880009"/>
              <a:gd name="connsiteX91" fmla="*/ 3497089 w 9812206"/>
              <a:gd name="connsiteY91" fmla="*/ 4166272 h 5880009"/>
              <a:gd name="connsiteX92" fmla="*/ 3464782 w 9812206"/>
              <a:gd name="connsiteY92" fmla="*/ 4183462 h 5880009"/>
              <a:gd name="connsiteX93" fmla="*/ 5897199 w 9812206"/>
              <a:gd name="connsiteY93" fmla="*/ 4111289 h 5880009"/>
              <a:gd name="connsiteX94" fmla="*/ 5822467 w 9812206"/>
              <a:gd name="connsiteY94" fmla="*/ 4108485 h 5880009"/>
              <a:gd name="connsiteX95" fmla="*/ 5825271 w 9812206"/>
              <a:gd name="connsiteY95" fmla="*/ 4072033 h 5880009"/>
              <a:gd name="connsiteX96" fmla="*/ 5967788 w 9812206"/>
              <a:gd name="connsiteY96" fmla="*/ 4072155 h 5880009"/>
              <a:gd name="connsiteX97" fmla="*/ 5970469 w 9812206"/>
              <a:gd name="connsiteY97" fmla="*/ 4108607 h 5880009"/>
              <a:gd name="connsiteX98" fmla="*/ 5897199 w 9812206"/>
              <a:gd name="connsiteY98" fmla="*/ 4111289 h 5880009"/>
              <a:gd name="connsiteX99" fmla="*/ 6116766 w 9812206"/>
              <a:gd name="connsiteY99" fmla="*/ 4086297 h 5880009"/>
              <a:gd name="connsiteX100" fmla="*/ 6108476 w 9812206"/>
              <a:gd name="connsiteY100" fmla="*/ 4050698 h 5880009"/>
              <a:gd name="connsiteX101" fmla="*/ 6244409 w 9812206"/>
              <a:gd name="connsiteY101" fmla="*/ 4008028 h 5880009"/>
              <a:gd name="connsiteX102" fmla="*/ 6258064 w 9812206"/>
              <a:gd name="connsiteY102" fmla="*/ 4042042 h 5880009"/>
              <a:gd name="connsiteX103" fmla="*/ 6116766 w 9812206"/>
              <a:gd name="connsiteY103" fmla="*/ 4086297 h 5880009"/>
              <a:gd name="connsiteX104" fmla="*/ 5676170 w 9812206"/>
              <a:gd name="connsiteY104" fmla="*/ 4085931 h 5880009"/>
              <a:gd name="connsiteX105" fmla="*/ 5534995 w 9812206"/>
              <a:gd name="connsiteY105" fmla="*/ 4041432 h 5880009"/>
              <a:gd name="connsiteX106" fmla="*/ 5548649 w 9812206"/>
              <a:gd name="connsiteY106" fmla="*/ 4007540 h 5880009"/>
              <a:gd name="connsiteX107" fmla="*/ 5684460 w 9812206"/>
              <a:gd name="connsiteY107" fmla="*/ 4050332 h 5880009"/>
              <a:gd name="connsiteX108" fmla="*/ 5676170 w 9812206"/>
              <a:gd name="connsiteY108" fmla="*/ 4085931 h 5880009"/>
              <a:gd name="connsiteX109" fmla="*/ 6390828 w 9812206"/>
              <a:gd name="connsiteY109" fmla="*/ 3976696 h 5880009"/>
              <a:gd name="connsiteX110" fmla="*/ 6372174 w 9812206"/>
              <a:gd name="connsiteY110" fmla="*/ 3945243 h 5880009"/>
              <a:gd name="connsiteX111" fmla="*/ 6488846 w 9812206"/>
              <a:gd name="connsiteY111" fmla="*/ 3863561 h 5880009"/>
              <a:gd name="connsiteX112" fmla="*/ 6512010 w 9812206"/>
              <a:gd name="connsiteY112" fmla="*/ 3891845 h 5880009"/>
              <a:gd name="connsiteX113" fmla="*/ 6390828 w 9812206"/>
              <a:gd name="connsiteY113" fmla="*/ 3976696 h 5880009"/>
              <a:gd name="connsiteX114" fmla="*/ 5402231 w 9812206"/>
              <a:gd name="connsiteY114" fmla="*/ 3975965 h 5880009"/>
              <a:gd name="connsiteX115" fmla="*/ 5281049 w 9812206"/>
              <a:gd name="connsiteY115" fmla="*/ 3890869 h 5880009"/>
              <a:gd name="connsiteX116" fmla="*/ 5304334 w 9812206"/>
              <a:gd name="connsiteY116" fmla="*/ 3862585 h 5880009"/>
              <a:gd name="connsiteX117" fmla="*/ 5420884 w 9812206"/>
              <a:gd name="connsiteY117" fmla="*/ 3944389 h 5880009"/>
              <a:gd name="connsiteX118" fmla="*/ 5402231 w 9812206"/>
              <a:gd name="connsiteY118" fmla="*/ 3975965 h 5880009"/>
              <a:gd name="connsiteX119" fmla="*/ 3289470 w 9812206"/>
              <a:gd name="connsiteY119" fmla="*/ 3959385 h 5880009"/>
              <a:gd name="connsiteX120" fmla="*/ 3188769 w 9812206"/>
              <a:gd name="connsiteY120" fmla="*/ 3854539 h 5880009"/>
              <a:gd name="connsiteX121" fmla="*/ 3215225 w 9812206"/>
              <a:gd name="connsiteY121" fmla="*/ 3829181 h 5880009"/>
              <a:gd name="connsiteX122" fmla="*/ 3315925 w 9812206"/>
              <a:gd name="connsiteY122" fmla="*/ 3934027 h 5880009"/>
              <a:gd name="connsiteX123" fmla="*/ 3289470 w 9812206"/>
              <a:gd name="connsiteY123" fmla="*/ 3959385 h 5880009"/>
              <a:gd name="connsiteX124" fmla="*/ 6619903 w 9812206"/>
              <a:gd name="connsiteY124" fmla="*/ 3791022 h 5880009"/>
              <a:gd name="connsiteX125" fmla="*/ 6593448 w 9812206"/>
              <a:gd name="connsiteY125" fmla="*/ 3765786 h 5880009"/>
              <a:gd name="connsiteX126" fmla="*/ 6684029 w 9812206"/>
              <a:gd name="connsiteY126" fmla="*/ 3655698 h 5880009"/>
              <a:gd name="connsiteX127" fmla="*/ 6713898 w 9812206"/>
              <a:gd name="connsiteY127" fmla="*/ 3676789 h 5880009"/>
              <a:gd name="connsiteX128" fmla="*/ 6619903 w 9812206"/>
              <a:gd name="connsiteY128" fmla="*/ 3791022 h 5880009"/>
              <a:gd name="connsiteX129" fmla="*/ 5174131 w 9812206"/>
              <a:gd name="connsiteY129" fmla="*/ 3789559 h 5880009"/>
              <a:gd name="connsiteX130" fmla="*/ 5072577 w 9812206"/>
              <a:gd name="connsiteY130" fmla="*/ 3685445 h 5880009"/>
              <a:gd name="connsiteX131" fmla="*/ 5098788 w 9812206"/>
              <a:gd name="connsiteY131" fmla="*/ 3659965 h 5880009"/>
              <a:gd name="connsiteX132" fmla="*/ 5200342 w 9812206"/>
              <a:gd name="connsiteY132" fmla="*/ 3764079 h 5880009"/>
              <a:gd name="connsiteX133" fmla="*/ 5174131 w 9812206"/>
              <a:gd name="connsiteY133" fmla="*/ 3789559 h 5880009"/>
              <a:gd name="connsiteX134" fmla="*/ 3088191 w 9812206"/>
              <a:gd name="connsiteY134" fmla="*/ 3749571 h 5880009"/>
              <a:gd name="connsiteX135" fmla="*/ 3046740 w 9812206"/>
              <a:gd name="connsiteY135" fmla="*/ 3706414 h 5880009"/>
              <a:gd name="connsiteX136" fmla="*/ 2988709 w 9812206"/>
              <a:gd name="connsiteY136" fmla="*/ 3641313 h 5880009"/>
              <a:gd name="connsiteX137" fmla="*/ 3017359 w 9812206"/>
              <a:gd name="connsiteY137" fmla="*/ 3618636 h 5880009"/>
              <a:gd name="connsiteX138" fmla="*/ 3072830 w 9812206"/>
              <a:gd name="connsiteY138" fmla="*/ 3680934 h 5880009"/>
              <a:gd name="connsiteX139" fmla="*/ 3114524 w 9812206"/>
              <a:gd name="connsiteY139" fmla="*/ 3724457 h 5880009"/>
              <a:gd name="connsiteX140" fmla="*/ 3088191 w 9812206"/>
              <a:gd name="connsiteY140" fmla="*/ 3749571 h 5880009"/>
              <a:gd name="connsiteX141" fmla="*/ 4971145 w 9812206"/>
              <a:gd name="connsiteY141" fmla="*/ 3581331 h 5880009"/>
              <a:gd name="connsiteX142" fmla="*/ 4869591 w 9812206"/>
              <a:gd name="connsiteY142" fmla="*/ 3477217 h 5880009"/>
              <a:gd name="connsiteX143" fmla="*/ 4895802 w 9812206"/>
              <a:gd name="connsiteY143" fmla="*/ 3451737 h 5880009"/>
              <a:gd name="connsiteX144" fmla="*/ 4997356 w 9812206"/>
              <a:gd name="connsiteY144" fmla="*/ 3555851 h 5880009"/>
              <a:gd name="connsiteX145" fmla="*/ 4971145 w 9812206"/>
              <a:gd name="connsiteY145" fmla="*/ 3581331 h 5880009"/>
              <a:gd name="connsiteX146" fmla="*/ 6790216 w 9812206"/>
              <a:gd name="connsiteY146" fmla="*/ 3550121 h 5880009"/>
              <a:gd name="connsiteX147" fmla="*/ 6757543 w 9812206"/>
              <a:gd name="connsiteY147" fmla="*/ 3533663 h 5880009"/>
              <a:gd name="connsiteX148" fmla="*/ 6812282 w 9812206"/>
              <a:gd name="connsiteY148" fmla="*/ 3401996 h 5880009"/>
              <a:gd name="connsiteX149" fmla="*/ 6847028 w 9812206"/>
              <a:gd name="connsiteY149" fmla="*/ 3413456 h 5880009"/>
              <a:gd name="connsiteX150" fmla="*/ 6790216 w 9812206"/>
              <a:gd name="connsiteY150" fmla="*/ 3550121 h 5880009"/>
              <a:gd name="connsiteX151" fmla="*/ 2908368 w 9812206"/>
              <a:gd name="connsiteY151" fmla="*/ 3515985 h 5880009"/>
              <a:gd name="connsiteX152" fmla="*/ 2854482 w 9812206"/>
              <a:gd name="connsiteY152" fmla="*/ 3377370 h 5880009"/>
              <a:gd name="connsiteX153" fmla="*/ 2889716 w 9812206"/>
              <a:gd name="connsiteY153" fmla="*/ 3367617 h 5880009"/>
              <a:gd name="connsiteX154" fmla="*/ 2940919 w 9812206"/>
              <a:gd name="connsiteY154" fmla="*/ 3499527 h 5880009"/>
              <a:gd name="connsiteX155" fmla="*/ 2908368 w 9812206"/>
              <a:gd name="connsiteY155" fmla="*/ 3515985 h 5880009"/>
              <a:gd name="connsiteX156" fmla="*/ 4768159 w 9812206"/>
              <a:gd name="connsiteY156" fmla="*/ 3372981 h 5880009"/>
              <a:gd name="connsiteX157" fmla="*/ 4666605 w 9812206"/>
              <a:gd name="connsiteY157" fmla="*/ 3268867 h 5880009"/>
              <a:gd name="connsiteX158" fmla="*/ 4692816 w 9812206"/>
              <a:gd name="connsiteY158" fmla="*/ 3243387 h 5880009"/>
              <a:gd name="connsiteX159" fmla="*/ 4794370 w 9812206"/>
              <a:gd name="connsiteY159" fmla="*/ 3347501 h 5880009"/>
              <a:gd name="connsiteX160" fmla="*/ 4768159 w 9812206"/>
              <a:gd name="connsiteY160" fmla="*/ 3372981 h 5880009"/>
              <a:gd name="connsiteX161" fmla="*/ 6882870 w 9812206"/>
              <a:gd name="connsiteY161" fmla="*/ 3269964 h 5880009"/>
              <a:gd name="connsiteX162" fmla="*/ 6846784 w 9812206"/>
              <a:gd name="connsiteY162" fmla="*/ 3263746 h 5880009"/>
              <a:gd name="connsiteX163" fmla="*/ 6860804 w 9812206"/>
              <a:gd name="connsiteY163" fmla="*/ 3121839 h 5880009"/>
              <a:gd name="connsiteX164" fmla="*/ 6897378 w 9812206"/>
              <a:gd name="connsiteY164" fmla="*/ 3122692 h 5880009"/>
              <a:gd name="connsiteX165" fmla="*/ 6882870 w 9812206"/>
              <a:gd name="connsiteY165" fmla="*/ 3269964 h 5880009"/>
              <a:gd name="connsiteX166" fmla="*/ 2829003 w 9812206"/>
              <a:gd name="connsiteY166" fmla="*/ 3230830 h 5880009"/>
              <a:gd name="connsiteX167" fmla="*/ 2826930 w 9812206"/>
              <a:gd name="connsiteY167" fmla="*/ 3175603 h 5880009"/>
              <a:gd name="connsiteX168" fmla="*/ 2832782 w 9812206"/>
              <a:gd name="connsiteY168" fmla="*/ 3082095 h 5880009"/>
              <a:gd name="connsiteX169" fmla="*/ 2869112 w 9812206"/>
              <a:gd name="connsiteY169" fmla="*/ 3086606 h 5880009"/>
              <a:gd name="connsiteX170" fmla="*/ 2863626 w 9812206"/>
              <a:gd name="connsiteY170" fmla="*/ 3175481 h 5880009"/>
              <a:gd name="connsiteX171" fmla="*/ 2865577 w 9812206"/>
              <a:gd name="connsiteY171" fmla="*/ 3228026 h 5880009"/>
              <a:gd name="connsiteX172" fmla="*/ 2829003 w 9812206"/>
              <a:gd name="connsiteY172" fmla="*/ 3230830 h 5880009"/>
              <a:gd name="connsiteX173" fmla="*/ 4565173 w 9812206"/>
              <a:gd name="connsiteY173" fmla="*/ 3164752 h 5880009"/>
              <a:gd name="connsiteX174" fmla="*/ 4463741 w 9812206"/>
              <a:gd name="connsiteY174" fmla="*/ 3060639 h 5880009"/>
              <a:gd name="connsiteX175" fmla="*/ 4489952 w 9812206"/>
              <a:gd name="connsiteY175" fmla="*/ 3035159 h 5880009"/>
              <a:gd name="connsiteX176" fmla="*/ 4591384 w 9812206"/>
              <a:gd name="connsiteY176" fmla="*/ 3139272 h 5880009"/>
              <a:gd name="connsiteX177" fmla="*/ 4565173 w 9812206"/>
              <a:gd name="connsiteY177" fmla="*/ 3164752 h 5880009"/>
              <a:gd name="connsiteX178" fmla="*/ 6853855 w 9812206"/>
              <a:gd name="connsiteY178" fmla="*/ 2979444 h 5880009"/>
              <a:gd name="connsiteX179" fmla="*/ 6825937 w 9812206"/>
              <a:gd name="connsiteY179" fmla="*/ 2839731 h 5880009"/>
              <a:gd name="connsiteX180" fmla="*/ 6861169 w 9812206"/>
              <a:gd name="connsiteY180" fmla="*/ 2829978 h 5880009"/>
              <a:gd name="connsiteX181" fmla="*/ 6890185 w 9812206"/>
              <a:gd name="connsiteY181" fmla="*/ 2975055 h 5880009"/>
              <a:gd name="connsiteX182" fmla="*/ 6853855 w 9812206"/>
              <a:gd name="connsiteY182" fmla="*/ 2979444 h 5880009"/>
              <a:gd name="connsiteX183" fmla="*/ 4362187 w 9812206"/>
              <a:gd name="connsiteY183" fmla="*/ 2956524 h 5880009"/>
              <a:gd name="connsiteX184" fmla="*/ 4260755 w 9812206"/>
              <a:gd name="connsiteY184" fmla="*/ 2852410 h 5880009"/>
              <a:gd name="connsiteX185" fmla="*/ 4286966 w 9812206"/>
              <a:gd name="connsiteY185" fmla="*/ 2826930 h 5880009"/>
              <a:gd name="connsiteX186" fmla="*/ 4388520 w 9812206"/>
              <a:gd name="connsiteY186" fmla="*/ 2931044 h 5880009"/>
              <a:gd name="connsiteX187" fmla="*/ 4362187 w 9812206"/>
              <a:gd name="connsiteY187" fmla="*/ 2956524 h 5880009"/>
              <a:gd name="connsiteX188" fmla="*/ 2900444 w 9812206"/>
              <a:gd name="connsiteY188" fmla="*/ 2948600 h 5880009"/>
              <a:gd name="connsiteX189" fmla="*/ 2865699 w 9812206"/>
              <a:gd name="connsiteY189" fmla="*/ 2937018 h 5880009"/>
              <a:gd name="connsiteX190" fmla="*/ 2926655 w 9812206"/>
              <a:gd name="connsiteY190" fmla="*/ 2801328 h 5880009"/>
              <a:gd name="connsiteX191" fmla="*/ 2958353 w 9812206"/>
              <a:gd name="connsiteY191" fmla="*/ 2819615 h 5880009"/>
              <a:gd name="connsiteX192" fmla="*/ 2900444 w 9812206"/>
              <a:gd name="connsiteY192" fmla="*/ 2948600 h 5880009"/>
              <a:gd name="connsiteX193" fmla="*/ 4159201 w 9812206"/>
              <a:gd name="connsiteY193" fmla="*/ 2748174 h 5880009"/>
              <a:gd name="connsiteX194" fmla="*/ 4089832 w 9812206"/>
              <a:gd name="connsiteY194" fmla="*/ 2676977 h 5880009"/>
              <a:gd name="connsiteX195" fmla="*/ 4057525 w 9812206"/>
              <a:gd name="connsiteY195" fmla="*/ 2645889 h 5880009"/>
              <a:gd name="connsiteX196" fmla="*/ 4082151 w 9812206"/>
              <a:gd name="connsiteY196" fmla="*/ 2618824 h 5880009"/>
              <a:gd name="connsiteX197" fmla="*/ 4116043 w 9812206"/>
              <a:gd name="connsiteY197" fmla="*/ 2651497 h 5880009"/>
              <a:gd name="connsiteX198" fmla="*/ 4185412 w 9812206"/>
              <a:gd name="connsiteY198" fmla="*/ 2722694 h 5880009"/>
              <a:gd name="connsiteX199" fmla="*/ 4159201 w 9812206"/>
              <a:gd name="connsiteY199" fmla="*/ 2748174 h 5880009"/>
              <a:gd name="connsiteX200" fmla="*/ 6777659 w 9812206"/>
              <a:gd name="connsiteY200" fmla="*/ 2705626 h 5880009"/>
              <a:gd name="connsiteX201" fmla="*/ 6709875 w 9812206"/>
              <a:gd name="connsiteY201" fmla="*/ 2580299 h 5880009"/>
              <a:gd name="connsiteX202" fmla="*/ 6740719 w 9812206"/>
              <a:gd name="connsiteY202" fmla="*/ 2560549 h 5880009"/>
              <a:gd name="connsiteX203" fmla="*/ 6811063 w 9812206"/>
              <a:gd name="connsiteY203" fmla="*/ 2690753 h 5880009"/>
              <a:gd name="connsiteX204" fmla="*/ 6777659 w 9812206"/>
              <a:gd name="connsiteY204" fmla="*/ 2705626 h 5880009"/>
              <a:gd name="connsiteX205" fmla="*/ 3040766 w 9812206"/>
              <a:gd name="connsiteY205" fmla="*/ 2704651 h 5880009"/>
              <a:gd name="connsiteX206" fmla="*/ 3013336 w 9812206"/>
              <a:gd name="connsiteY206" fmla="*/ 2680512 h 5880009"/>
              <a:gd name="connsiteX207" fmla="*/ 3046984 w 9812206"/>
              <a:gd name="connsiteY207" fmla="*/ 2644548 h 5880009"/>
              <a:gd name="connsiteX208" fmla="*/ 3121839 w 9812206"/>
              <a:gd name="connsiteY208" fmla="*/ 2578836 h 5880009"/>
              <a:gd name="connsiteX209" fmla="*/ 3144149 w 9812206"/>
              <a:gd name="connsiteY209" fmla="*/ 2607852 h 5880009"/>
              <a:gd name="connsiteX210" fmla="*/ 3072830 w 9812206"/>
              <a:gd name="connsiteY210" fmla="*/ 2670393 h 5880009"/>
              <a:gd name="connsiteX211" fmla="*/ 3040766 w 9812206"/>
              <a:gd name="connsiteY211" fmla="*/ 2704651 h 5880009"/>
              <a:gd name="connsiteX212" fmla="*/ 3943902 w 9812206"/>
              <a:gd name="connsiteY212" fmla="*/ 2561525 h 5880009"/>
              <a:gd name="connsiteX213" fmla="*/ 3815770 w 9812206"/>
              <a:gd name="connsiteY213" fmla="*/ 2501543 h 5880009"/>
              <a:gd name="connsiteX214" fmla="*/ 3827962 w 9812206"/>
              <a:gd name="connsiteY214" fmla="*/ 2467042 h 5880009"/>
              <a:gd name="connsiteX215" fmla="*/ 3962676 w 9812206"/>
              <a:gd name="connsiteY215" fmla="*/ 2530193 h 5880009"/>
              <a:gd name="connsiteX216" fmla="*/ 3943902 w 9812206"/>
              <a:gd name="connsiteY216" fmla="*/ 2561525 h 5880009"/>
              <a:gd name="connsiteX217" fmla="*/ 3264356 w 9812206"/>
              <a:gd name="connsiteY217" fmla="*/ 2533362 h 5880009"/>
              <a:gd name="connsiteX218" fmla="*/ 3248263 w 9812206"/>
              <a:gd name="connsiteY218" fmla="*/ 2500446 h 5880009"/>
              <a:gd name="connsiteX219" fmla="*/ 3387732 w 9812206"/>
              <a:gd name="connsiteY219" fmla="*/ 2448755 h 5880009"/>
              <a:gd name="connsiteX220" fmla="*/ 3396997 w 9812206"/>
              <a:gd name="connsiteY220" fmla="*/ 2484109 h 5880009"/>
              <a:gd name="connsiteX221" fmla="*/ 3264356 w 9812206"/>
              <a:gd name="connsiteY221" fmla="*/ 2533362 h 5880009"/>
              <a:gd name="connsiteX222" fmla="*/ 3678252 w 9812206"/>
              <a:gd name="connsiteY222" fmla="*/ 2468017 h 5880009"/>
              <a:gd name="connsiteX223" fmla="*/ 3536832 w 9812206"/>
              <a:gd name="connsiteY223" fmla="*/ 2462165 h 5880009"/>
              <a:gd name="connsiteX224" fmla="*/ 3534760 w 9812206"/>
              <a:gd name="connsiteY224" fmla="*/ 2425591 h 5880009"/>
              <a:gd name="connsiteX225" fmla="*/ 3683372 w 9812206"/>
              <a:gd name="connsiteY225" fmla="*/ 2431687 h 5880009"/>
              <a:gd name="connsiteX226" fmla="*/ 3678252 w 9812206"/>
              <a:gd name="connsiteY226" fmla="*/ 2468017 h 5880009"/>
              <a:gd name="connsiteX227" fmla="*/ 6624291 w 9812206"/>
              <a:gd name="connsiteY227" fmla="*/ 2466432 h 5880009"/>
              <a:gd name="connsiteX228" fmla="*/ 6578940 w 9812206"/>
              <a:gd name="connsiteY228" fmla="*/ 2417911 h 5880009"/>
              <a:gd name="connsiteX229" fmla="*/ 6524201 w 9812206"/>
              <a:gd name="connsiteY229" fmla="*/ 2363293 h 5880009"/>
              <a:gd name="connsiteX230" fmla="*/ 6549803 w 9812206"/>
              <a:gd name="connsiteY230" fmla="*/ 2337204 h 5880009"/>
              <a:gd name="connsiteX231" fmla="*/ 6604786 w 9812206"/>
              <a:gd name="connsiteY231" fmla="*/ 2392065 h 5880009"/>
              <a:gd name="connsiteX232" fmla="*/ 6651844 w 9812206"/>
              <a:gd name="connsiteY232" fmla="*/ 2442415 h 5880009"/>
              <a:gd name="connsiteX233" fmla="*/ 6624291 w 9812206"/>
              <a:gd name="connsiteY233" fmla="*/ 2466432 h 5880009"/>
              <a:gd name="connsiteX234" fmla="*/ 6420940 w 9812206"/>
              <a:gd name="connsiteY234" fmla="*/ 2260276 h 5880009"/>
              <a:gd name="connsiteX235" fmla="*/ 6318045 w 9812206"/>
              <a:gd name="connsiteY235" fmla="*/ 2157625 h 5880009"/>
              <a:gd name="connsiteX236" fmla="*/ 6343890 w 9812206"/>
              <a:gd name="connsiteY236" fmla="*/ 2131780 h 5880009"/>
              <a:gd name="connsiteX237" fmla="*/ 6446785 w 9812206"/>
              <a:gd name="connsiteY237" fmla="*/ 2234431 h 5880009"/>
              <a:gd name="connsiteX238" fmla="*/ 6420940 w 9812206"/>
              <a:gd name="connsiteY238" fmla="*/ 2260276 h 5880009"/>
              <a:gd name="connsiteX239" fmla="*/ 6215272 w 9812206"/>
              <a:gd name="connsiteY239" fmla="*/ 2053511 h 5880009"/>
              <a:gd name="connsiteX240" fmla="*/ 6127129 w 9812206"/>
              <a:gd name="connsiteY240" fmla="*/ 1933792 h 5880009"/>
              <a:gd name="connsiteX241" fmla="*/ 6158582 w 9812206"/>
              <a:gd name="connsiteY241" fmla="*/ 1915139 h 5880009"/>
              <a:gd name="connsiteX242" fmla="*/ 6242458 w 9812206"/>
              <a:gd name="connsiteY242" fmla="*/ 2029128 h 5880009"/>
              <a:gd name="connsiteX243" fmla="*/ 6215272 w 9812206"/>
              <a:gd name="connsiteY243" fmla="*/ 2053511 h 5880009"/>
              <a:gd name="connsiteX244" fmla="*/ 6063978 w 9812206"/>
              <a:gd name="connsiteY244" fmla="*/ 1798956 h 5880009"/>
              <a:gd name="connsiteX245" fmla="*/ 6028500 w 9812206"/>
              <a:gd name="connsiteY245" fmla="*/ 1654488 h 5880009"/>
              <a:gd name="connsiteX246" fmla="*/ 6064709 w 9812206"/>
              <a:gd name="connsiteY246" fmla="*/ 1649246 h 5880009"/>
              <a:gd name="connsiteX247" fmla="*/ 6098479 w 9812206"/>
              <a:gd name="connsiteY247" fmla="*/ 1786764 h 5880009"/>
              <a:gd name="connsiteX248" fmla="*/ 6063978 w 9812206"/>
              <a:gd name="connsiteY248" fmla="*/ 1798956 h 5880009"/>
              <a:gd name="connsiteX249" fmla="*/ 6058125 w 9812206"/>
              <a:gd name="connsiteY249" fmla="*/ 1507948 h 5880009"/>
              <a:gd name="connsiteX250" fmla="*/ 6021551 w 9812206"/>
              <a:gd name="connsiteY250" fmla="*/ 1506119 h 5880009"/>
              <a:gd name="connsiteX251" fmla="*/ 6043617 w 9812206"/>
              <a:gd name="connsiteY251" fmla="*/ 1359092 h 5880009"/>
              <a:gd name="connsiteX252" fmla="*/ 6079095 w 9812206"/>
              <a:gd name="connsiteY252" fmla="*/ 1367991 h 5880009"/>
              <a:gd name="connsiteX253" fmla="*/ 6058125 w 9812206"/>
              <a:gd name="connsiteY253" fmla="*/ 1507948 h 5880009"/>
              <a:gd name="connsiteX254" fmla="*/ 8110539 w 9812206"/>
              <a:gd name="connsiteY254" fmla="*/ 1323005 h 5880009"/>
              <a:gd name="connsiteX255" fmla="*/ 8109564 w 9812206"/>
              <a:gd name="connsiteY255" fmla="*/ 1286431 h 5880009"/>
              <a:gd name="connsiteX256" fmla="*/ 8251593 w 9812206"/>
              <a:gd name="connsiteY256" fmla="*/ 1272411 h 5880009"/>
              <a:gd name="connsiteX257" fmla="*/ 8257689 w 9812206"/>
              <a:gd name="connsiteY257" fmla="*/ 1308498 h 5880009"/>
              <a:gd name="connsiteX258" fmla="*/ 8110539 w 9812206"/>
              <a:gd name="connsiteY258" fmla="*/ 1323005 h 5880009"/>
              <a:gd name="connsiteX259" fmla="*/ 7962780 w 9812206"/>
              <a:gd name="connsiteY259" fmla="*/ 1316788 h 5880009"/>
              <a:gd name="connsiteX260" fmla="*/ 7817459 w 9812206"/>
              <a:gd name="connsiteY260" fmla="*/ 1289845 h 5880009"/>
              <a:gd name="connsiteX261" fmla="*/ 7826602 w 9812206"/>
              <a:gd name="connsiteY261" fmla="*/ 1254490 h 5880009"/>
              <a:gd name="connsiteX262" fmla="*/ 7966925 w 9812206"/>
              <a:gd name="connsiteY262" fmla="*/ 1280458 h 5880009"/>
              <a:gd name="connsiteX263" fmla="*/ 7962780 w 9812206"/>
              <a:gd name="connsiteY263" fmla="*/ 1316788 h 5880009"/>
              <a:gd name="connsiteX264" fmla="*/ 8401180 w 9812206"/>
              <a:gd name="connsiteY264" fmla="*/ 1273508 h 5880009"/>
              <a:gd name="connsiteX265" fmla="*/ 8390087 w 9812206"/>
              <a:gd name="connsiteY265" fmla="*/ 1238641 h 5880009"/>
              <a:gd name="connsiteX266" fmla="*/ 8522484 w 9812206"/>
              <a:gd name="connsiteY266" fmla="*/ 1185609 h 5880009"/>
              <a:gd name="connsiteX267" fmla="*/ 8538455 w 9812206"/>
              <a:gd name="connsiteY267" fmla="*/ 1218525 h 5880009"/>
              <a:gd name="connsiteX268" fmla="*/ 8401180 w 9812206"/>
              <a:gd name="connsiteY268" fmla="*/ 1273508 h 5880009"/>
              <a:gd name="connsiteX269" fmla="*/ 7677258 w 9812206"/>
              <a:gd name="connsiteY269" fmla="*/ 1242664 h 5880009"/>
              <a:gd name="connsiteX270" fmla="*/ 7545226 w 9812206"/>
              <a:gd name="connsiteY270" fmla="*/ 1176100 h 5880009"/>
              <a:gd name="connsiteX271" fmla="*/ 7564001 w 9812206"/>
              <a:gd name="connsiteY271" fmla="*/ 1144646 h 5880009"/>
              <a:gd name="connsiteX272" fmla="*/ 7691401 w 9812206"/>
              <a:gd name="connsiteY272" fmla="*/ 1208894 h 5880009"/>
              <a:gd name="connsiteX273" fmla="*/ 7677258 w 9812206"/>
              <a:gd name="connsiteY273" fmla="*/ 1242664 h 5880009"/>
              <a:gd name="connsiteX274" fmla="*/ 6127007 w 9812206"/>
              <a:gd name="connsiteY274" fmla="*/ 1234740 h 5880009"/>
              <a:gd name="connsiteX275" fmla="*/ 6093968 w 9812206"/>
              <a:gd name="connsiteY275" fmla="*/ 1219013 h 5880009"/>
              <a:gd name="connsiteX276" fmla="*/ 6170652 w 9812206"/>
              <a:gd name="connsiteY276" fmla="*/ 1091613 h 5880009"/>
              <a:gd name="connsiteX277" fmla="*/ 6200033 w 9812206"/>
              <a:gd name="connsiteY277" fmla="*/ 1113436 h 5880009"/>
              <a:gd name="connsiteX278" fmla="*/ 6127007 w 9812206"/>
              <a:gd name="connsiteY278" fmla="*/ 1234740 h 5880009"/>
              <a:gd name="connsiteX279" fmla="*/ 8666464 w 9812206"/>
              <a:gd name="connsiteY279" fmla="*/ 1144646 h 5880009"/>
              <a:gd name="connsiteX280" fmla="*/ 8645983 w 9812206"/>
              <a:gd name="connsiteY280" fmla="*/ 1114289 h 5880009"/>
              <a:gd name="connsiteX281" fmla="*/ 8758265 w 9812206"/>
              <a:gd name="connsiteY281" fmla="*/ 1026268 h 5880009"/>
              <a:gd name="connsiteX282" fmla="*/ 8782769 w 9812206"/>
              <a:gd name="connsiteY282" fmla="*/ 1053333 h 5880009"/>
              <a:gd name="connsiteX283" fmla="*/ 8666464 w 9812206"/>
              <a:gd name="connsiteY283" fmla="*/ 1144646 h 5880009"/>
              <a:gd name="connsiteX284" fmla="*/ 7424044 w 9812206"/>
              <a:gd name="connsiteY284" fmla="*/ 1091613 h 5880009"/>
              <a:gd name="connsiteX285" fmla="*/ 7340655 w 9812206"/>
              <a:gd name="connsiteY285" fmla="*/ 1016515 h 5880009"/>
              <a:gd name="connsiteX286" fmla="*/ 7316028 w 9812206"/>
              <a:gd name="connsiteY286" fmla="*/ 991888 h 5880009"/>
              <a:gd name="connsiteX287" fmla="*/ 7341631 w 9812206"/>
              <a:gd name="connsiteY287" fmla="*/ 965799 h 5880009"/>
              <a:gd name="connsiteX288" fmla="*/ 7366623 w 9812206"/>
              <a:gd name="connsiteY288" fmla="*/ 990669 h 5880009"/>
              <a:gd name="connsiteX289" fmla="*/ 7447085 w 9812206"/>
              <a:gd name="connsiteY289" fmla="*/ 1063208 h 5880009"/>
              <a:gd name="connsiteX290" fmla="*/ 7424044 w 9812206"/>
              <a:gd name="connsiteY290" fmla="*/ 1091613 h 5880009"/>
              <a:gd name="connsiteX291" fmla="*/ 6295125 w 9812206"/>
              <a:gd name="connsiteY291" fmla="*/ 1007371 h 5880009"/>
              <a:gd name="connsiteX292" fmla="*/ 6269279 w 9812206"/>
              <a:gd name="connsiteY292" fmla="*/ 981526 h 5880009"/>
              <a:gd name="connsiteX293" fmla="*/ 6273425 w 9812206"/>
              <a:gd name="connsiteY293" fmla="*/ 977381 h 5880009"/>
              <a:gd name="connsiteX294" fmla="*/ 6383025 w 9812206"/>
              <a:gd name="connsiteY294" fmla="*/ 885945 h 5880009"/>
              <a:gd name="connsiteX295" fmla="*/ 6403750 w 9812206"/>
              <a:gd name="connsiteY295" fmla="*/ 916058 h 5880009"/>
              <a:gd name="connsiteX296" fmla="*/ 6299270 w 9812206"/>
              <a:gd name="connsiteY296" fmla="*/ 1003226 h 5880009"/>
              <a:gd name="connsiteX297" fmla="*/ 6295125 w 9812206"/>
              <a:gd name="connsiteY297" fmla="*/ 1007371 h 5880009"/>
              <a:gd name="connsiteX298" fmla="*/ 8887127 w 9812206"/>
              <a:gd name="connsiteY298" fmla="*/ 950925 h 5880009"/>
              <a:gd name="connsiteX299" fmla="*/ 8861282 w 9812206"/>
              <a:gd name="connsiteY299" fmla="*/ 925080 h 5880009"/>
              <a:gd name="connsiteX300" fmla="*/ 8964055 w 9812206"/>
              <a:gd name="connsiteY300" fmla="*/ 822307 h 5880009"/>
              <a:gd name="connsiteX301" fmla="*/ 8989901 w 9812206"/>
              <a:gd name="connsiteY301" fmla="*/ 848152 h 5880009"/>
              <a:gd name="connsiteX302" fmla="*/ 8887127 w 9812206"/>
              <a:gd name="connsiteY302" fmla="*/ 950925 h 5880009"/>
              <a:gd name="connsiteX303" fmla="*/ 7205697 w 9812206"/>
              <a:gd name="connsiteY303" fmla="*/ 903257 h 5880009"/>
              <a:gd name="connsiteX304" fmla="*/ 7080126 w 9812206"/>
              <a:gd name="connsiteY304" fmla="*/ 838155 h 5880009"/>
              <a:gd name="connsiteX305" fmla="*/ 7093658 w 9812206"/>
              <a:gd name="connsiteY305" fmla="*/ 804141 h 5880009"/>
              <a:gd name="connsiteX306" fmla="*/ 7225691 w 9812206"/>
              <a:gd name="connsiteY306" fmla="*/ 872657 h 5880009"/>
              <a:gd name="connsiteX307" fmla="*/ 7205697 w 9812206"/>
              <a:gd name="connsiteY307" fmla="*/ 903257 h 5880009"/>
              <a:gd name="connsiteX308" fmla="*/ 6527492 w 9812206"/>
              <a:gd name="connsiteY308" fmla="*/ 847421 h 5880009"/>
              <a:gd name="connsiteX309" fmla="*/ 6512984 w 9812206"/>
              <a:gd name="connsiteY309" fmla="*/ 813895 h 5880009"/>
              <a:gd name="connsiteX310" fmla="*/ 6654527 w 9812206"/>
              <a:gd name="connsiteY310" fmla="*/ 768299 h 5880009"/>
              <a:gd name="connsiteX311" fmla="*/ 6662206 w 9812206"/>
              <a:gd name="connsiteY311" fmla="*/ 804020 h 5880009"/>
              <a:gd name="connsiteX312" fmla="*/ 6527492 w 9812206"/>
              <a:gd name="connsiteY312" fmla="*/ 847421 h 5880009"/>
              <a:gd name="connsiteX313" fmla="*/ 6943949 w 9812206"/>
              <a:gd name="connsiteY313" fmla="*/ 799143 h 5880009"/>
              <a:gd name="connsiteX314" fmla="*/ 6815452 w 9812206"/>
              <a:gd name="connsiteY314" fmla="*/ 787561 h 5880009"/>
              <a:gd name="connsiteX315" fmla="*/ 6802895 w 9812206"/>
              <a:gd name="connsiteY315" fmla="*/ 787683 h 5880009"/>
              <a:gd name="connsiteX316" fmla="*/ 6802286 w 9812206"/>
              <a:gd name="connsiteY316" fmla="*/ 751109 h 5880009"/>
              <a:gd name="connsiteX317" fmla="*/ 6815574 w 9812206"/>
              <a:gd name="connsiteY317" fmla="*/ 750987 h 5880009"/>
              <a:gd name="connsiteX318" fmla="*/ 6950532 w 9812206"/>
              <a:gd name="connsiteY318" fmla="*/ 763178 h 5880009"/>
              <a:gd name="connsiteX319" fmla="*/ 6943949 w 9812206"/>
              <a:gd name="connsiteY319" fmla="*/ 799143 h 5880009"/>
              <a:gd name="connsiteX320" fmla="*/ 9092674 w 9812206"/>
              <a:gd name="connsiteY320" fmla="*/ 745379 h 5880009"/>
              <a:gd name="connsiteX321" fmla="*/ 9066828 w 9812206"/>
              <a:gd name="connsiteY321" fmla="*/ 719534 h 5880009"/>
              <a:gd name="connsiteX322" fmla="*/ 9169601 w 9812206"/>
              <a:gd name="connsiteY322" fmla="*/ 616760 h 5880009"/>
              <a:gd name="connsiteX323" fmla="*/ 9195447 w 9812206"/>
              <a:gd name="connsiteY323" fmla="*/ 642606 h 5880009"/>
              <a:gd name="connsiteX324" fmla="*/ 9092674 w 9812206"/>
              <a:gd name="connsiteY324" fmla="*/ 745379 h 5880009"/>
              <a:gd name="connsiteX325" fmla="*/ 9298342 w 9812206"/>
              <a:gd name="connsiteY325" fmla="*/ 539711 h 5880009"/>
              <a:gd name="connsiteX326" fmla="*/ 9272496 w 9812206"/>
              <a:gd name="connsiteY326" fmla="*/ 513865 h 5880009"/>
              <a:gd name="connsiteX327" fmla="*/ 9375269 w 9812206"/>
              <a:gd name="connsiteY327" fmla="*/ 411092 h 5880009"/>
              <a:gd name="connsiteX328" fmla="*/ 9401115 w 9812206"/>
              <a:gd name="connsiteY328" fmla="*/ 436938 h 5880009"/>
              <a:gd name="connsiteX329" fmla="*/ 9298342 w 9812206"/>
              <a:gd name="connsiteY329" fmla="*/ 539711 h 5880009"/>
              <a:gd name="connsiteX330" fmla="*/ 9503888 w 9812206"/>
              <a:gd name="connsiteY330" fmla="*/ 334165 h 5880009"/>
              <a:gd name="connsiteX331" fmla="*/ 9478042 w 9812206"/>
              <a:gd name="connsiteY331" fmla="*/ 308319 h 5880009"/>
              <a:gd name="connsiteX332" fmla="*/ 9580815 w 9812206"/>
              <a:gd name="connsiteY332" fmla="*/ 205546 h 5880009"/>
              <a:gd name="connsiteX333" fmla="*/ 9606661 w 9812206"/>
              <a:gd name="connsiteY333" fmla="*/ 231392 h 5880009"/>
              <a:gd name="connsiteX334" fmla="*/ 9503888 w 9812206"/>
              <a:gd name="connsiteY334" fmla="*/ 334165 h 5880009"/>
              <a:gd name="connsiteX335" fmla="*/ 9709434 w 9812206"/>
              <a:gd name="connsiteY335" fmla="*/ 128619 h 5880009"/>
              <a:gd name="connsiteX336" fmla="*/ 9683588 w 9812206"/>
              <a:gd name="connsiteY336" fmla="*/ 102773 h 5880009"/>
              <a:gd name="connsiteX337" fmla="*/ 9786361 w 9812206"/>
              <a:gd name="connsiteY337" fmla="*/ 0 h 5880009"/>
              <a:gd name="connsiteX338" fmla="*/ 9812207 w 9812206"/>
              <a:gd name="connsiteY338" fmla="*/ 25846 h 5880009"/>
              <a:gd name="connsiteX339" fmla="*/ 9709434 w 9812206"/>
              <a:gd name="connsiteY339" fmla="*/ 128619 h 58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Lst>
            <a:rect l="l" t="t" r="r" b="b"/>
            <a:pathLst>
              <a:path w="9812206" h="5880009">
                <a:moveTo>
                  <a:pt x="25846" y="5880010"/>
                </a:moveTo>
                <a:lnTo>
                  <a:pt x="0" y="5854164"/>
                </a:lnTo>
                <a:lnTo>
                  <a:pt x="102773" y="5751391"/>
                </a:lnTo>
                <a:lnTo>
                  <a:pt x="128619" y="5777237"/>
                </a:lnTo>
                <a:lnTo>
                  <a:pt x="25846" y="5880010"/>
                </a:lnTo>
                <a:close/>
                <a:moveTo>
                  <a:pt x="231392" y="5674342"/>
                </a:moveTo>
                <a:lnTo>
                  <a:pt x="205546" y="5648496"/>
                </a:lnTo>
                <a:lnTo>
                  <a:pt x="308319" y="5545723"/>
                </a:lnTo>
                <a:lnTo>
                  <a:pt x="334165" y="5571569"/>
                </a:lnTo>
                <a:lnTo>
                  <a:pt x="231392" y="5674342"/>
                </a:lnTo>
                <a:close/>
                <a:moveTo>
                  <a:pt x="437060" y="5468796"/>
                </a:moveTo>
                <a:lnTo>
                  <a:pt x="411214" y="5442950"/>
                </a:lnTo>
                <a:lnTo>
                  <a:pt x="513987" y="5340177"/>
                </a:lnTo>
                <a:lnTo>
                  <a:pt x="539833" y="5366023"/>
                </a:lnTo>
                <a:lnTo>
                  <a:pt x="437060" y="5468796"/>
                </a:lnTo>
                <a:close/>
                <a:moveTo>
                  <a:pt x="2789137" y="5345054"/>
                </a:moveTo>
                <a:cubicBezTo>
                  <a:pt x="2744882" y="5345054"/>
                  <a:pt x="2700262" y="5341396"/>
                  <a:pt x="2656617" y="5334081"/>
                </a:cubicBezTo>
                <a:lnTo>
                  <a:pt x="2662591" y="5297995"/>
                </a:lnTo>
                <a:cubicBezTo>
                  <a:pt x="2709162" y="5305798"/>
                  <a:pt x="2756708" y="5309211"/>
                  <a:pt x="2804010" y="5308358"/>
                </a:cubicBezTo>
                <a:lnTo>
                  <a:pt x="2804742" y="5344932"/>
                </a:lnTo>
                <a:cubicBezTo>
                  <a:pt x="2799621" y="5344932"/>
                  <a:pt x="2794379" y="5345054"/>
                  <a:pt x="2789137" y="5345054"/>
                </a:cubicBezTo>
                <a:close/>
                <a:moveTo>
                  <a:pt x="2952379" y="5328351"/>
                </a:moveTo>
                <a:lnTo>
                  <a:pt x="2944942" y="5292509"/>
                </a:lnTo>
                <a:cubicBezTo>
                  <a:pt x="2991269" y="5282878"/>
                  <a:pt x="3036865" y="5268979"/>
                  <a:pt x="3080510" y="5251058"/>
                </a:cubicBezTo>
                <a:lnTo>
                  <a:pt x="3094408" y="5284950"/>
                </a:lnTo>
                <a:cubicBezTo>
                  <a:pt x="3048691" y="5303603"/>
                  <a:pt x="3001023" y="5318233"/>
                  <a:pt x="2952379" y="5328351"/>
                </a:cubicBezTo>
                <a:close/>
                <a:moveTo>
                  <a:pt x="2513003" y="5296166"/>
                </a:moveTo>
                <a:cubicBezTo>
                  <a:pt x="2466554" y="5279099"/>
                  <a:pt x="2421324" y="5257642"/>
                  <a:pt x="2378898" y="5232284"/>
                </a:cubicBezTo>
                <a:lnTo>
                  <a:pt x="2397673" y="5200830"/>
                </a:lnTo>
                <a:cubicBezTo>
                  <a:pt x="2438270" y="5224969"/>
                  <a:pt x="2481305" y="5245572"/>
                  <a:pt x="2525682" y="5261787"/>
                </a:cubicBezTo>
                <a:lnTo>
                  <a:pt x="2513003" y="5296166"/>
                </a:lnTo>
                <a:close/>
                <a:moveTo>
                  <a:pt x="642606" y="5263250"/>
                </a:moveTo>
                <a:lnTo>
                  <a:pt x="616760" y="5237404"/>
                </a:lnTo>
                <a:lnTo>
                  <a:pt x="719533" y="5134631"/>
                </a:lnTo>
                <a:lnTo>
                  <a:pt x="745379" y="5160477"/>
                </a:lnTo>
                <a:lnTo>
                  <a:pt x="642606" y="5263250"/>
                </a:lnTo>
                <a:close/>
                <a:moveTo>
                  <a:pt x="3225953" y="5215825"/>
                </a:moveTo>
                <a:lnTo>
                  <a:pt x="3205959" y="5185225"/>
                </a:lnTo>
                <a:cubicBezTo>
                  <a:pt x="3245337" y="5159501"/>
                  <a:pt x="3282765" y="5129876"/>
                  <a:pt x="3317144" y="5097203"/>
                </a:cubicBezTo>
                <a:lnTo>
                  <a:pt x="3342380" y="5123659"/>
                </a:lnTo>
                <a:cubicBezTo>
                  <a:pt x="3306416" y="5157794"/>
                  <a:pt x="3267282" y="5188882"/>
                  <a:pt x="3225953" y="5215825"/>
                </a:cubicBezTo>
                <a:close/>
                <a:moveTo>
                  <a:pt x="2258935" y="5144750"/>
                </a:moveTo>
                <a:cubicBezTo>
                  <a:pt x="2243696" y="5131339"/>
                  <a:pt x="2228822" y="5117075"/>
                  <a:pt x="2214559" y="5102446"/>
                </a:cubicBezTo>
                <a:cubicBezTo>
                  <a:pt x="2195053" y="5082452"/>
                  <a:pt x="2174571" y="5063068"/>
                  <a:pt x="2153602" y="5044902"/>
                </a:cubicBezTo>
                <a:lnTo>
                  <a:pt x="2177619" y="5017228"/>
                </a:lnTo>
                <a:cubicBezTo>
                  <a:pt x="2199319" y="5036003"/>
                  <a:pt x="2220532" y="5056119"/>
                  <a:pt x="2240770" y="5076966"/>
                </a:cubicBezTo>
                <a:cubicBezTo>
                  <a:pt x="2254424" y="5090986"/>
                  <a:pt x="2268688" y="5104518"/>
                  <a:pt x="2283196" y="5117441"/>
                </a:cubicBezTo>
                <a:lnTo>
                  <a:pt x="2258935" y="5144750"/>
                </a:lnTo>
                <a:close/>
                <a:moveTo>
                  <a:pt x="848396" y="5059044"/>
                </a:moveTo>
                <a:lnTo>
                  <a:pt x="823770" y="5031980"/>
                </a:lnTo>
                <a:cubicBezTo>
                  <a:pt x="860344" y="4998819"/>
                  <a:pt x="899478" y="4968097"/>
                  <a:pt x="940197" y="4940789"/>
                </a:cubicBezTo>
                <a:lnTo>
                  <a:pt x="960556" y="4971145"/>
                </a:lnTo>
                <a:cubicBezTo>
                  <a:pt x="921422" y="4997478"/>
                  <a:pt x="883629" y="5027103"/>
                  <a:pt x="848396" y="5059044"/>
                </a:cubicBezTo>
                <a:close/>
                <a:moveTo>
                  <a:pt x="3440033" y="5011620"/>
                </a:moveTo>
                <a:lnTo>
                  <a:pt x="3410408" y="4990163"/>
                </a:lnTo>
                <a:cubicBezTo>
                  <a:pt x="3438083" y="4951883"/>
                  <a:pt x="3462221" y="4910676"/>
                  <a:pt x="3482215" y="4868006"/>
                </a:cubicBezTo>
                <a:lnTo>
                  <a:pt x="3515376" y="4883489"/>
                </a:lnTo>
                <a:cubicBezTo>
                  <a:pt x="3494407" y="4928353"/>
                  <a:pt x="3469048" y="4971389"/>
                  <a:pt x="3440033" y="5011620"/>
                </a:cubicBezTo>
                <a:close/>
                <a:moveTo>
                  <a:pt x="2039491" y="4959319"/>
                </a:moveTo>
                <a:cubicBezTo>
                  <a:pt x="1999625" y="4933717"/>
                  <a:pt x="1957443" y="4910920"/>
                  <a:pt x="1914164" y="4891413"/>
                </a:cubicBezTo>
                <a:lnTo>
                  <a:pt x="1929159" y="4858131"/>
                </a:lnTo>
                <a:cubicBezTo>
                  <a:pt x="1974023" y="4878369"/>
                  <a:pt x="2017790" y="4902020"/>
                  <a:pt x="2059119" y="4928597"/>
                </a:cubicBezTo>
                <a:lnTo>
                  <a:pt x="2039491" y="4959319"/>
                </a:lnTo>
                <a:close/>
                <a:moveTo>
                  <a:pt x="1084542" y="4900435"/>
                </a:moveTo>
                <a:lnTo>
                  <a:pt x="1068816" y="4867396"/>
                </a:lnTo>
                <a:cubicBezTo>
                  <a:pt x="1113192" y="4846184"/>
                  <a:pt x="1159519" y="4828019"/>
                  <a:pt x="1206578" y="4813511"/>
                </a:cubicBezTo>
                <a:lnTo>
                  <a:pt x="1217428" y="4848500"/>
                </a:lnTo>
                <a:cubicBezTo>
                  <a:pt x="1171955" y="4862520"/>
                  <a:pt x="1127212" y="4880076"/>
                  <a:pt x="1084542" y="4900435"/>
                </a:cubicBezTo>
                <a:close/>
                <a:moveTo>
                  <a:pt x="1780303" y="4842404"/>
                </a:moveTo>
                <a:cubicBezTo>
                  <a:pt x="1734707" y="4829359"/>
                  <a:pt x="1687770" y="4819607"/>
                  <a:pt x="1640712" y="4813267"/>
                </a:cubicBezTo>
                <a:lnTo>
                  <a:pt x="1645588" y="4777058"/>
                </a:lnTo>
                <a:cubicBezTo>
                  <a:pt x="1694354" y="4783642"/>
                  <a:pt x="1743119" y="4793761"/>
                  <a:pt x="1790300" y="4807293"/>
                </a:cubicBezTo>
                <a:lnTo>
                  <a:pt x="1780303" y="4842404"/>
                </a:lnTo>
                <a:close/>
                <a:moveTo>
                  <a:pt x="1356166" y="4816315"/>
                </a:moveTo>
                <a:lnTo>
                  <a:pt x="1350558" y="4780228"/>
                </a:lnTo>
                <a:cubicBezTo>
                  <a:pt x="1399079" y="4772670"/>
                  <a:pt x="1448698" y="4768525"/>
                  <a:pt x="1497951" y="4768037"/>
                </a:cubicBezTo>
                <a:lnTo>
                  <a:pt x="1498317" y="4804611"/>
                </a:lnTo>
                <a:cubicBezTo>
                  <a:pt x="1450892" y="4805099"/>
                  <a:pt x="1402981" y="4809000"/>
                  <a:pt x="1356166" y="4816315"/>
                </a:cubicBezTo>
                <a:close/>
                <a:moveTo>
                  <a:pt x="3565604" y="4743654"/>
                </a:moveTo>
                <a:lnTo>
                  <a:pt x="3530127" y="4734511"/>
                </a:lnTo>
                <a:cubicBezTo>
                  <a:pt x="3541831" y="4688793"/>
                  <a:pt x="3549389" y="4641735"/>
                  <a:pt x="3552559" y="4594554"/>
                </a:cubicBezTo>
                <a:lnTo>
                  <a:pt x="3589011" y="4596992"/>
                </a:lnTo>
                <a:cubicBezTo>
                  <a:pt x="3585842" y="4646489"/>
                  <a:pt x="3577917" y="4695864"/>
                  <a:pt x="3565604" y="4743654"/>
                </a:cubicBezTo>
                <a:close/>
                <a:moveTo>
                  <a:pt x="3549024" y="4452891"/>
                </a:moveTo>
                <a:cubicBezTo>
                  <a:pt x="3543538" y="4405954"/>
                  <a:pt x="3533541" y="4359261"/>
                  <a:pt x="3519399" y="4314275"/>
                </a:cubicBezTo>
                <a:lnTo>
                  <a:pt x="3554266" y="4303425"/>
                </a:lnTo>
                <a:cubicBezTo>
                  <a:pt x="3569018" y="4350605"/>
                  <a:pt x="3579502" y="4399492"/>
                  <a:pt x="3585232" y="4448746"/>
                </a:cubicBezTo>
                <a:lnTo>
                  <a:pt x="3549024" y="4452891"/>
                </a:lnTo>
                <a:close/>
                <a:moveTo>
                  <a:pt x="3464782" y="4183462"/>
                </a:moveTo>
                <a:cubicBezTo>
                  <a:pt x="3442593" y="4141889"/>
                  <a:pt x="3416382" y="4102023"/>
                  <a:pt x="3386757" y="4065206"/>
                </a:cubicBezTo>
                <a:lnTo>
                  <a:pt x="3415284" y="4042286"/>
                </a:lnTo>
                <a:cubicBezTo>
                  <a:pt x="3446251" y="4080933"/>
                  <a:pt x="3473803" y="4122627"/>
                  <a:pt x="3497089" y="4166272"/>
                </a:cubicBezTo>
                <a:lnTo>
                  <a:pt x="3464782" y="4183462"/>
                </a:lnTo>
                <a:close/>
                <a:moveTo>
                  <a:pt x="5897199" y="4111289"/>
                </a:moveTo>
                <a:cubicBezTo>
                  <a:pt x="5872451" y="4111289"/>
                  <a:pt x="5847215" y="4110314"/>
                  <a:pt x="5822467" y="4108485"/>
                </a:cubicBezTo>
                <a:lnTo>
                  <a:pt x="5825271" y="4072033"/>
                </a:lnTo>
                <a:cubicBezTo>
                  <a:pt x="5872573" y="4075690"/>
                  <a:pt x="5920485" y="4075690"/>
                  <a:pt x="5967788" y="4072155"/>
                </a:cubicBezTo>
                <a:lnTo>
                  <a:pt x="5970469" y="4108607"/>
                </a:lnTo>
                <a:cubicBezTo>
                  <a:pt x="5946209" y="4110435"/>
                  <a:pt x="5921582" y="4111289"/>
                  <a:pt x="5897199" y="4111289"/>
                </a:cubicBezTo>
                <a:close/>
                <a:moveTo>
                  <a:pt x="6116766" y="4086297"/>
                </a:moveTo>
                <a:lnTo>
                  <a:pt x="6108476" y="4050698"/>
                </a:lnTo>
                <a:cubicBezTo>
                  <a:pt x="6154681" y="4039969"/>
                  <a:pt x="6200399" y="4025706"/>
                  <a:pt x="6244409" y="4008028"/>
                </a:cubicBezTo>
                <a:lnTo>
                  <a:pt x="6258064" y="4042042"/>
                </a:lnTo>
                <a:cubicBezTo>
                  <a:pt x="6212346" y="4060329"/>
                  <a:pt x="6164922" y="4075203"/>
                  <a:pt x="6116766" y="4086297"/>
                </a:cubicBezTo>
                <a:close/>
                <a:moveTo>
                  <a:pt x="5676170" y="4085931"/>
                </a:moveTo>
                <a:cubicBezTo>
                  <a:pt x="5628136" y="4074715"/>
                  <a:pt x="5580712" y="4059841"/>
                  <a:pt x="5534995" y="4041432"/>
                </a:cubicBezTo>
                <a:lnTo>
                  <a:pt x="5548649" y="4007540"/>
                </a:lnTo>
                <a:cubicBezTo>
                  <a:pt x="5592660" y="4025218"/>
                  <a:pt x="5638377" y="4039604"/>
                  <a:pt x="5684460" y="4050332"/>
                </a:cubicBezTo>
                <a:lnTo>
                  <a:pt x="5676170" y="4085931"/>
                </a:lnTo>
                <a:close/>
                <a:moveTo>
                  <a:pt x="6390828" y="3976696"/>
                </a:moveTo>
                <a:lnTo>
                  <a:pt x="6372174" y="3945243"/>
                </a:lnTo>
                <a:cubicBezTo>
                  <a:pt x="6412894" y="3921226"/>
                  <a:pt x="6452150" y="3893673"/>
                  <a:pt x="6488846" y="3863561"/>
                </a:cubicBezTo>
                <a:lnTo>
                  <a:pt x="6512010" y="3891845"/>
                </a:lnTo>
                <a:cubicBezTo>
                  <a:pt x="6473851" y="3923054"/>
                  <a:pt x="6433131" y="3951704"/>
                  <a:pt x="6390828" y="3976696"/>
                </a:cubicBezTo>
                <a:close/>
                <a:moveTo>
                  <a:pt x="5402231" y="3975965"/>
                </a:moveTo>
                <a:cubicBezTo>
                  <a:pt x="5359927" y="3950851"/>
                  <a:pt x="5319208" y="3922323"/>
                  <a:pt x="5281049" y="3890869"/>
                </a:cubicBezTo>
                <a:lnTo>
                  <a:pt x="5304334" y="3862585"/>
                </a:lnTo>
                <a:cubicBezTo>
                  <a:pt x="5341030" y="3892820"/>
                  <a:pt x="5380164" y="3920250"/>
                  <a:pt x="5420884" y="3944389"/>
                </a:cubicBezTo>
                <a:lnTo>
                  <a:pt x="5402231" y="3975965"/>
                </a:lnTo>
                <a:close/>
                <a:moveTo>
                  <a:pt x="3289470" y="3959385"/>
                </a:moveTo>
                <a:lnTo>
                  <a:pt x="3188769" y="3854539"/>
                </a:lnTo>
                <a:lnTo>
                  <a:pt x="3215225" y="3829181"/>
                </a:lnTo>
                <a:lnTo>
                  <a:pt x="3315925" y="3934027"/>
                </a:lnTo>
                <a:lnTo>
                  <a:pt x="3289470" y="3959385"/>
                </a:lnTo>
                <a:close/>
                <a:moveTo>
                  <a:pt x="6619903" y="3791022"/>
                </a:moveTo>
                <a:lnTo>
                  <a:pt x="6593448" y="3765786"/>
                </a:lnTo>
                <a:cubicBezTo>
                  <a:pt x="6626364" y="3731284"/>
                  <a:pt x="6656842" y="3694223"/>
                  <a:pt x="6684029" y="3655698"/>
                </a:cubicBezTo>
                <a:lnTo>
                  <a:pt x="6713898" y="3676789"/>
                </a:lnTo>
                <a:cubicBezTo>
                  <a:pt x="6685614" y="3716899"/>
                  <a:pt x="6653916" y="3755301"/>
                  <a:pt x="6619903" y="3791022"/>
                </a:cubicBezTo>
                <a:close/>
                <a:moveTo>
                  <a:pt x="5174131" y="3789559"/>
                </a:moveTo>
                <a:lnTo>
                  <a:pt x="5072577" y="3685445"/>
                </a:lnTo>
                <a:lnTo>
                  <a:pt x="5098788" y="3659965"/>
                </a:lnTo>
                <a:lnTo>
                  <a:pt x="5200342" y="3764079"/>
                </a:lnTo>
                <a:lnTo>
                  <a:pt x="5174131" y="3789559"/>
                </a:lnTo>
                <a:close/>
                <a:moveTo>
                  <a:pt x="3088191" y="3749571"/>
                </a:moveTo>
                <a:lnTo>
                  <a:pt x="3046740" y="3706414"/>
                </a:lnTo>
                <a:cubicBezTo>
                  <a:pt x="3026381" y="3686055"/>
                  <a:pt x="3006753" y="3664110"/>
                  <a:pt x="2988709" y="3641313"/>
                </a:cubicBezTo>
                <a:lnTo>
                  <a:pt x="3017359" y="3618636"/>
                </a:lnTo>
                <a:cubicBezTo>
                  <a:pt x="3034549" y="3640337"/>
                  <a:pt x="3053202" y="3661306"/>
                  <a:pt x="3072830" y="3680934"/>
                </a:cubicBezTo>
                <a:lnTo>
                  <a:pt x="3114524" y="3724457"/>
                </a:lnTo>
                <a:lnTo>
                  <a:pt x="3088191" y="3749571"/>
                </a:lnTo>
                <a:close/>
                <a:moveTo>
                  <a:pt x="4971145" y="3581331"/>
                </a:moveTo>
                <a:lnTo>
                  <a:pt x="4869591" y="3477217"/>
                </a:lnTo>
                <a:lnTo>
                  <a:pt x="4895802" y="3451737"/>
                </a:lnTo>
                <a:lnTo>
                  <a:pt x="4997356" y="3555851"/>
                </a:lnTo>
                <a:lnTo>
                  <a:pt x="4971145" y="3581331"/>
                </a:lnTo>
                <a:close/>
                <a:moveTo>
                  <a:pt x="6790216" y="3550121"/>
                </a:moveTo>
                <a:lnTo>
                  <a:pt x="6757543" y="3533663"/>
                </a:lnTo>
                <a:cubicBezTo>
                  <a:pt x="6778878" y="3491359"/>
                  <a:pt x="6797287" y="3447104"/>
                  <a:pt x="6812282" y="3401996"/>
                </a:cubicBezTo>
                <a:lnTo>
                  <a:pt x="6847028" y="3413456"/>
                </a:lnTo>
                <a:cubicBezTo>
                  <a:pt x="6831422" y="3460271"/>
                  <a:pt x="6812282" y="3506232"/>
                  <a:pt x="6790216" y="3550121"/>
                </a:cubicBezTo>
                <a:close/>
                <a:moveTo>
                  <a:pt x="2908368" y="3515985"/>
                </a:moveTo>
                <a:cubicBezTo>
                  <a:pt x="2885936" y="3471852"/>
                  <a:pt x="2867771" y="3425160"/>
                  <a:pt x="2854482" y="3377370"/>
                </a:cubicBezTo>
                <a:lnTo>
                  <a:pt x="2889716" y="3367617"/>
                </a:lnTo>
                <a:cubicBezTo>
                  <a:pt x="2902395" y="3413090"/>
                  <a:pt x="2919585" y="3457467"/>
                  <a:pt x="2940919" y="3499527"/>
                </a:cubicBezTo>
                <a:lnTo>
                  <a:pt x="2908368" y="3515985"/>
                </a:lnTo>
                <a:close/>
                <a:moveTo>
                  <a:pt x="4768159" y="3372981"/>
                </a:moveTo>
                <a:lnTo>
                  <a:pt x="4666605" y="3268867"/>
                </a:lnTo>
                <a:lnTo>
                  <a:pt x="4692816" y="3243387"/>
                </a:lnTo>
                <a:lnTo>
                  <a:pt x="4794370" y="3347501"/>
                </a:lnTo>
                <a:lnTo>
                  <a:pt x="4768159" y="3372981"/>
                </a:lnTo>
                <a:close/>
                <a:moveTo>
                  <a:pt x="6882870" y="3269964"/>
                </a:moveTo>
                <a:lnTo>
                  <a:pt x="6846784" y="3263746"/>
                </a:lnTo>
                <a:cubicBezTo>
                  <a:pt x="6854952" y="3217053"/>
                  <a:pt x="6859584" y="3169263"/>
                  <a:pt x="6860804" y="3121839"/>
                </a:cubicBezTo>
                <a:lnTo>
                  <a:pt x="6897378" y="3122692"/>
                </a:lnTo>
                <a:cubicBezTo>
                  <a:pt x="6896158" y="3171946"/>
                  <a:pt x="6891282" y="3221442"/>
                  <a:pt x="6882870" y="3269964"/>
                </a:cubicBezTo>
                <a:close/>
                <a:moveTo>
                  <a:pt x="2829003" y="3230830"/>
                </a:moveTo>
                <a:cubicBezTo>
                  <a:pt x="2827662" y="3212543"/>
                  <a:pt x="2826930" y="3194012"/>
                  <a:pt x="2826930" y="3175603"/>
                </a:cubicBezTo>
                <a:cubicBezTo>
                  <a:pt x="2826930" y="3144515"/>
                  <a:pt x="2828881" y="3113061"/>
                  <a:pt x="2832782" y="3082095"/>
                </a:cubicBezTo>
                <a:lnTo>
                  <a:pt x="2869112" y="3086606"/>
                </a:lnTo>
                <a:cubicBezTo>
                  <a:pt x="2865455" y="3115987"/>
                  <a:pt x="2863626" y="3145856"/>
                  <a:pt x="2863626" y="3175481"/>
                </a:cubicBezTo>
                <a:cubicBezTo>
                  <a:pt x="2863626" y="3193036"/>
                  <a:pt x="2864236" y="3210714"/>
                  <a:pt x="2865577" y="3228026"/>
                </a:cubicBezTo>
                <a:lnTo>
                  <a:pt x="2829003" y="3230830"/>
                </a:lnTo>
                <a:close/>
                <a:moveTo>
                  <a:pt x="4565173" y="3164752"/>
                </a:moveTo>
                <a:lnTo>
                  <a:pt x="4463741" y="3060639"/>
                </a:lnTo>
                <a:lnTo>
                  <a:pt x="4489952" y="3035159"/>
                </a:lnTo>
                <a:lnTo>
                  <a:pt x="4591384" y="3139272"/>
                </a:lnTo>
                <a:lnTo>
                  <a:pt x="4565173" y="3164752"/>
                </a:lnTo>
                <a:close/>
                <a:moveTo>
                  <a:pt x="6853855" y="2979444"/>
                </a:moveTo>
                <a:cubicBezTo>
                  <a:pt x="6848003" y="2932385"/>
                  <a:pt x="6838616" y="2885327"/>
                  <a:pt x="6825937" y="2839731"/>
                </a:cubicBezTo>
                <a:lnTo>
                  <a:pt x="6861169" y="2829978"/>
                </a:lnTo>
                <a:cubicBezTo>
                  <a:pt x="6874336" y="2877403"/>
                  <a:pt x="6884089" y="2926168"/>
                  <a:pt x="6890185" y="2975055"/>
                </a:cubicBezTo>
                <a:lnTo>
                  <a:pt x="6853855" y="2979444"/>
                </a:lnTo>
                <a:close/>
                <a:moveTo>
                  <a:pt x="4362187" y="2956524"/>
                </a:moveTo>
                <a:lnTo>
                  <a:pt x="4260755" y="2852410"/>
                </a:lnTo>
                <a:lnTo>
                  <a:pt x="4286966" y="2826930"/>
                </a:lnTo>
                <a:lnTo>
                  <a:pt x="4388520" y="2931044"/>
                </a:lnTo>
                <a:lnTo>
                  <a:pt x="4362187" y="2956524"/>
                </a:lnTo>
                <a:close/>
                <a:moveTo>
                  <a:pt x="2900444" y="2948600"/>
                </a:moveTo>
                <a:lnTo>
                  <a:pt x="2865699" y="2937018"/>
                </a:lnTo>
                <a:cubicBezTo>
                  <a:pt x="2881426" y="2889960"/>
                  <a:pt x="2901907" y="2844242"/>
                  <a:pt x="2926655" y="2801328"/>
                </a:cubicBezTo>
                <a:lnTo>
                  <a:pt x="2958353" y="2819615"/>
                </a:lnTo>
                <a:cubicBezTo>
                  <a:pt x="2934824" y="2860456"/>
                  <a:pt x="2915317" y="2903858"/>
                  <a:pt x="2900444" y="2948600"/>
                </a:cubicBezTo>
                <a:close/>
                <a:moveTo>
                  <a:pt x="4159201" y="2748174"/>
                </a:moveTo>
                <a:lnTo>
                  <a:pt x="4089832" y="2676977"/>
                </a:lnTo>
                <a:cubicBezTo>
                  <a:pt x="4079347" y="2666248"/>
                  <a:pt x="4068497" y="2655764"/>
                  <a:pt x="4057525" y="2645889"/>
                </a:cubicBezTo>
                <a:lnTo>
                  <a:pt x="4082151" y="2618824"/>
                </a:lnTo>
                <a:cubicBezTo>
                  <a:pt x="4093611" y="2629309"/>
                  <a:pt x="4105071" y="2640281"/>
                  <a:pt x="4116043" y="2651497"/>
                </a:cubicBezTo>
                <a:lnTo>
                  <a:pt x="4185412" y="2722694"/>
                </a:lnTo>
                <a:lnTo>
                  <a:pt x="4159201" y="2748174"/>
                </a:lnTo>
                <a:close/>
                <a:moveTo>
                  <a:pt x="6777659" y="2705626"/>
                </a:moveTo>
                <a:cubicBezTo>
                  <a:pt x="6758274" y="2662347"/>
                  <a:pt x="6735477" y="2620165"/>
                  <a:pt x="6709875" y="2580299"/>
                </a:cubicBezTo>
                <a:lnTo>
                  <a:pt x="6740719" y="2560549"/>
                </a:lnTo>
                <a:cubicBezTo>
                  <a:pt x="6767296" y="2602000"/>
                  <a:pt x="6790947" y="2645767"/>
                  <a:pt x="6811063" y="2690753"/>
                </a:cubicBezTo>
                <a:lnTo>
                  <a:pt x="6777659" y="2705626"/>
                </a:lnTo>
                <a:close/>
                <a:moveTo>
                  <a:pt x="3040766" y="2704651"/>
                </a:moveTo>
                <a:lnTo>
                  <a:pt x="3013336" y="2680512"/>
                </a:lnTo>
                <a:cubicBezTo>
                  <a:pt x="3024064" y="2668321"/>
                  <a:pt x="3035402" y="2656129"/>
                  <a:pt x="3046984" y="2644548"/>
                </a:cubicBezTo>
                <a:cubicBezTo>
                  <a:pt x="3070513" y="2621018"/>
                  <a:pt x="3095749" y="2598952"/>
                  <a:pt x="3121839" y="2578836"/>
                </a:cubicBezTo>
                <a:lnTo>
                  <a:pt x="3144149" y="2607852"/>
                </a:lnTo>
                <a:cubicBezTo>
                  <a:pt x="3119279" y="2626992"/>
                  <a:pt x="3095262" y="2647961"/>
                  <a:pt x="3072830" y="2670393"/>
                </a:cubicBezTo>
                <a:cubicBezTo>
                  <a:pt x="3061735" y="2681365"/>
                  <a:pt x="3051007" y="2692947"/>
                  <a:pt x="3040766" y="2704651"/>
                </a:cubicBezTo>
                <a:close/>
                <a:moveTo>
                  <a:pt x="3943902" y="2561525"/>
                </a:moveTo>
                <a:cubicBezTo>
                  <a:pt x="3903426" y="2537386"/>
                  <a:pt x="3860269" y="2517148"/>
                  <a:pt x="3815770" y="2501543"/>
                </a:cubicBezTo>
                <a:lnTo>
                  <a:pt x="3827962" y="2467042"/>
                </a:lnTo>
                <a:cubicBezTo>
                  <a:pt x="3874776" y="2483500"/>
                  <a:pt x="3920128" y="2504713"/>
                  <a:pt x="3962676" y="2530193"/>
                </a:cubicBezTo>
                <a:lnTo>
                  <a:pt x="3943902" y="2561525"/>
                </a:lnTo>
                <a:close/>
                <a:moveTo>
                  <a:pt x="3264356" y="2533362"/>
                </a:moveTo>
                <a:lnTo>
                  <a:pt x="3248263" y="2500446"/>
                </a:lnTo>
                <a:cubicBezTo>
                  <a:pt x="3292762" y="2478745"/>
                  <a:pt x="3339698" y="2461312"/>
                  <a:pt x="3387732" y="2448755"/>
                </a:cubicBezTo>
                <a:lnTo>
                  <a:pt x="3396997" y="2484109"/>
                </a:lnTo>
                <a:cubicBezTo>
                  <a:pt x="3351402" y="2496179"/>
                  <a:pt x="3306782" y="2512637"/>
                  <a:pt x="3264356" y="2533362"/>
                </a:cubicBezTo>
                <a:close/>
                <a:moveTo>
                  <a:pt x="3678252" y="2468017"/>
                </a:moveTo>
                <a:cubicBezTo>
                  <a:pt x="3631681" y="2461434"/>
                  <a:pt x="3583891" y="2459483"/>
                  <a:pt x="3536832" y="2462165"/>
                </a:cubicBezTo>
                <a:lnTo>
                  <a:pt x="3534760" y="2425591"/>
                </a:lnTo>
                <a:cubicBezTo>
                  <a:pt x="3584135" y="2422665"/>
                  <a:pt x="3634363" y="2424860"/>
                  <a:pt x="3683372" y="2431687"/>
                </a:cubicBezTo>
                <a:lnTo>
                  <a:pt x="3678252" y="2468017"/>
                </a:lnTo>
                <a:close/>
                <a:moveTo>
                  <a:pt x="6624291" y="2466432"/>
                </a:moveTo>
                <a:cubicBezTo>
                  <a:pt x="6609784" y="2449852"/>
                  <a:pt x="6594545" y="2433515"/>
                  <a:pt x="6578940" y="2417911"/>
                </a:cubicBezTo>
                <a:lnTo>
                  <a:pt x="6524201" y="2363293"/>
                </a:lnTo>
                <a:lnTo>
                  <a:pt x="6549803" y="2337204"/>
                </a:lnTo>
                <a:lnTo>
                  <a:pt x="6604786" y="2392065"/>
                </a:lnTo>
                <a:cubicBezTo>
                  <a:pt x="6621000" y="2408279"/>
                  <a:pt x="6636849" y="2425103"/>
                  <a:pt x="6651844" y="2442415"/>
                </a:cubicBezTo>
                <a:lnTo>
                  <a:pt x="6624291" y="2466432"/>
                </a:lnTo>
                <a:close/>
                <a:moveTo>
                  <a:pt x="6420940" y="2260276"/>
                </a:moveTo>
                <a:lnTo>
                  <a:pt x="6318045" y="2157625"/>
                </a:lnTo>
                <a:lnTo>
                  <a:pt x="6343890" y="2131780"/>
                </a:lnTo>
                <a:lnTo>
                  <a:pt x="6446785" y="2234431"/>
                </a:lnTo>
                <a:lnTo>
                  <a:pt x="6420940" y="2260276"/>
                </a:lnTo>
                <a:close/>
                <a:moveTo>
                  <a:pt x="6215272" y="2053511"/>
                </a:moveTo>
                <a:cubicBezTo>
                  <a:pt x="6181990" y="2016571"/>
                  <a:pt x="6152365" y="1976218"/>
                  <a:pt x="6127129" y="1933792"/>
                </a:cubicBezTo>
                <a:lnTo>
                  <a:pt x="6158582" y="1915139"/>
                </a:lnTo>
                <a:cubicBezTo>
                  <a:pt x="6182599" y="1955493"/>
                  <a:pt x="6210883" y="1993895"/>
                  <a:pt x="6242458" y="2029128"/>
                </a:cubicBezTo>
                <a:lnTo>
                  <a:pt x="6215272" y="2053511"/>
                </a:lnTo>
                <a:close/>
                <a:moveTo>
                  <a:pt x="6063978" y="1798956"/>
                </a:moveTo>
                <a:cubicBezTo>
                  <a:pt x="6047519" y="1752263"/>
                  <a:pt x="6035571" y="1703619"/>
                  <a:pt x="6028500" y="1654488"/>
                </a:cubicBezTo>
                <a:lnTo>
                  <a:pt x="6064709" y="1649246"/>
                </a:lnTo>
                <a:cubicBezTo>
                  <a:pt x="6071414" y="1696061"/>
                  <a:pt x="6082874" y="1742266"/>
                  <a:pt x="6098479" y="1786764"/>
                </a:cubicBezTo>
                <a:lnTo>
                  <a:pt x="6063978" y="1798956"/>
                </a:lnTo>
                <a:close/>
                <a:moveTo>
                  <a:pt x="6058125" y="1507948"/>
                </a:moveTo>
                <a:lnTo>
                  <a:pt x="6021551" y="1506119"/>
                </a:lnTo>
                <a:cubicBezTo>
                  <a:pt x="6024112" y="1456501"/>
                  <a:pt x="6031548" y="1407126"/>
                  <a:pt x="6043617" y="1359092"/>
                </a:cubicBezTo>
                <a:lnTo>
                  <a:pt x="6079095" y="1367991"/>
                </a:lnTo>
                <a:cubicBezTo>
                  <a:pt x="6067635" y="1413587"/>
                  <a:pt x="6060564" y="1460768"/>
                  <a:pt x="6058125" y="1507948"/>
                </a:cubicBezTo>
                <a:close/>
                <a:moveTo>
                  <a:pt x="8110539" y="1323005"/>
                </a:moveTo>
                <a:lnTo>
                  <a:pt x="8109564" y="1286431"/>
                </a:lnTo>
                <a:cubicBezTo>
                  <a:pt x="8156988" y="1285090"/>
                  <a:pt x="8204778" y="1280458"/>
                  <a:pt x="8251593" y="1272411"/>
                </a:cubicBezTo>
                <a:lnTo>
                  <a:pt x="8257689" y="1308498"/>
                </a:lnTo>
                <a:cubicBezTo>
                  <a:pt x="8209167" y="1316788"/>
                  <a:pt x="8159670" y="1321664"/>
                  <a:pt x="8110539" y="1323005"/>
                </a:cubicBezTo>
                <a:close/>
                <a:moveTo>
                  <a:pt x="7962780" y="1316788"/>
                </a:moveTo>
                <a:cubicBezTo>
                  <a:pt x="7913893" y="1311302"/>
                  <a:pt x="7865005" y="1302158"/>
                  <a:pt x="7817459" y="1289845"/>
                </a:cubicBezTo>
                <a:lnTo>
                  <a:pt x="7826602" y="1254490"/>
                </a:lnTo>
                <a:cubicBezTo>
                  <a:pt x="7872442" y="1266437"/>
                  <a:pt x="7919622" y="1275093"/>
                  <a:pt x="7966925" y="1280458"/>
                </a:cubicBezTo>
                <a:lnTo>
                  <a:pt x="7962780" y="1316788"/>
                </a:lnTo>
                <a:close/>
                <a:moveTo>
                  <a:pt x="8401180" y="1273508"/>
                </a:moveTo>
                <a:lnTo>
                  <a:pt x="8390087" y="1238641"/>
                </a:lnTo>
                <a:cubicBezTo>
                  <a:pt x="8435316" y="1224133"/>
                  <a:pt x="8479815" y="1206334"/>
                  <a:pt x="8522484" y="1185609"/>
                </a:cubicBezTo>
                <a:lnTo>
                  <a:pt x="8538455" y="1218525"/>
                </a:lnTo>
                <a:cubicBezTo>
                  <a:pt x="8494200" y="1239982"/>
                  <a:pt x="8448117" y="1258513"/>
                  <a:pt x="8401180" y="1273508"/>
                </a:cubicBezTo>
                <a:close/>
                <a:moveTo>
                  <a:pt x="7677258" y="1242664"/>
                </a:moveTo>
                <a:cubicBezTo>
                  <a:pt x="7631907" y="1223768"/>
                  <a:pt x="7587408" y="1201336"/>
                  <a:pt x="7545226" y="1176100"/>
                </a:cubicBezTo>
                <a:lnTo>
                  <a:pt x="7564001" y="1144646"/>
                </a:lnTo>
                <a:cubicBezTo>
                  <a:pt x="7604720" y="1168907"/>
                  <a:pt x="7647633" y="1190607"/>
                  <a:pt x="7691401" y="1208894"/>
                </a:cubicBezTo>
                <a:lnTo>
                  <a:pt x="7677258" y="1242664"/>
                </a:lnTo>
                <a:close/>
                <a:moveTo>
                  <a:pt x="6127007" y="1234740"/>
                </a:moveTo>
                <a:lnTo>
                  <a:pt x="6093968" y="1219013"/>
                </a:lnTo>
                <a:cubicBezTo>
                  <a:pt x="6115181" y="1174271"/>
                  <a:pt x="6141026" y="1131357"/>
                  <a:pt x="6170652" y="1091613"/>
                </a:cubicBezTo>
                <a:lnTo>
                  <a:pt x="6200033" y="1113436"/>
                </a:lnTo>
                <a:cubicBezTo>
                  <a:pt x="6171749" y="1151351"/>
                  <a:pt x="6147122" y="1192070"/>
                  <a:pt x="6127007" y="1234740"/>
                </a:cubicBezTo>
                <a:close/>
                <a:moveTo>
                  <a:pt x="8666464" y="1144646"/>
                </a:moveTo>
                <a:lnTo>
                  <a:pt x="8645983" y="1114289"/>
                </a:lnTo>
                <a:cubicBezTo>
                  <a:pt x="8685239" y="1087834"/>
                  <a:pt x="8722910" y="1058209"/>
                  <a:pt x="8758265" y="1026268"/>
                </a:cubicBezTo>
                <a:lnTo>
                  <a:pt x="8782769" y="1053333"/>
                </a:lnTo>
                <a:cubicBezTo>
                  <a:pt x="8746195" y="1086493"/>
                  <a:pt x="8707062" y="1117215"/>
                  <a:pt x="8666464" y="1144646"/>
                </a:cubicBezTo>
                <a:close/>
                <a:moveTo>
                  <a:pt x="7424044" y="1091613"/>
                </a:moveTo>
                <a:cubicBezTo>
                  <a:pt x="7395151" y="1068206"/>
                  <a:pt x="7367110" y="1042970"/>
                  <a:pt x="7340655" y="1016515"/>
                </a:cubicBezTo>
                <a:lnTo>
                  <a:pt x="7316028" y="991888"/>
                </a:lnTo>
                <a:lnTo>
                  <a:pt x="7341631" y="965799"/>
                </a:lnTo>
                <a:lnTo>
                  <a:pt x="7366623" y="990669"/>
                </a:lnTo>
                <a:cubicBezTo>
                  <a:pt x="7392103" y="1016271"/>
                  <a:pt x="7419168" y="1040654"/>
                  <a:pt x="7447085" y="1063208"/>
                </a:cubicBezTo>
                <a:lnTo>
                  <a:pt x="7424044" y="1091613"/>
                </a:lnTo>
                <a:close/>
                <a:moveTo>
                  <a:pt x="6295125" y="1007371"/>
                </a:moveTo>
                <a:lnTo>
                  <a:pt x="6269279" y="981526"/>
                </a:lnTo>
                <a:lnTo>
                  <a:pt x="6273425" y="977381"/>
                </a:lnTo>
                <a:cubicBezTo>
                  <a:pt x="6307194" y="943610"/>
                  <a:pt x="6344135" y="912766"/>
                  <a:pt x="6383025" y="885945"/>
                </a:cubicBezTo>
                <a:lnTo>
                  <a:pt x="6403750" y="916058"/>
                </a:lnTo>
                <a:cubicBezTo>
                  <a:pt x="6366688" y="941660"/>
                  <a:pt x="6331577" y="970919"/>
                  <a:pt x="6299270" y="1003226"/>
                </a:cubicBezTo>
                <a:lnTo>
                  <a:pt x="6295125" y="1007371"/>
                </a:lnTo>
                <a:close/>
                <a:moveTo>
                  <a:pt x="8887127" y="950925"/>
                </a:moveTo>
                <a:lnTo>
                  <a:pt x="8861282" y="925080"/>
                </a:lnTo>
                <a:lnTo>
                  <a:pt x="8964055" y="822307"/>
                </a:lnTo>
                <a:lnTo>
                  <a:pt x="8989901" y="848152"/>
                </a:lnTo>
                <a:lnTo>
                  <a:pt x="8887127" y="950925"/>
                </a:lnTo>
                <a:close/>
                <a:moveTo>
                  <a:pt x="7205697" y="903257"/>
                </a:moveTo>
                <a:cubicBezTo>
                  <a:pt x="7166197" y="877533"/>
                  <a:pt x="7123893" y="855589"/>
                  <a:pt x="7080126" y="838155"/>
                </a:cubicBezTo>
                <a:lnTo>
                  <a:pt x="7093658" y="804141"/>
                </a:lnTo>
                <a:cubicBezTo>
                  <a:pt x="7139742" y="822428"/>
                  <a:pt x="7184118" y="845470"/>
                  <a:pt x="7225691" y="872657"/>
                </a:cubicBezTo>
                <a:lnTo>
                  <a:pt x="7205697" y="903257"/>
                </a:lnTo>
                <a:close/>
                <a:moveTo>
                  <a:pt x="6527492" y="847421"/>
                </a:moveTo>
                <a:lnTo>
                  <a:pt x="6512984" y="813895"/>
                </a:lnTo>
                <a:cubicBezTo>
                  <a:pt x="6558459" y="794145"/>
                  <a:pt x="6606126" y="778783"/>
                  <a:pt x="6654527" y="768299"/>
                </a:cubicBezTo>
                <a:lnTo>
                  <a:pt x="6662206" y="804020"/>
                </a:lnTo>
                <a:cubicBezTo>
                  <a:pt x="6616246" y="814016"/>
                  <a:pt x="6570893" y="828646"/>
                  <a:pt x="6527492" y="847421"/>
                </a:cubicBezTo>
                <a:close/>
                <a:moveTo>
                  <a:pt x="6943949" y="799143"/>
                </a:moveTo>
                <a:cubicBezTo>
                  <a:pt x="6901767" y="791462"/>
                  <a:pt x="6858488" y="787561"/>
                  <a:pt x="6815452" y="787561"/>
                </a:cubicBezTo>
                <a:cubicBezTo>
                  <a:pt x="6811307" y="787561"/>
                  <a:pt x="6807040" y="787561"/>
                  <a:pt x="6802895" y="787683"/>
                </a:cubicBezTo>
                <a:lnTo>
                  <a:pt x="6802286" y="751109"/>
                </a:lnTo>
                <a:cubicBezTo>
                  <a:pt x="6806674" y="750987"/>
                  <a:pt x="6811063" y="751109"/>
                  <a:pt x="6815574" y="750987"/>
                </a:cubicBezTo>
                <a:cubicBezTo>
                  <a:pt x="6860804" y="750987"/>
                  <a:pt x="6906155" y="755132"/>
                  <a:pt x="6950532" y="763178"/>
                </a:cubicBezTo>
                <a:lnTo>
                  <a:pt x="6943949" y="799143"/>
                </a:lnTo>
                <a:close/>
                <a:moveTo>
                  <a:pt x="9092674" y="745379"/>
                </a:moveTo>
                <a:lnTo>
                  <a:pt x="9066828" y="719534"/>
                </a:lnTo>
                <a:lnTo>
                  <a:pt x="9169601" y="616760"/>
                </a:lnTo>
                <a:lnTo>
                  <a:pt x="9195447" y="642606"/>
                </a:lnTo>
                <a:lnTo>
                  <a:pt x="9092674" y="745379"/>
                </a:lnTo>
                <a:close/>
                <a:moveTo>
                  <a:pt x="9298342" y="539711"/>
                </a:moveTo>
                <a:lnTo>
                  <a:pt x="9272496" y="513865"/>
                </a:lnTo>
                <a:lnTo>
                  <a:pt x="9375269" y="411092"/>
                </a:lnTo>
                <a:lnTo>
                  <a:pt x="9401115" y="436938"/>
                </a:lnTo>
                <a:lnTo>
                  <a:pt x="9298342" y="539711"/>
                </a:lnTo>
                <a:close/>
                <a:moveTo>
                  <a:pt x="9503888" y="334165"/>
                </a:moveTo>
                <a:lnTo>
                  <a:pt x="9478042" y="308319"/>
                </a:lnTo>
                <a:lnTo>
                  <a:pt x="9580815" y="205546"/>
                </a:lnTo>
                <a:lnTo>
                  <a:pt x="9606661" y="231392"/>
                </a:lnTo>
                <a:lnTo>
                  <a:pt x="9503888" y="334165"/>
                </a:lnTo>
                <a:close/>
                <a:moveTo>
                  <a:pt x="9709434" y="128619"/>
                </a:moveTo>
                <a:lnTo>
                  <a:pt x="9683588" y="102773"/>
                </a:lnTo>
                <a:lnTo>
                  <a:pt x="9786361" y="0"/>
                </a:lnTo>
                <a:lnTo>
                  <a:pt x="9812207" y="25846"/>
                </a:lnTo>
                <a:lnTo>
                  <a:pt x="9709434" y="128619"/>
                </a:lnTo>
                <a:close/>
              </a:path>
            </a:pathLst>
          </a:custGeom>
          <a:solidFill>
            <a:srgbClr val="FFFFFF"/>
          </a:solidFill>
          <a:ln w="12186" cap="flat">
            <a:noFill/>
            <a:prstDash val="solid"/>
            <a:miter/>
          </a:ln>
        </p:spPr>
        <p:txBody>
          <a:bodyPr rtlCol="0" anchor="ctr"/>
          <a:lstStyle/>
          <a:p>
            <a:endParaRPr lang="en-ID" sz="1050"/>
          </a:p>
        </p:txBody>
      </p:sp>
      <p:sp>
        <p:nvSpPr>
          <p:cNvPr id="18" name="Freeform: Shape 17">
            <a:extLst>
              <a:ext uri="{FF2B5EF4-FFF2-40B4-BE49-F238E27FC236}">
                <a16:creationId xmlns:a16="http://schemas.microsoft.com/office/drawing/2014/main" id="{A1B880FA-3C4E-83AD-1AE0-325C87D54602}"/>
              </a:ext>
            </a:extLst>
          </p:cNvPr>
          <p:cNvSpPr/>
          <p:nvPr/>
        </p:nvSpPr>
        <p:spPr>
          <a:xfrm>
            <a:off x="3768489" y="1910718"/>
            <a:ext cx="449812" cy="661032"/>
          </a:xfrm>
          <a:custGeom>
            <a:avLst/>
            <a:gdLst>
              <a:gd name="connsiteX0" fmla="*/ 493196 w 986392"/>
              <a:gd name="connsiteY0" fmla="*/ 0 h 1449575"/>
              <a:gd name="connsiteX1" fmla="*/ 986392 w 986392"/>
              <a:gd name="connsiteY1" fmla="*/ 493196 h 1449575"/>
              <a:gd name="connsiteX2" fmla="*/ 493196 w 986392"/>
              <a:gd name="connsiteY2" fmla="*/ 1449575 h 1449575"/>
              <a:gd name="connsiteX3" fmla="*/ 0 w 986392"/>
              <a:gd name="connsiteY3" fmla="*/ 493196 h 1449575"/>
              <a:gd name="connsiteX4" fmla="*/ 493196 w 986392"/>
              <a:gd name="connsiteY4" fmla="*/ 0 h 144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392" h="1449575">
                <a:moveTo>
                  <a:pt x="493196" y="0"/>
                </a:moveTo>
                <a:cubicBezTo>
                  <a:pt x="764941" y="0"/>
                  <a:pt x="985581" y="220640"/>
                  <a:pt x="986392" y="493196"/>
                </a:cubicBezTo>
                <a:cubicBezTo>
                  <a:pt x="986392" y="974224"/>
                  <a:pt x="493196" y="1449575"/>
                  <a:pt x="493196" y="1449575"/>
                </a:cubicBezTo>
                <a:cubicBezTo>
                  <a:pt x="493196" y="1449575"/>
                  <a:pt x="0" y="945022"/>
                  <a:pt x="0" y="493196"/>
                </a:cubicBezTo>
                <a:cubicBezTo>
                  <a:pt x="0" y="220640"/>
                  <a:pt x="220640" y="0"/>
                  <a:pt x="493196" y="0"/>
                </a:cubicBezTo>
                <a:close/>
              </a:path>
            </a:pathLst>
          </a:custGeom>
          <a:solidFill>
            <a:schemeClr val="accent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050"/>
          </a:p>
        </p:txBody>
      </p:sp>
      <p:sp>
        <p:nvSpPr>
          <p:cNvPr id="19" name="Oval 18">
            <a:extLst>
              <a:ext uri="{FF2B5EF4-FFF2-40B4-BE49-F238E27FC236}">
                <a16:creationId xmlns:a16="http://schemas.microsoft.com/office/drawing/2014/main" id="{00E697FA-B2B9-C77F-4151-D6942EC78BA9}"/>
              </a:ext>
            </a:extLst>
          </p:cNvPr>
          <p:cNvSpPr/>
          <p:nvPr/>
        </p:nvSpPr>
        <p:spPr>
          <a:xfrm>
            <a:off x="3832995" y="1986123"/>
            <a:ext cx="320798" cy="320798"/>
          </a:xfrm>
          <a:prstGeom prst="ellipse">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050" dirty="0">
              <a:solidFill>
                <a:schemeClr val="accent1"/>
              </a:solidFill>
              <a:latin typeface="+mj-lt"/>
            </a:endParaRPr>
          </a:p>
        </p:txBody>
      </p:sp>
      <p:sp>
        <p:nvSpPr>
          <p:cNvPr id="21" name="Freeform: Shape 20">
            <a:extLst>
              <a:ext uri="{FF2B5EF4-FFF2-40B4-BE49-F238E27FC236}">
                <a16:creationId xmlns:a16="http://schemas.microsoft.com/office/drawing/2014/main" id="{B2B232DA-B008-F210-5FA2-6B4AC821A2A8}"/>
              </a:ext>
            </a:extLst>
          </p:cNvPr>
          <p:cNvSpPr/>
          <p:nvPr/>
        </p:nvSpPr>
        <p:spPr>
          <a:xfrm>
            <a:off x="6046910" y="3102394"/>
            <a:ext cx="449812" cy="661032"/>
          </a:xfrm>
          <a:custGeom>
            <a:avLst/>
            <a:gdLst>
              <a:gd name="connsiteX0" fmla="*/ 493196 w 986392"/>
              <a:gd name="connsiteY0" fmla="*/ 0 h 1449575"/>
              <a:gd name="connsiteX1" fmla="*/ 986392 w 986392"/>
              <a:gd name="connsiteY1" fmla="*/ 493196 h 1449575"/>
              <a:gd name="connsiteX2" fmla="*/ 493196 w 986392"/>
              <a:gd name="connsiteY2" fmla="*/ 1449575 h 1449575"/>
              <a:gd name="connsiteX3" fmla="*/ 0 w 986392"/>
              <a:gd name="connsiteY3" fmla="*/ 493196 h 1449575"/>
              <a:gd name="connsiteX4" fmla="*/ 493196 w 986392"/>
              <a:gd name="connsiteY4" fmla="*/ 0 h 144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392" h="1449575">
                <a:moveTo>
                  <a:pt x="493196" y="0"/>
                </a:moveTo>
                <a:cubicBezTo>
                  <a:pt x="764941" y="0"/>
                  <a:pt x="985581" y="220640"/>
                  <a:pt x="986392" y="493196"/>
                </a:cubicBezTo>
                <a:cubicBezTo>
                  <a:pt x="986392" y="974224"/>
                  <a:pt x="493196" y="1449575"/>
                  <a:pt x="493196" y="1449575"/>
                </a:cubicBezTo>
                <a:cubicBezTo>
                  <a:pt x="493196" y="1449575"/>
                  <a:pt x="0" y="945022"/>
                  <a:pt x="0" y="493196"/>
                </a:cubicBezTo>
                <a:cubicBezTo>
                  <a:pt x="0" y="220640"/>
                  <a:pt x="220640" y="0"/>
                  <a:pt x="493196" y="0"/>
                </a:cubicBezTo>
                <a:close/>
              </a:path>
            </a:pathLst>
          </a:custGeom>
          <a:solidFill>
            <a:schemeClr val="accent2"/>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050"/>
          </a:p>
        </p:txBody>
      </p:sp>
      <p:sp>
        <p:nvSpPr>
          <p:cNvPr id="22" name="Oval 21">
            <a:extLst>
              <a:ext uri="{FF2B5EF4-FFF2-40B4-BE49-F238E27FC236}">
                <a16:creationId xmlns:a16="http://schemas.microsoft.com/office/drawing/2014/main" id="{986F6942-354B-E5B0-E3A4-06D9F94ED239}"/>
              </a:ext>
            </a:extLst>
          </p:cNvPr>
          <p:cNvSpPr/>
          <p:nvPr/>
        </p:nvSpPr>
        <p:spPr>
          <a:xfrm>
            <a:off x="6118911" y="3185294"/>
            <a:ext cx="305808" cy="305808"/>
          </a:xfrm>
          <a:prstGeom prst="ellipse">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050" dirty="0">
              <a:solidFill>
                <a:schemeClr val="accent2"/>
              </a:solidFill>
              <a:latin typeface="+mj-lt"/>
            </a:endParaRPr>
          </a:p>
        </p:txBody>
      </p:sp>
      <p:sp>
        <p:nvSpPr>
          <p:cNvPr id="24" name="Freeform: Shape 23">
            <a:extLst>
              <a:ext uri="{FF2B5EF4-FFF2-40B4-BE49-F238E27FC236}">
                <a16:creationId xmlns:a16="http://schemas.microsoft.com/office/drawing/2014/main" id="{24589E89-4C93-B9B1-507A-8E5F358ED77F}"/>
              </a:ext>
            </a:extLst>
          </p:cNvPr>
          <p:cNvSpPr/>
          <p:nvPr/>
        </p:nvSpPr>
        <p:spPr>
          <a:xfrm>
            <a:off x="6046910" y="788062"/>
            <a:ext cx="449812" cy="661032"/>
          </a:xfrm>
          <a:custGeom>
            <a:avLst/>
            <a:gdLst>
              <a:gd name="connsiteX0" fmla="*/ 493196 w 986392"/>
              <a:gd name="connsiteY0" fmla="*/ 0 h 1449575"/>
              <a:gd name="connsiteX1" fmla="*/ 986392 w 986392"/>
              <a:gd name="connsiteY1" fmla="*/ 493196 h 1449575"/>
              <a:gd name="connsiteX2" fmla="*/ 493196 w 986392"/>
              <a:gd name="connsiteY2" fmla="*/ 1449575 h 1449575"/>
              <a:gd name="connsiteX3" fmla="*/ 0 w 986392"/>
              <a:gd name="connsiteY3" fmla="*/ 493196 h 1449575"/>
              <a:gd name="connsiteX4" fmla="*/ 493196 w 986392"/>
              <a:gd name="connsiteY4" fmla="*/ 0 h 144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392" h="1449575">
                <a:moveTo>
                  <a:pt x="493196" y="0"/>
                </a:moveTo>
                <a:cubicBezTo>
                  <a:pt x="764941" y="0"/>
                  <a:pt x="985581" y="220640"/>
                  <a:pt x="986392" y="493196"/>
                </a:cubicBezTo>
                <a:cubicBezTo>
                  <a:pt x="986392" y="974224"/>
                  <a:pt x="493196" y="1449575"/>
                  <a:pt x="493196" y="1449575"/>
                </a:cubicBezTo>
                <a:cubicBezTo>
                  <a:pt x="493196" y="1449575"/>
                  <a:pt x="0" y="945022"/>
                  <a:pt x="0" y="493196"/>
                </a:cubicBezTo>
                <a:cubicBezTo>
                  <a:pt x="0" y="220640"/>
                  <a:pt x="220640" y="0"/>
                  <a:pt x="493196" y="0"/>
                </a:cubicBezTo>
                <a:close/>
              </a:path>
            </a:pathLst>
          </a:custGeom>
          <a:solidFill>
            <a:schemeClr val="accent3"/>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050"/>
          </a:p>
        </p:txBody>
      </p:sp>
      <p:sp>
        <p:nvSpPr>
          <p:cNvPr id="25" name="Oval 24">
            <a:extLst>
              <a:ext uri="{FF2B5EF4-FFF2-40B4-BE49-F238E27FC236}">
                <a16:creationId xmlns:a16="http://schemas.microsoft.com/office/drawing/2014/main" id="{4A82D79F-18A5-B4EF-1A23-6E5CBCC3C131}"/>
              </a:ext>
            </a:extLst>
          </p:cNvPr>
          <p:cNvSpPr/>
          <p:nvPr/>
        </p:nvSpPr>
        <p:spPr>
          <a:xfrm>
            <a:off x="6118911" y="870962"/>
            <a:ext cx="305808" cy="305808"/>
          </a:xfrm>
          <a:prstGeom prst="ellipse">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050" dirty="0">
              <a:solidFill>
                <a:schemeClr val="accent3"/>
              </a:solidFill>
              <a:latin typeface="+mj-lt"/>
            </a:endParaRPr>
          </a:p>
        </p:txBody>
      </p:sp>
      <p:sp>
        <p:nvSpPr>
          <p:cNvPr id="27" name="Freeform: Shape 26">
            <a:extLst>
              <a:ext uri="{FF2B5EF4-FFF2-40B4-BE49-F238E27FC236}">
                <a16:creationId xmlns:a16="http://schemas.microsoft.com/office/drawing/2014/main" id="{13648464-3215-A64C-ED5B-62CC85BE9F32}"/>
              </a:ext>
            </a:extLst>
          </p:cNvPr>
          <p:cNvSpPr/>
          <p:nvPr/>
        </p:nvSpPr>
        <p:spPr>
          <a:xfrm>
            <a:off x="2350937" y="3688021"/>
            <a:ext cx="449812" cy="661032"/>
          </a:xfrm>
          <a:custGeom>
            <a:avLst/>
            <a:gdLst>
              <a:gd name="connsiteX0" fmla="*/ 493196 w 986392"/>
              <a:gd name="connsiteY0" fmla="*/ 0 h 1449575"/>
              <a:gd name="connsiteX1" fmla="*/ 986392 w 986392"/>
              <a:gd name="connsiteY1" fmla="*/ 493196 h 1449575"/>
              <a:gd name="connsiteX2" fmla="*/ 493196 w 986392"/>
              <a:gd name="connsiteY2" fmla="*/ 1449575 h 1449575"/>
              <a:gd name="connsiteX3" fmla="*/ 0 w 986392"/>
              <a:gd name="connsiteY3" fmla="*/ 493196 h 1449575"/>
              <a:gd name="connsiteX4" fmla="*/ 493196 w 986392"/>
              <a:gd name="connsiteY4" fmla="*/ 0 h 144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392" h="1449575">
                <a:moveTo>
                  <a:pt x="493196" y="0"/>
                </a:moveTo>
                <a:cubicBezTo>
                  <a:pt x="764941" y="0"/>
                  <a:pt x="985581" y="220640"/>
                  <a:pt x="986392" y="493196"/>
                </a:cubicBezTo>
                <a:cubicBezTo>
                  <a:pt x="986392" y="974224"/>
                  <a:pt x="493196" y="1449575"/>
                  <a:pt x="493196" y="1449575"/>
                </a:cubicBezTo>
                <a:cubicBezTo>
                  <a:pt x="493196" y="1449575"/>
                  <a:pt x="0" y="945022"/>
                  <a:pt x="0" y="493196"/>
                </a:cubicBezTo>
                <a:cubicBezTo>
                  <a:pt x="0" y="220640"/>
                  <a:pt x="220640" y="0"/>
                  <a:pt x="493196" y="0"/>
                </a:cubicBezTo>
                <a:close/>
              </a:path>
            </a:pathLst>
          </a:custGeom>
          <a:solidFill>
            <a:schemeClr val="accent4"/>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050" dirty="0"/>
          </a:p>
        </p:txBody>
      </p:sp>
      <p:sp>
        <p:nvSpPr>
          <p:cNvPr id="28" name="Oval 27">
            <a:extLst>
              <a:ext uri="{FF2B5EF4-FFF2-40B4-BE49-F238E27FC236}">
                <a16:creationId xmlns:a16="http://schemas.microsoft.com/office/drawing/2014/main" id="{07F32410-F915-B875-5674-1D5087165549}"/>
              </a:ext>
            </a:extLst>
          </p:cNvPr>
          <p:cNvSpPr/>
          <p:nvPr/>
        </p:nvSpPr>
        <p:spPr>
          <a:xfrm>
            <a:off x="2415443" y="3763426"/>
            <a:ext cx="320798" cy="320798"/>
          </a:xfrm>
          <a:prstGeom prst="ellipse">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050" dirty="0">
              <a:solidFill>
                <a:schemeClr val="accent1"/>
              </a:solidFill>
              <a:latin typeface="+mj-lt"/>
            </a:endParaRPr>
          </a:p>
        </p:txBody>
      </p:sp>
      <p:sp>
        <p:nvSpPr>
          <p:cNvPr id="30" name="Freeform: Shape 29">
            <a:extLst>
              <a:ext uri="{FF2B5EF4-FFF2-40B4-BE49-F238E27FC236}">
                <a16:creationId xmlns:a16="http://schemas.microsoft.com/office/drawing/2014/main" id="{35C40330-DA36-F459-3FF4-FC81442A52B7}"/>
              </a:ext>
            </a:extLst>
          </p:cNvPr>
          <p:cNvSpPr/>
          <p:nvPr/>
        </p:nvSpPr>
        <p:spPr>
          <a:xfrm>
            <a:off x="7733494" y="1020820"/>
            <a:ext cx="449812" cy="661032"/>
          </a:xfrm>
          <a:custGeom>
            <a:avLst/>
            <a:gdLst>
              <a:gd name="connsiteX0" fmla="*/ 493196 w 986392"/>
              <a:gd name="connsiteY0" fmla="*/ 0 h 1449575"/>
              <a:gd name="connsiteX1" fmla="*/ 986392 w 986392"/>
              <a:gd name="connsiteY1" fmla="*/ 493196 h 1449575"/>
              <a:gd name="connsiteX2" fmla="*/ 493196 w 986392"/>
              <a:gd name="connsiteY2" fmla="*/ 1449575 h 1449575"/>
              <a:gd name="connsiteX3" fmla="*/ 0 w 986392"/>
              <a:gd name="connsiteY3" fmla="*/ 493196 h 1449575"/>
              <a:gd name="connsiteX4" fmla="*/ 493196 w 986392"/>
              <a:gd name="connsiteY4" fmla="*/ 0 h 144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392" h="1449575">
                <a:moveTo>
                  <a:pt x="493196" y="0"/>
                </a:moveTo>
                <a:cubicBezTo>
                  <a:pt x="764941" y="0"/>
                  <a:pt x="985581" y="220640"/>
                  <a:pt x="986392" y="493196"/>
                </a:cubicBezTo>
                <a:cubicBezTo>
                  <a:pt x="986392" y="974224"/>
                  <a:pt x="493196" y="1449575"/>
                  <a:pt x="493196" y="1449575"/>
                </a:cubicBezTo>
                <a:cubicBezTo>
                  <a:pt x="493196" y="1449575"/>
                  <a:pt x="0" y="945022"/>
                  <a:pt x="0" y="493196"/>
                </a:cubicBezTo>
                <a:cubicBezTo>
                  <a:pt x="0" y="220640"/>
                  <a:pt x="220640" y="0"/>
                  <a:pt x="493196" y="0"/>
                </a:cubicBezTo>
                <a:close/>
              </a:path>
            </a:pathLst>
          </a:custGeom>
          <a:solidFill>
            <a:schemeClr val="accent5"/>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050" dirty="0"/>
          </a:p>
        </p:txBody>
      </p:sp>
      <p:sp>
        <p:nvSpPr>
          <p:cNvPr id="31" name="Oval 30">
            <a:extLst>
              <a:ext uri="{FF2B5EF4-FFF2-40B4-BE49-F238E27FC236}">
                <a16:creationId xmlns:a16="http://schemas.microsoft.com/office/drawing/2014/main" id="{20A32792-407D-46A3-A433-FB34E3BF09A5}"/>
              </a:ext>
            </a:extLst>
          </p:cNvPr>
          <p:cNvSpPr/>
          <p:nvPr/>
        </p:nvSpPr>
        <p:spPr>
          <a:xfrm>
            <a:off x="7805495" y="1103720"/>
            <a:ext cx="305808" cy="305808"/>
          </a:xfrm>
          <a:prstGeom prst="ellipse">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050" dirty="0">
              <a:solidFill>
                <a:schemeClr val="accent3"/>
              </a:solidFill>
              <a:latin typeface="+mj-lt"/>
            </a:endParaRPr>
          </a:p>
        </p:txBody>
      </p:sp>
      <p:sp>
        <p:nvSpPr>
          <p:cNvPr id="33" name="TextBox 32">
            <a:extLst>
              <a:ext uri="{FF2B5EF4-FFF2-40B4-BE49-F238E27FC236}">
                <a16:creationId xmlns:a16="http://schemas.microsoft.com/office/drawing/2014/main" id="{BB428B4D-D14B-7E12-C692-0D6B356C2F98}"/>
              </a:ext>
            </a:extLst>
          </p:cNvPr>
          <p:cNvSpPr txBox="1"/>
          <p:nvPr/>
        </p:nvSpPr>
        <p:spPr>
          <a:xfrm>
            <a:off x="157445" y="2644266"/>
            <a:ext cx="3318287" cy="1010533"/>
          </a:xfrm>
          <a:prstGeom prst="rect">
            <a:avLst/>
          </a:prstGeom>
          <a:noFill/>
        </p:spPr>
        <p:txBody>
          <a:bodyPr wrap="square">
            <a:spAutoFit/>
          </a:bodyPr>
          <a:lstStyle/>
          <a:p>
            <a:pPr algn="ctr">
              <a:spcAft>
                <a:spcPts val="450"/>
              </a:spcAft>
            </a:pPr>
            <a:r>
              <a:rPr lang="en-US" sz="1050" b="1" dirty="0"/>
              <a:t>Build the Foundation</a:t>
            </a:r>
          </a:p>
          <a:p>
            <a:pPr algn="ctr" fontAlgn="ctr"/>
            <a:r>
              <a:rPr lang="en-US" sz="900" dirty="0"/>
              <a:t>• Introduce Virtual-First Policy for internal meetings and introductory client engagements.</a:t>
            </a:r>
          </a:p>
          <a:p>
            <a:pPr algn="ctr" fontAlgn="ctr"/>
            <a:r>
              <a:rPr lang="en-US" sz="900" dirty="0"/>
              <a:t>• Restrict Business &amp; First-Class travel through approval workflows.</a:t>
            </a:r>
          </a:p>
          <a:p>
            <a:pPr algn="ctr" fontAlgn="ctr"/>
            <a:r>
              <a:rPr lang="en-US" sz="900" dirty="0"/>
              <a:t>• Launch carbon-aware travel dashboard in </a:t>
            </a:r>
            <a:r>
              <a:rPr lang="en-US" sz="900" dirty="0" err="1"/>
              <a:t>Celonis</a:t>
            </a:r>
            <a:r>
              <a:rPr lang="en-US" sz="900" dirty="0"/>
              <a:t>.</a:t>
            </a:r>
            <a:endParaRPr lang="en-US" sz="900" dirty="0">
              <a:latin typeface="Calibri" panose="020F0502020204030204" pitchFamily="34" charset="0"/>
            </a:endParaRPr>
          </a:p>
        </p:txBody>
      </p:sp>
      <p:sp>
        <p:nvSpPr>
          <p:cNvPr id="34" name="TextBox 33">
            <a:extLst>
              <a:ext uri="{FF2B5EF4-FFF2-40B4-BE49-F238E27FC236}">
                <a16:creationId xmlns:a16="http://schemas.microsoft.com/office/drawing/2014/main" id="{90325A8A-0E2F-87D1-AF68-280FA57C4D0C}"/>
              </a:ext>
            </a:extLst>
          </p:cNvPr>
          <p:cNvSpPr txBox="1"/>
          <p:nvPr/>
        </p:nvSpPr>
        <p:spPr>
          <a:xfrm>
            <a:off x="2868796" y="870962"/>
            <a:ext cx="1798796" cy="1172116"/>
          </a:xfrm>
          <a:prstGeom prst="rect">
            <a:avLst/>
          </a:prstGeom>
          <a:noFill/>
        </p:spPr>
        <p:txBody>
          <a:bodyPr wrap="square">
            <a:spAutoFit/>
          </a:bodyPr>
          <a:lstStyle/>
          <a:p>
            <a:pPr algn="ctr">
              <a:spcAft>
                <a:spcPts val="450"/>
              </a:spcAft>
            </a:pPr>
            <a:r>
              <a:rPr lang="en-US" sz="1050" b="1" dirty="0"/>
              <a:t>Optimize Travel Decisions</a:t>
            </a:r>
          </a:p>
          <a:p>
            <a:pPr fontAlgn="ctr"/>
            <a:r>
              <a:rPr lang="en-US" sz="900" dirty="0"/>
              <a:t>• Replace rail-feasible European flights with train.</a:t>
            </a:r>
          </a:p>
          <a:p>
            <a:pPr fontAlgn="ctr"/>
            <a:r>
              <a:rPr lang="en-IN" sz="900" dirty="0"/>
              <a:t>• Optimize high-emission routes (AU→DE, AU→US, BR→US, AU→SG).</a:t>
            </a:r>
          </a:p>
        </p:txBody>
      </p:sp>
      <p:sp>
        <p:nvSpPr>
          <p:cNvPr id="35" name="TextBox 34">
            <a:extLst>
              <a:ext uri="{FF2B5EF4-FFF2-40B4-BE49-F238E27FC236}">
                <a16:creationId xmlns:a16="http://schemas.microsoft.com/office/drawing/2014/main" id="{8B36CEC8-09BE-AD45-A6C9-B2C8B4650D41}"/>
              </a:ext>
            </a:extLst>
          </p:cNvPr>
          <p:cNvSpPr txBox="1"/>
          <p:nvPr/>
        </p:nvSpPr>
        <p:spPr>
          <a:xfrm>
            <a:off x="4871258" y="4047576"/>
            <a:ext cx="3948546" cy="733534"/>
          </a:xfrm>
          <a:prstGeom prst="rect">
            <a:avLst/>
          </a:prstGeom>
          <a:noFill/>
        </p:spPr>
        <p:txBody>
          <a:bodyPr wrap="square">
            <a:spAutoFit/>
          </a:bodyPr>
          <a:lstStyle/>
          <a:p>
            <a:pPr algn="ctr">
              <a:spcAft>
                <a:spcPts val="450"/>
              </a:spcAft>
            </a:pPr>
            <a:r>
              <a:rPr lang="en-GB" sz="1050" b="1" dirty="0">
                <a:solidFill>
                  <a:schemeClr val="tx1">
                    <a:lumMod val="75000"/>
                    <a:lumOff val="25000"/>
                  </a:schemeClr>
                </a:solidFill>
                <a:latin typeface="Segoe UI" panose="020B0502040204020203" pitchFamily="34" charset="0"/>
                <a:cs typeface="Segoe UI" panose="020B0502040204020203" pitchFamily="34" charset="0"/>
              </a:rPr>
              <a:t>Partner and Deploy</a:t>
            </a:r>
            <a:endParaRPr lang="en-GB" sz="900" b="1" dirty="0">
              <a:solidFill>
                <a:schemeClr val="tx1">
                  <a:lumMod val="75000"/>
                  <a:lumOff val="25000"/>
                </a:schemeClr>
              </a:solidFill>
              <a:latin typeface="Segoe UI" panose="020B0502040204020203" pitchFamily="34" charset="0"/>
              <a:cs typeface="Segoe UI" panose="020B0502040204020203" pitchFamily="34" charset="0"/>
            </a:endParaRPr>
          </a:p>
          <a:p>
            <a:pPr fontAlgn="ctr"/>
            <a:r>
              <a:rPr lang="en-US" sz="900" dirty="0"/>
              <a:t>• Partner with airlines offering Sustainable Aviation Fuel (SAF).</a:t>
            </a:r>
          </a:p>
          <a:p>
            <a:pPr fontAlgn="ctr"/>
            <a:r>
              <a:rPr lang="en-US" sz="900" dirty="0"/>
              <a:t>• Deploy </a:t>
            </a:r>
            <a:r>
              <a:rPr lang="en-IN" sz="900" dirty="0"/>
              <a:t>AI-powered Carbon-Intelligence Travel App</a:t>
            </a:r>
            <a:r>
              <a:rPr lang="en-US" sz="900" dirty="0"/>
              <a:t> for </a:t>
            </a:r>
            <a:r>
              <a:rPr lang="en-IN" sz="900" dirty="0"/>
              <a:t>calculating trip emissions, recommendations,</a:t>
            </a:r>
            <a:r>
              <a:rPr lang="en-US" sz="900" dirty="0"/>
              <a:t> emission tracker and carbon budgets.</a:t>
            </a:r>
            <a:endParaRPr lang="en-US" sz="900" dirty="0">
              <a:latin typeface="Calibri" panose="020F0502020204030204" pitchFamily="34" charset="0"/>
            </a:endParaRPr>
          </a:p>
        </p:txBody>
      </p:sp>
      <p:sp>
        <p:nvSpPr>
          <p:cNvPr id="36" name="TextBox 35">
            <a:extLst>
              <a:ext uri="{FF2B5EF4-FFF2-40B4-BE49-F238E27FC236}">
                <a16:creationId xmlns:a16="http://schemas.microsoft.com/office/drawing/2014/main" id="{DFB85101-962D-9EC0-F92A-5FC573B8F686}"/>
              </a:ext>
            </a:extLst>
          </p:cNvPr>
          <p:cNvSpPr txBox="1"/>
          <p:nvPr/>
        </p:nvSpPr>
        <p:spPr>
          <a:xfrm>
            <a:off x="5251907" y="58905"/>
            <a:ext cx="2065220" cy="733534"/>
          </a:xfrm>
          <a:prstGeom prst="rect">
            <a:avLst/>
          </a:prstGeom>
          <a:noFill/>
        </p:spPr>
        <p:txBody>
          <a:bodyPr wrap="square">
            <a:spAutoFit/>
          </a:bodyPr>
          <a:lstStyle/>
          <a:p>
            <a:pPr algn="ctr">
              <a:spcAft>
                <a:spcPts val="450"/>
              </a:spcAft>
            </a:pPr>
            <a:r>
              <a:rPr lang="en-IN" sz="1050" b="1" dirty="0"/>
              <a:t>Intelligent Net-Zero Travel</a:t>
            </a:r>
          </a:p>
          <a:p>
            <a:pPr fontAlgn="ctr"/>
            <a:r>
              <a:rPr lang="en-US" sz="900" dirty="0"/>
              <a:t>• Establish regional Solution centers.</a:t>
            </a:r>
          </a:p>
          <a:p>
            <a:pPr fontAlgn="ctr"/>
            <a:r>
              <a:rPr lang="en-US" sz="900" dirty="0"/>
              <a:t>• Real-time Process Mining to detect policy deviations.</a:t>
            </a:r>
          </a:p>
        </p:txBody>
      </p:sp>
      <p:sp>
        <p:nvSpPr>
          <p:cNvPr id="37" name="TextBox 36">
            <a:extLst>
              <a:ext uri="{FF2B5EF4-FFF2-40B4-BE49-F238E27FC236}">
                <a16:creationId xmlns:a16="http://schemas.microsoft.com/office/drawing/2014/main" id="{9AA5CF0D-4799-6171-B48D-D68B5172484F}"/>
              </a:ext>
            </a:extLst>
          </p:cNvPr>
          <p:cNvSpPr txBox="1"/>
          <p:nvPr/>
        </p:nvSpPr>
        <p:spPr>
          <a:xfrm>
            <a:off x="7331825" y="1871364"/>
            <a:ext cx="1729048" cy="1010533"/>
          </a:xfrm>
          <a:prstGeom prst="rect">
            <a:avLst/>
          </a:prstGeom>
          <a:noFill/>
        </p:spPr>
        <p:txBody>
          <a:bodyPr wrap="square">
            <a:spAutoFit/>
          </a:bodyPr>
          <a:lstStyle/>
          <a:p>
            <a:pPr algn="ctr">
              <a:spcAft>
                <a:spcPts val="450"/>
              </a:spcAft>
            </a:pPr>
            <a:r>
              <a:rPr lang="en-US" sz="1050" b="1" dirty="0"/>
              <a:t>Continuous Monitoring</a:t>
            </a:r>
            <a:endParaRPr lang="en-GB" sz="1050" b="1" dirty="0">
              <a:solidFill>
                <a:schemeClr val="tx1">
                  <a:lumMod val="75000"/>
                  <a:lumOff val="25000"/>
                </a:schemeClr>
              </a:solidFill>
              <a:latin typeface="Segoe UI" panose="020B0502040204020203" pitchFamily="34" charset="0"/>
              <a:cs typeface="Segoe UI" panose="020B0502040204020203" pitchFamily="34" charset="0"/>
            </a:endParaRPr>
          </a:p>
          <a:p>
            <a:pPr fontAlgn="ctr"/>
            <a:r>
              <a:rPr lang="en-US" sz="900" dirty="0"/>
              <a:t>• Continuous carbon monitoring by department and employee.</a:t>
            </a:r>
          </a:p>
          <a:p>
            <a:pPr fontAlgn="ctr"/>
            <a:r>
              <a:rPr lang="en-IN" sz="900" dirty="0"/>
              <a:t>• Integrate travel data with corporate ESG reporting.</a:t>
            </a:r>
            <a:endParaRPr lang="en-IN" sz="900" dirty="0">
              <a:latin typeface="Calibri" panose="020F0502020204030204" pitchFamily="34" charset="0"/>
            </a:endParaRPr>
          </a:p>
        </p:txBody>
      </p:sp>
      <p:sp>
        <p:nvSpPr>
          <p:cNvPr id="40" name="TextBox 39">
            <a:extLst>
              <a:ext uri="{FF2B5EF4-FFF2-40B4-BE49-F238E27FC236}">
                <a16:creationId xmlns:a16="http://schemas.microsoft.com/office/drawing/2014/main" id="{0842772D-FF4D-7B9D-8880-14440261026A}"/>
              </a:ext>
            </a:extLst>
          </p:cNvPr>
          <p:cNvSpPr txBox="1"/>
          <p:nvPr/>
        </p:nvSpPr>
        <p:spPr>
          <a:xfrm>
            <a:off x="2371300" y="3819951"/>
            <a:ext cx="409086" cy="207749"/>
          </a:xfrm>
          <a:prstGeom prst="rect">
            <a:avLst/>
          </a:prstGeom>
          <a:noFill/>
        </p:spPr>
        <p:txBody>
          <a:bodyPr wrap="none" rtlCol="0" anchor="ctr">
            <a:spAutoFit/>
          </a:bodyPr>
          <a:lstStyle/>
          <a:p>
            <a:pPr algn="ctr"/>
            <a:r>
              <a:rPr lang="en-GB" sz="750" b="1" dirty="0">
                <a:solidFill>
                  <a:schemeClr val="tx1">
                    <a:lumMod val="75000"/>
                    <a:lumOff val="25000"/>
                  </a:schemeClr>
                </a:solidFill>
                <a:latin typeface="Segoe UI" panose="020B0502040204020203" pitchFamily="34" charset="0"/>
                <a:cs typeface="Segoe UI" panose="020B0502040204020203" pitchFamily="34" charset="0"/>
              </a:rPr>
              <a:t>2026</a:t>
            </a:r>
            <a:endParaRPr lang="en-IN" sz="75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1" name="TextBox 40">
            <a:extLst>
              <a:ext uri="{FF2B5EF4-FFF2-40B4-BE49-F238E27FC236}">
                <a16:creationId xmlns:a16="http://schemas.microsoft.com/office/drawing/2014/main" id="{68FF8FA4-3F84-575D-DA87-84365118D400}"/>
              </a:ext>
            </a:extLst>
          </p:cNvPr>
          <p:cNvSpPr txBox="1"/>
          <p:nvPr/>
        </p:nvSpPr>
        <p:spPr>
          <a:xfrm>
            <a:off x="3788851" y="2042649"/>
            <a:ext cx="409086" cy="207749"/>
          </a:xfrm>
          <a:prstGeom prst="rect">
            <a:avLst/>
          </a:prstGeom>
          <a:noFill/>
        </p:spPr>
        <p:txBody>
          <a:bodyPr wrap="none" rtlCol="0" anchor="ctr">
            <a:spAutoFit/>
          </a:bodyPr>
          <a:lstStyle/>
          <a:p>
            <a:pPr algn="ctr"/>
            <a:r>
              <a:rPr lang="en-GB" sz="750" b="1" dirty="0">
                <a:solidFill>
                  <a:schemeClr val="tx1">
                    <a:lumMod val="75000"/>
                    <a:lumOff val="25000"/>
                  </a:schemeClr>
                </a:solidFill>
                <a:latin typeface="Segoe UI" panose="020B0502040204020203" pitchFamily="34" charset="0"/>
                <a:cs typeface="Segoe UI" panose="020B0502040204020203" pitchFamily="34" charset="0"/>
              </a:rPr>
              <a:t>2027</a:t>
            </a:r>
            <a:endParaRPr lang="en-IN" sz="75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2" name="TextBox 41">
            <a:extLst>
              <a:ext uri="{FF2B5EF4-FFF2-40B4-BE49-F238E27FC236}">
                <a16:creationId xmlns:a16="http://schemas.microsoft.com/office/drawing/2014/main" id="{5C98306A-8E5C-9AED-CA64-71C01CB5A81A}"/>
              </a:ext>
            </a:extLst>
          </p:cNvPr>
          <p:cNvSpPr txBox="1"/>
          <p:nvPr/>
        </p:nvSpPr>
        <p:spPr>
          <a:xfrm>
            <a:off x="6067273" y="3234324"/>
            <a:ext cx="409086" cy="207749"/>
          </a:xfrm>
          <a:prstGeom prst="rect">
            <a:avLst/>
          </a:prstGeom>
          <a:noFill/>
        </p:spPr>
        <p:txBody>
          <a:bodyPr wrap="none" rtlCol="0" anchor="ctr">
            <a:spAutoFit/>
          </a:bodyPr>
          <a:lstStyle/>
          <a:p>
            <a:pPr algn="ctr"/>
            <a:r>
              <a:rPr lang="en-GB" sz="750" b="1" dirty="0">
                <a:solidFill>
                  <a:schemeClr val="tx1">
                    <a:lumMod val="75000"/>
                    <a:lumOff val="25000"/>
                  </a:schemeClr>
                </a:solidFill>
                <a:latin typeface="Segoe UI" panose="020B0502040204020203" pitchFamily="34" charset="0"/>
                <a:cs typeface="Segoe UI" panose="020B0502040204020203" pitchFamily="34" charset="0"/>
              </a:rPr>
              <a:t>2028</a:t>
            </a:r>
            <a:endParaRPr lang="en-IN" sz="75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3" name="TextBox 42">
            <a:extLst>
              <a:ext uri="{FF2B5EF4-FFF2-40B4-BE49-F238E27FC236}">
                <a16:creationId xmlns:a16="http://schemas.microsoft.com/office/drawing/2014/main" id="{70BB503D-1C2B-D698-DEF0-0647DB710228}"/>
              </a:ext>
            </a:extLst>
          </p:cNvPr>
          <p:cNvSpPr txBox="1"/>
          <p:nvPr/>
        </p:nvSpPr>
        <p:spPr>
          <a:xfrm>
            <a:off x="6067273" y="919992"/>
            <a:ext cx="409086" cy="207749"/>
          </a:xfrm>
          <a:prstGeom prst="rect">
            <a:avLst/>
          </a:prstGeom>
          <a:noFill/>
        </p:spPr>
        <p:txBody>
          <a:bodyPr wrap="none" rtlCol="0" anchor="ctr">
            <a:spAutoFit/>
          </a:bodyPr>
          <a:lstStyle/>
          <a:p>
            <a:pPr algn="ctr"/>
            <a:r>
              <a:rPr lang="en-GB" sz="750" b="1" dirty="0">
                <a:solidFill>
                  <a:schemeClr val="tx1">
                    <a:lumMod val="75000"/>
                    <a:lumOff val="25000"/>
                  </a:schemeClr>
                </a:solidFill>
                <a:latin typeface="Segoe UI" panose="020B0502040204020203" pitchFamily="34" charset="0"/>
                <a:cs typeface="Segoe UI" panose="020B0502040204020203" pitchFamily="34" charset="0"/>
              </a:rPr>
              <a:t>2029</a:t>
            </a:r>
            <a:endParaRPr lang="en-IN" sz="75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4" name="TextBox 43">
            <a:extLst>
              <a:ext uri="{FF2B5EF4-FFF2-40B4-BE49-F238E27FC236}">
                <a16:creationId xmlns:a16="http://schemas.microsoft.com/office/drawing/2014/main" id="{80895F4A-5B84-1783-4947-3BC43CA12B97}"/>
              </a:ext>
            </a:extLst>
          </p:cNvPr>
          <p:cNvSpPr txBox="1"/>
          <p:nvPr/>
        </p:nvSpPr>
        <p:spPr>
          <a:xfrm>
            <a:off x="7753857" y="1161062"/>
            <a:ext cx="409086" cy="207749"/>
          </a:xfrm>
          <a:prstGeom prst="rect">
            <a:avLst/>
          </a:prstGeom>
          <a:noFill/>
        </p:spPr>
        <p:txBody>
          <a:bodyPr wrap="none" rtlCol="0" anchor="ctr">
            <a:spAutoFit/>
          </a:bodyPr>
          <a:lstStyle/>
          <a:p>
            <a:pPr algn="ctr"/>
            <a:r>
              <a:rPr lang="en-GB" sz="750" b="1" dirty="0">
                <a:solidFill>
                  <a:schemeClr val="tx1">
                    <a:lumMod val="75000"/>
                    <a:lumOff val="25000"/>
                  </a:schemeClr>
                </a:solidFill>
                <a:latin typeface="Segoe UI" panose="020B0502040204020203" pitchFamily="34" charset="0"/>
                <a:cs typeface="Segoe UI" panose="020B0502040204020203" pitchFamily="34" charset="0"/>
              </a:rPr>
              <a:t>2030</a:t>
            </a:r>
            <a:endParaRPr lang="en-IN" sz="750" b="1" dirty="0">
              <a:solidFill>
                <a:schemeClr val="tx1">
                  <a:lumMod val="75000"/>
                  <a:lumOff val="25000"/>
                </a:schemeClr>
              </a:solidFill>
              <a:latin typeface="Segoe UI" panose="020B0502040204020203" pitchFamily="34" charset="0"/>
              <a:cs typeface="Segoe UI" panose="020B0502040204020203" pitchFamily="34" charset="0"/>
            </a:endParaRPr>
          </a:p>
        </p:txBody>
      </p:sp>
      <p:graphicFrame>
        <p:nvGraphicFramePr>
          <p:cNvPr id="2" name="Table 1">
            <a:extLst>
              <a:ext uri="{FF2B5EF4-FFF2-40B4-BE49-F238E27FC236}">
                <a16:creationId xmlns:a16="http://schemas.microsoft.com/office/drawing/2014/main" id="{362E3F0B-231F-6AD7-50F0-9943DA194749}"/>
              </a:ext>
            </a:extLst>
          </p:cNvPr>
          <p:cNvGraphicFramePr>
            <a:graphicFrameLocks noGrp="1"/>
          </p:cNvGraphicFramePr>
          <p:nvPr>
            <p:extLst>
              <p:ext uri="{D42A27DB-BD31-4B8C-83A1-F6EECF244321}">
                <p14:modId xmlns:p14="http://schemas.microsoft.com/office/powerpoint/2010/main" val="2028097345"/>
              </p:ext>
            </p:extLst>
          </p:nvPr>
        </p:nvGraphicFramePr>
        <p:xfrm>
          <a:off x="157445" y="176878"/>
          <a:ext cx="2427316" cy="1188720"/>
        </p:xfrm>
        <a:graphic>
          <a:graphicData uri="http://schemas.openxmlformats.org/drawingml/2006/table">
            <a:tbl>
              <a:tblPr firstRow="1" bandRow="1">
                <a:tableStyleId>{9D7B26C5-4107-4FEC-AEDC-1716B250A1EF}</a:tableStyleId>
              </a:tblPr>
              <a:tblGrid>
                <a:gridCol w="2427316">
                  <a:extLst>
                    <a:ext uri="{9D8B030D-6E8A-4147-A177-3AD203B41FA5}">
                      <a16:colId xmlns:a16="http://schemas.microsoft.com/office/drawing/2014/main" val="61107146"/>
                    </a:ext>
                  </a:extLst>
                </a:gridCol>
              </a:tblGrid>
              <a:tr h="111657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solidFill>
                            <a:schemeClr val="tx1">
                              <a:lumMod val="75000"/>
                              <a:lumOff val="25000"/>
                            </a:schemeClr>
                          </a:solidFill>
                          <a:latin typeface="Segoe UI" panose="020B0502040204020203" pitchFamily="34" charset="0"/>
                          <a:cs typeface="Segoe UI" panose="020B0502040204020203" pitchFamily="34" charset="0"/>
                        </a:rPr>
                        <a:t>Strategic Integration Roadmap</a:t>
                      </a:r>
                    </a:p>
                  </a:txBody>
                  <a:tcPr/>
                </a:tc>
                <a:extLst>
                  <a:ext uri="{0D108BD9-81ED-4DB2-BD59-A6C34878D82A}">
                    <a16:rowId xmlns:a16="http://schemas.microsoft.com/office/drawing/2014/main" val="2082460812"/>
                  </a:ext>
                </a:extLst>
              </a:tr>
            </a:tbl>
          </a:graphicData>
        </a:graphic>
      </p:graphicFrame>
    </p:spTree>
    <p:extLst>
      <p:ext uri="{BB962C8B-B14F-4D97-AF65-F5344CB8AC3E}">
        <p14:creationId xmlns:p14="http://schemas.microsoft.com/office/powerpoint/2010/main" val="329257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A9CB87FB-0DD3-DD09-D0A1-1FE2EA62690C}"/>
            </a:ext>
          </a:extLst>
        </p:cNvPr>
        <p:cNvGrpSpPr/>
        <p:nvPr/>
      </p:nvGrpSpPr>
      <p:grpSpPr>
        <a:xfrm>
          <a:off x="0" y="0"/>
          <a:ext cx="0" cy="0"/>
          <a:chOff x="0" y="0"/>
          <a:chExt cx="0" cy="0"/>
        </a:xfrm>
      </p:grpSpPr>
      <p:sp>
        <p:nvSpPr>
          <p:cNvPr id="187" name="Google Shape;187;p40">
            <a:extLst>
              <a:ext uri="{FF2B5EF4-FFF2-40B4-BE49-F238E27FC236}">
                <a16:creationId xmlns:a16="http://schemas.microsoft.com/office/drawing/2014/main" id="{36835422-5B8D-6EB3-8674-0F05AAF98E3F}"/>
              </a:ext>
            </a:extLst>
          </p:cNvPr>
          <p:cNvSpPr txBox="1">
            <a:spLocks noGrp="1"/>
          </p:cNvSpPr>
          <p:nvPr>
            <p:ph type="title"/>
          </p:nvPr>
        </p:nvSpPr>
        <p:spPr>
          <a:xfrm rot="16200000">
            <a:off x="-3563366" y="841961"/>
            <a:ext cx="7945500" cy="246221"/>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Other Recommendations</a:t>
            </a:r>
            <a:endParaRPr dirty="0"/>
          </a:p>
        </p:txBody>
      </p:sp>
      <p:sp>
        <p:nvSpPr>
          <p:cNvPr id="4" name="TextBox 3">
            <a:extLst>
              <a:ext uri="{FF2B5EF4-FFF2-40B4-BE49-F238E27FC236}">
                <a16:creationId xmlns:a16="http://schemas.microsoft.com/office/drawing/2014/main" id="{6C9D046C-B813-1FF6-DCE4-B5D5674A9108}"/>
              </a:ext>
            </a:extLst>
          </p:cNvPr>
          <p:cNvSpPr txBox="1"/>
          <p:nvPr/>
        </p:nvSpPr>
        <p:spPr>
          <a:xfrm>
            <a:off x="633249" y="262427"/>
            <a:ext cx="8224477" cy="4767139"/>
          </a:xfrm>
          <a:prstGeom prst="rect">
            <a:avLst/>
          </a:prstGeom>
          <a:noFill/>
        </p:spPr>
        <p:txBody>
          <a:bodyPr wrap="square">
            <a:spAutoFit/>
          </a:bodyPr>
          <a:lstStyle/>
          <a:p>
            <a:pPr marL="228600" indent="-228600">
              <a:lnSpc>
                <a:spcPct val="150000"/>
              </a:lnSpc>
              <a:buAutoNum type="arabicPeriod"/>
            </a:pPr>
            <a:r>
              <a:rPr lang="en-US" sz="1200" dirty="0"/>
              <a:t>Establish regional pre-sales and remote support centers reduce long-haul travel and maintain customer responsiveness. Value engineers can be positioned near client location.</a:t>
            </a:r>
          </a:p>
          <a:p>
            <a:pPr marL="228600" indent="-228600">
              <a:lnSpc>
                <a:spcPct val="150000"/>
              </a:lnSpc>
              <a:buAutoNum type="arabicPeriod"/>
            </a:pPr>
            <a:r>
              <a:rPr lang="en-US" sz="1200" dirty="0"/>
              <a:t>Talk to enterprise clients keen on reducing their carbon footprint. Virtual meetings and technical support can benefit both </a:t>
            </a:r>
            <a:r>
              <a:rPr lang="en-US" sz="1200" dirty="0" err="1"/>
              <a:t>celonis</a:t>
            </a:r>
            <a:r>
              <a:rPr lang="en-US" sz="1200" dirty="0"/>
              <a:t> and its clients in reducing their overall carbon footprint.</a:t>
            </a:r>
          </a:p>
          <a:p>
            <a:pPr marL="228600" indent="-228600">
              <a:lnSpc>
                <a:spcPct val="150000"/>
              </a:lnSpc>
              <a:buAutoNum type="arabicPeriod"/>
            </a:pPr>
            <a:r>
              <a:rPr lang="en-US" sz="1200" dirty="0"/>
              <a:t>Business Class and First-Class Travel can be restricted to VP level or above.</a:t>
            </a:r>
          </a:p>
          <a:p>
            <a:pPr marL="228600" indent="-228600">
              <a:lnSpc>
                <a:spcPct val="150000"/>
              </a:lnSpc>
              <a:buAutoNum type="arabicPeriod"/>
            </a:pPr>
            <a:r>
              <a:rPr lang="en-US" sz="1200" dirty="0"/>
              <a:t>Consolidate multiple meeting in a single trip, reduces cost and emissions significantly.</a:t>
            </a:r>
          </a:p>
          <a:p>
            <a:pPr marL="228600" indent="-228600">
              <a:lnSpc>
                <a:spcPct val="150000"/>
              </a:lnSpc>
              <a:buAutoNum type="arabicPeriod"/>
            </a:pPr>
            <a:r>
              <a:rPr lang="en-US" sz="1200" dirty="0"/>
              <a:t>Set carbon budgets per employee and business units.</a:t>
            </a:r>
          </a:p>
          <a:p>
            <a:pPr marL="228600" indent="-228600">
              <a:lnSpc>
                <a:spcPct val="150000"/>
              </a:lnSpc>
              <a:buAutoNum type="arabicPeriod"/>
            </a:pPr>
            <a:r>
              <a:rPr lang="en-US" sz="1200" b="0" dirty="0"/>
              <a:t>Educate employees on decarbonization. </a:t>
            </a:r>
            <a:r>
              <a:rPr lang="en-US" sz="1200" dirty="0"/>
              <a:t>Implement an incentive program that recognizes employees who consistently reduce corporate travel costs and minimize carbon emissions.</a:t>
            </a:r>
          </a:p>
          <a:p>
            <a:pPr marL="228600" indent="-228600">
              <a:lnSpc>
                <a:spcPct val="150000"/>
              </a:lnSpc>
              <a:buAutoNum type="arabicPeriod"/>
            </a:pPr>
            <a:r>
              <a:rPr lang="en-US" sz="1200" dirty="0"/>
              <a:t>Build </a:t>
            </a:r>
            <a:r>
              <a:rPr lang="en-IN" sz="1200" dirty="0"/>
              <a:t>AI-powered Carbon-Intelligence Travel App/Assistant that can calculate trip emissions, recommends rail over flights, checks weather disruptions, flags Business Class bookings, checks carbon budget, </a:t>
            </a:r>
            <a:r>
              <a:rPr lang="en-US" sz="1200" dirty="0"/>
              <a:t>recommends nearby colleagues instead of flying another employee.</a:t>
            </a:r>
          </a:p>
          <a:p>
            <a:pPr marL="228600" indent="-228600">
              <a:lnSpc>
                <a:spcPct val="150000"/>
              </a:lnSpc>
              <a:buAutoNum type="arabicPeriod"/>
            </a:pPr>
            <a:r>
              <a:rPr lang="en-US" sz="1200" dirty="0"/>
              <a:t>Partner with airlines offering bulk discounts, Sustainable Aviation Fuel (SAF) and low-emission routes for unavoidable long-haul travel.</a:t>
            </a:r>
          </a:p>
          <a:p>
            <a:pPr marL="228600" indent="-228600">
              <a:lnSpc>
                <a:spcPct val="150000"/>
              </a:lnSpc>
              <a:buAutoNum type="arabicPeriod"/>
            </a:pPr>
            <a:r>
              <a:rPr lang="en-US" sz="1200" dirty="0"/>
              <a:t>Resolve data level inconsistencies like transport mode infeasibility, missing record on hotel category, missing employee travel sequence. </a:t>
            </a:r>
          </a:p>
          <a:p>
            <a:pPr marL="228600" indent="-228600">
              <a:lnSpc>
                <a:spcPct val="150000"/>
              </a:lnSpc>
              <a:buAutoNum type="arabicPeriod"/>
            </a:pPr>
            <a:r>
              <a:rPr lang="en-US" sz="1200" dirty="0"/>
              <a:t> Invest in inhouse fleet of electric vehicles for local and short haul routes. </a:t>
            </a:r>
          </a:p>
        </p:txBody>
      </p:sp>
    </p:spTree>
    <p:extLst>
      <p:ext uri="{BB962C8B-B14F-4D97-AF65-F5344CB8AC3E}">
        <p14:creationId xmlns:p14="http://schemas.microsoft.com/office/powerpoint/2010/main" val="92986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1"/>
          <p:cNvSpPr txBox="1">
            <a:spLocks noGrp="1"/>
          </p:cNvSpPr>
          <p:nvPr>
            <p:ph type="title"/>
          </p:nvPr>
        </p:nvSpPr>
        <p:spPr>
          <a:xfrm>
            <a:off x="305991" y="261257"/>
            <a:ext cx="1368430"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u="sng" dirty="0"/>
              <a:t>Emission</a:t>
            </a:r>
            <a:br>
              <a:rPr lang="en" u="sng" dirty="0"/>
            </a:br>
            <a:r>
              <a:rPr lang="en" u="sng" dirty="0"/>
              <a:t>Overview</a:t>
            </a:r>
            <a:endParaRPr u="sng" dirty="0"/>
          </a:p>
        </p:txBody>
      </p:sp>
      <p:pic>
        <p:nvPicPr>
          <p:cNvPr id="3" name="Picture 2">
            <a:extLst>
              <a:ext uri="{FF2B5EF4-FFF2-40B4-BE49-F238E27FC236}">
                <a16:creationId xmlns:a16="http://schemas.microsoft.com/office/drawing/2014/main" id="{38B5C8CE-685C-1090-369E-80673A04ACAA}"/>
              </a:ext>
            </a:extLst>
          </p:cNvPr>
          <p:cNvPicPr>
            <a:picLocks noChangeAspect="1"/>
          </p:cNvPicPr>
          <p:nvPr/>
        </p:nvPicPr>
        <p:blipFill>
          <a:blip r:embed="rId3"/>
          <a:stretch>
            <a:fillRect/>
          </a:stretch>
        </p:blipFill>
        <p:spPr>
          <a:xfrm>
            <a:off x="1855922" y="0"/>
            <a:ext cx="7288078"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3AAEAFC9-A451-CAA6-01B6-7796E858ED76}"/>
            </a:ext>
          </a:extLst>
        </p:cNvPr>
        <p:cNvGrpSpPr/>
        <p:nvPr/>
      </p:nvGrpSpPr>
      <p:grpSpPr>
        <a:xfrm>
          <a:off x="0" y="0"/>
          <a:ext cx="0" cy="0"/>
          <a:chOff x="0" y="0"/>
          <a:chExt cx="0" cy="0"/>
        </a:xfrm>
      </p:grpSpPr>
      <p:sp>
        <p:nvSpPr>
          <p:cNvPr id="193" name="Google Shape;193;p41">
            <a:extLst>
              <a:ext uri="{FF2B5EF4-FFF2-40B4-BE49-F238E27FC236}">
                <a16:creationId xmlns:a16="http://schemas.microsoft.com/office/drawing/2014/main" id="{43CC0085-C866-4A20-0628-0BF223F0ED8C}"/>
              </a:ext>
            </a:extLst>
          </p:cNvPr>
          <p:cNvSpPr txBox="1">
            <a:spLocks noGrp="1"/>
          </p:cNvSpPr>
          <p:nvPr>
            <p:ph type="title"/>
          </p:nvPr>
        </p:nvSpPr>
        <p:spPr>
          <a:xfrm>
            <a:off x="258490" y="261257"/>
            <a:ext cx="1549931" cy="83099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Regional</a:t>
            </a:r>
            <a:br>
              <a:rPr lang="en" dirty="0"/>
            </a:br>
            <a:r>
              <a:rPr lang="en" dirty="0"/>
              <a:t>Benchmarking</a:t>
            </a:r>
            <a:br>
              <a:rPr lang="en" dirty="0"/>
            </a:br>
            <a:r>
              <a:rPr lang="en" sz="1100" dirty="0"/>
              <a:t>Route and Region Analysis</a:t>
            </a:r>
            <a:endParaRPr dirty="0"/>
          </a:p>
        </p:txBody>
      </p:sp>
      <p:pic>
        <p:nvPicPr>
          <p:cNvPr id="4" name="Picture 3">
            <a:extLst>
              <a:ext uri="{FF2B5EF4-FFF2-40B4-BE49-F238E27FC236}">
                <a16:creationId xmlns:a16="http://schemas.microsoft.com/office/drawing/2014/main" id="{27052C19-AA4C-E16D-2D5B-A08DFAD4E1A6}"/>
              </a:ext>
            </a:extLst>
          </p:cNvPr>
          <p:cNvPicPr>
            <a:picLocks noChangeAspect="1"/>
          </p:cNvPicPr>
          <p:nvPr/>
        </p:nvPicPr>
        <p:blipFill>
          <a:blip r:embed="rId3"/>
          <a:stretch>
            <a:fillRect/>
          </a:stretch>
        </p:blipFill>
        <p:spPr>
          <a:xfrm>
            <a:off x="1815175" y="0"/>
            <a:ext cx="7318699" cy="5143500"/>
          </a:xfrm>
          <a:prstGeom prst="rect">
            <a:avLst/>
          </a:prstGeom>
        </p:spPr>
      </p:pic>
    </p:spTree>
    <p:extLst>
      <p:ext uri="{BB962C8B-B14F-4D97-AF65-F5344CB8AC3E}">
        <p14:creationId xmlns:p14="http://schemas.microsoft.com/office/powerpoint/2010/main" val="2997460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B65A22D3-B1CA-0399-3B23-8DD080EEA836}"/>
            </a:ext>
          </a:extLst>
        </p:cNvPr>
        <p:cNvGrpSpPr/>
        <p:nvPr/>
      </p:nvGrpSpPr>
      <p:grpSpPr>
        <a:xfrm>
          <a:off x="0" y="0"/>
          <a:ext cx="0" cy="0"/>
          <a:chOff x="0" y="0"/>
          <a:chExt cx="0" cy="0"/>
        </a:xfrm>
      </p:grpSpPr>
      <p:sp>
        <p:nvSpPr>
          <p:cNvPr id="193" name="Google Shape;193;p41">
            <a:extLst>
              <a:ext uri="{FF2B5EF4-FFF2-40B4-BE49-F238E27FC236}">
                <a16:creationId xmlns:a16="http://schemas.microsoft.com/office/drawing/2014/main" id="{7F99F09F-0583-967D-8844-B48560334B02}"/>
              </a:ext>
            </a:extLst>
          </p:cNvPr>
          <p:cNvSpPr txBox="1">
            <a:spLocks noGrp="1"/>
          </p:cNvSpPr>
          <p:nvPr>
            <p:ph type="title"/>
          </p:nvPr>
        </p:nvSpPr>
        <p:spPr>
          <a:xfrm>
            <a:off x="305990" y="261257"/>
            <a:ext cx="1531771" cy="6617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dirty="0"/>
              <a:t>Emission </a:t>
            </a:r>
            <a:br>
              <a:rPr lang="en" dirty="0"/>
            </a:br>
            <a:r>
              <a:rPr lang="en" dirty="0"/>
              <a:t>Drilldown</a:t>
            </a:r>
            <a:br>
              <a:rPr lang="en" dirty="0"/>
            </a:br>
            <a:r>
              <a:rPr lang="en" sz="1100" dirty="0"/>
              <a:t>Variants &amp; Processes</a:t>
            </a:r>
            <a:endParaRPr dirty="0"/>
          </a:p>
        </p:txBody>
      </p:sp>
      <p:pic>
        <p:nvPicPr>
          <p:cNvPr id="4" name="Picture 3">
            <a:extLst>
              <a:ext uri="{FF2B5EF4-FFF2-40B4-BE49-F238E27FC236}">
                <a16:creationId xmlns:a16="http://schemas.microsoft.com/office/drawing/2014/main" id="{DB454159-AA7C-4340-A18C-6380FEEE9CC2}"/>
              </a:ext>
            </a:extLst>
          </p:cNvPr>
          <p:cNvPicPr>
            <a:picLocks noChangeAspect="1"/>
          </p:cNvPicPr>
          <p:nvPr/>
        </p:nvPicPr>
        <p:blipFill>
          <a:blip r:embed="rId3"/>
          <a:stretch>
            <a:fillRect/>
          </a:stretch>
        </p:blipFill>
        <p:spPr>
          <a:xfrm>
            <a:off x="1837762" y="0"/>
            <a:ext cx="7297268" cy="5143500"/>
          </a:xfrm>
          <a:prstGeom prst="rect">
            <a:avLst/>
          </a:prstGeom>
        </p:spPr>
      </p:pic>
    </p:spTree>
    <p:extLst>
      <p:ext uri="{BB962C8B-B14F-4D97-AF65-F5344CB8AC3E}">
        <p14:creationId xmlns:p14="http://schemas.microsoft.com/office/powerpoint/2010/main" val="229348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355BD-AA29-06CC-2445-5167F0D20400}"/>
              </a:ext>
            </a:extLst>
          </p:cNvPr>
          <p:cNvSpPr>
            <a:spLocks noGrp="1"/>
          </p:cNvSpPr>
          <p:nvPr>
            <p:ph type="title"/>
          </p:nvPr>
        </p:nvSpPr>
        <p:spPr>
          <a:xfrm>
            <a:off x="724378" y="2571750"/>
            <a:ext cx="7945500" cy="615553"/>
          </a:xfrm>
        </p:spPr>
        <p:txBody>
          <a:bodyPr/>
          <a:lstStyle/>
          <a:p>
            <a:pPr algn="ctr"/>
            <a:r>
              <a:rPr lang="en-IN" sz="4000" dirty="0"/>
              <a:t>THANK YOU</a:t>
            </a:r>
          </a:p>
        </p:txBody>
      </p:sp>
      <p:pic>
        <p:nvPicPr>
          <p:cNvPr id="5" name="Picture 4">
            <a:extLst>
              <a:ext uri="{FF2B5EF4-FFF2-40B4-BE49-F238E27FC236}">
                <a16:creationId xmlns:a16="http://schemas.microsoft.com/office/drawing/2014/main" id="{23D64E06-2452-8BF3-0B3E-BA36AD7F7AA7}"/>
              </a:ext>
            </a:extLst>
          </p:cNvPr>
          <p:cNvPicPr>
            <a:picLocks noChangeAspect="1"/>
          </p:cNvPicPr>
          <p:nvPr/>
        </p:nvPicPr>
        <p:blipFill>
          <a:blip r:embed="rId2"/>
          <a:stretch>
            <a:fillRect/>
          </a:stretch>
        </p:blipFill>
        <p:spPr>
          <a:xfrm>
            <a:off x="3962476" y="1352702"/>
            <a:ext cx="1219048" cy="1219048"/>
          </a:xfrm>
          <a:prstGeom prst="rect">
            <a:avLst/>
          </a:prstGeom>
        </p:spPr>
      </p:pic>
    </p:spTree>
    <p:extLst>
      <p:ext uri="{BB962C8B-B14F-4D97-AF65-F5344CB8AC3E}">
        <p14:creationId xmlns:p14="http://schemas.microsoft.com/office/powerpoint/2010/main" val="61875611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lonis Template 2024">
  <a:themeElements>
    <a:clrScheme name="Celonis">
      <a:dk1>
        <a:srgbClr val="000000"/>
      </a:dk1>
      <a:lt1>
        <a:srgbClr val="FFFFFF"/>
      </a:lt1>
      <a:dk2>
        <a:srgbClr val="000143"/>
      </a:dk2>
      <a:lt2>
        <a:srgbClr val="0028FF"/>
      </a:lt2>
      <a:accent1>
        <a:srgbClr val="5CFE50"/>
      </a:accent1>
      <a:accent2>
        <a:srgbClr val="00DCFF"/>
      </a:accent2>
      <a:accent3>
        <a:srgbClr val="B6FE76"/>
      </a:accent3>
      <a:accent4>
        <a:srgbClr val="EDFF61"/>
      </a:accent4>
      <a:accent5>
        <a:srgbClr val="7E8383"/>
      </a:accent5>
      <a:accent6>
        <a:srgbClr val="464650"/>
      </a:accent6>
      <a:hlink>
        <a:srgbClr val="0028FF"/>
      </a:hlink>
      <a:folHlink>
        <a:srgbClr val="00D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elonis Template 2024">
  <a:themeElements>
    <a:clrScheme name="Celonis">
      <a:dk1>
        <a:srgbClr val="000000"/>
      </a:dk1>
      <a:lt1>
        <a:srgbClr val="FFFFFF"/>
      </a:lt1>
      <a:dk2>
        <a:srgbClr val="000143"/>
      </a:dk2>
      <a:lt2>
        <a:srgbClr val="0028FF"/>
      </a:lt2>
      <a:accent1>
        <a:srgbClr val="5CFE50"/>
      </a:accent1>
      <a:accent2>
        <a:srgbClr val="00DCFF"/>
      </a:accent2>
      <a:accent3>
        <a:srgbClr val="B6FE76"/>
      </a:accent3>
      <a:accent4>
        <a:srgbClr val="EDFF61"/>
      </a:accent4>
      <a:accent5>
        <a:srgbClr val="7E8383"/>
      </a:accent5>
      <a:accent6>
        <a:srgbClr val="464650"/>
      </a:accent6>
      <a:hlink>
        <a:srgbClr val="0028FF"/>
      </a:hlink>
      <a:folHlink>
        <a:srgbClr val="00D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6701</TotalTime>
  <Words>2444</Words>
  <Application>Microsoft Office PowerPoint</Application>
  <PresentationFormat>On-screen Show (16:9)</PresentationFormat>
  <Paragraphs>185</Paragraphs>
  <Slides>12</Slides>
  <Notes>11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12</vt:i4>
      </vt:variant>
    </vt:vector>
  </HeadingPairs>
  <TitlesOfParts>
    <vt:vector size="20" baseType="lpstr">
      <vt:lpstr>Arial</vt:lpstr>
      <vt:lpstr>Poppins</vt:lpstr>
      <vt:lpstr>Poppins SemiBold</vt:lpstr>
      <vt:lpstr>Segoe UI</vt:lpstr>
      <vt:lpstr>Calibri</vt:lpstr>
      <vt:lpstr>Simple Light</vt:lpstr>
      <vt:lpstr>Celonis Template 2024</vt:lpstr>
      <vt:lpstr>Celonis Template 2024</vt:lpstr>
      <vt:lpstr>Sustainability Capstone: Decarbonising Travel</vt:lpstr>
      <vt:lpstr>Executive Summary – Towards Net Zero Business Travel by 2030</vt:lpstr>
      <vt:lpstr>Emissions Profile and Benchmarking</vt:lpstr>
      <vt:lpstr>Hotspot Analysis</vt:lpstr>
      <vt:lpstr>Inefficiencies Identified</vt:lpstr>
      <vt:lpstr>Low Carbon Strategic Recommendations (Quantified)</vt:lpstr>
      <vt:lpstr>PowerPoint Presentation</vt:lpstr>
      <vt:lpstr>Other Recommendations</vt:lpstr>
      <vt:lpstr>Emission Overview</vt:lpstr>
      <vt:lpstr>Regional Benchmarking Route and Region Analysis</vt:lpstr>
      <vt:lpstr>Emission  Drilldown Variants &amp; Processes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deneb jena</dc:creator>
  <cp:lastModifiedBy>deneb jena</cp:lastModifiedBy>
  <cp:revision>127</cp:revision>
  <dcterms:modified xsi:type="dcterms:W3CDTF">2026-08-07T17:37:47Z</dcterms:modified>
</cp:coreProperties>
</file>